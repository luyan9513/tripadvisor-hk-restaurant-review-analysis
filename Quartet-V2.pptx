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4.svg" ContentType="image/svg+xml"/>
  <Override PartName="/ppt/media/image26.svg" ContentType="image/svg+xml"/>
  <Override PartName="/ppt/media/image28.svg" ContentType="image/svg+xml"/>
  <Override PartName="/ppt/media/image3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8"/>
    <p:sldId id="273" r:id="rId19"/>
    <p:sldId id="274" r:id="rId20"/>
    <p:sldId id="275" r:id="rId21"/>
  </p:sldIdLst>
  <p:sldSz cx="12192000" cy="68580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2FDB2607-1784-4EEB-B798-7EB5836EED8A}">
        <p14:showMediaCtrls xmlns:p14="http://schemas.microsoft.com/office/powerpoint/2010/main" val="1"/>
      </p:ext>
    </p:extLst>
  </p:showPr>
  <p:clrMru>
    <a:srgbClr val="DA5A51"/>
    <a:srgbClr val="D64A3F"/>
    <a:srgbClr val="DF6E3F"/>
    <a:srgbClr val="B03E68"/>
    <a:srgbClr val="DE673C"/>
    <a:srgbClr val="F6DCD2"/>
    <a:srgbClr val="B600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07"/>
    <p:restoredTop sz="94713"/>
  </p:normalViewPr>
  <p:slideViewPr>
    <p:cSldViewPr snapToGrid="0" snapToObjects="1">
      <p:cViewPr varScale="1">
        <p:scale>
          <a:sx n="81" d="100"/>
          <a:sy n="81" d="100"/>
        </p:scale>
        <p:origin x="57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31" name=""/>
        <p:cNvGrpSpPr/>
        <p:nvPr/>
      </p:nvGrpSpPr>
      <p:grpSpPr>
        <a:xfrm>
          <a:off x="0" y="0"/>
          <a:ext cx="0" cy="0"/>
          <a:chOff x="0" y="0"/>
          <a:chExt cx="0" cy="0"/>
        </a:xfrm>
      </p:grpSpPr>
      <p:sp>
        <p:nvSpPr>
          <p:cNvPr id="1048694"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695"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1048696"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p>
            <a:endParaRPr lang="zh-CN" altLang="en-US"/>
          </a:p>
        </p:txBody>
      </p:sp>
      <p:sp>
        <p:nvSpPr>
          <p:cNvPr id="1048697"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8698"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699"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en-US" dirty="0"/>
              <a:t>To interpret the best model, we use permutation importance. The results show that the text block is the strongest predictive component, which is expected because customer experience is directly described in the review text. In addition, reviewer activity, lexicon sentiment, and VADER-based sentiment information also matter. This supports the claim that sentiment and emotion features are not only interpretable but also useful in practice.</a:t>
            </a:r>
            <a:endParaRPr lang="en-US"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en-US" dirty="0"/>
              <a:t>From a business perspective, our findings suggest that restaurants should not rely only on average ratings. Sentiment and emotion signals provide richer explanations of customer experience. A practical system based on this approach could help managers monitor emerging dissatisfaction patterns, detect service issues more quickly, and better understand what drives highly positive reviews.</a:t>
            </a:r>
            <a:endParaRPr lang="en-US"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en-US" dirty="0"/>
              <a:t>Our project also has limitations. The crawled reviews represent a partial sample rather than the full review history. The dataset is highly imbalanced toward five-star reviews. Some raw reviews contain multilingual or noisy content, although we cleaned the data carefully. Finally, lexicon-based methods are interpretable, but they may not capture sarcasm or more complex semantic patterns.</a:t>
            </a:r>
            <a:endParaRPr lang="en-US"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en-US"/>
              <a:t>There are several natural directions for future work. We can add deep learning models such as MLP or BERT-based classifiers, increase the crawled review coverage, extend the study to restaurant-level forecasting tasks, and explore aspect-based or multilingual text analytics. </a:t>
            </a: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24" name=""/>
        <p:cNvGrpSpPr/>
        <p:nvPr/>
      </p:nvGrpSpPr>
      <p:grpSpPr>
        <a:xfrm>
          <a:off x="0" y="0"/>
          <a:ext cx="0" cy="0"/>
          <a:chOff x="0" y="0"/>
          <a:chExt cx="0" cy="0"/>
        </a:xfrm>
      </p:grpSpPr>
      <p:sp>
        <p:nvSpPr>
          <p:cNvPr id="1048681" name="Title 1"/>
          <p:cNvSpPr>
            <a:spLocks noGrp="1"/>
          </p:cNvSpPr>
          <p:nvPr>
            <p:ph type="title" hasCustomPrompt="1"/>
          </p:nvPr>
        </p:nvSpPr>
        <p:spPr>
          <a:xfrm>
            <a:off x="831850" y="1709738"/>
            <a:ext cx="10515600" cy="2852737"/>
          </a:xfrm>
        </p:spPr>
        <p:txBody>
          <a:bodyPr anchor="b">
            <a:normAutofit/>
          </a:bodyPr>
          <a:lstStyle>
            <a:lvl1pPr>
              <a:defRPr sz="4800" b="1">
                <a:solidFill>
                  <a:srgbClr val="B60007"/>
                </a:solidFill>
              </a:defRPr>
            </a:lvl1pPr>
          </a:lstStyle>
          <a:p>
            <a:r>
              <a:rPr lang="en-US"/>
              <a:t>Presentation Title</a:t>
            </a:r>
            <a:endParaRPr lang="en-US"/>
          </a:p>
        </p:txBody>
      </p:sp>
      <p:sp>
        <p:nvSpPr>
          <p:cNvPr id="1048682"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7" name=""/>
        <p:cNvGrpSpPr/>
        <p:nvPr/>
      </p:nvGrpSpPr>
      <p:grpSpPr>
        <a:xfrm>
          <a:off x="0" y="0"/>
          <a:ext cx="0" cy="0"/>
          <a:chOff x="0" y="0"/>
          <a:chExt cx="0" cy="0"/>
        </a:xfrm>
      </p:grpSpPr>
      <p:sp>
        <p:nvSpPr>
          <p:cNvPr id="1048578" name="Title 1"/>
          <p:cNvSpPr>
            <a:spLocks noGrp="1"/>
          </p:cNvSpPr>
          <p:nvPr>
            <p:ph type="ctrTitle" hasCustomPrompt="1"/>
          </p:nvPr>
        </p:nvSpPr>
        <p:spPr>
          <a:xfrm>
            <a:off x="1524000" y="1122363"/>
            <a:ext cx="9144000" cy="2387600"/>
          </a:xfrm>
        </p:spPr>
        <p:txBody>
          <a:bodyPr anchor="b">
            <a:normAutofit/>
          </a:bodyPr>
          <a:lstStyle>
            <a:lvl1pPr algn="l">
              <a:defRPr sz="5400" b="1">
                <a:solidFill>
                  <a:srgbClr val="B60007"/>
                </a:solidFill>
              </a:defRPr>
            </a:lvl1pPr>
          </a:lstStyle>
          <a:p>
            <a:r>
              <a:rPr lang="en-US"/>
              <a:t>Presentation Title</a:t>
            </a:r>
            <a:endParaRPr lang="en-US"/>
          </a:p>
        </p:txBody>
      </p:sp>
      <p:sp>
        <p:nvSpPr>
          <p:cNvPr id="1048579" name="Subtitle 2"/>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9" name=""/>
        <p:cNvGrpSpPr/>
        <p:nvPr/>
      </p:nvGrpSpPr>
      <p:grpSpPr>
        <a:xfrm>
          <a:off x="0" y="0"/>
          <a:ext cx="0" cy="0"/>
          <a:chOff x="0" y="0"/>
          <a:chExt cx="0" cy="0"/>
        </a:xfrm>
      </p:grpSpPr>
      <p:sp>
        <p:nvSpPr>
          <p:cNvPr id="1048583" name="Title 1"/>
          <p:cNvSpPr>
            <a:spLocks noGrp="1"/>
          </p:cNvSpPr>
          <p:nvPr>
            <p:ph type="title"/>
          </p:nvPr>
        </p:nvSpPr>
        <p:spPr>
          <a:xfrm>
            <a:off x="838200" y="365125"/>
            <a:ext cx="8417312" cy="1325563"/>
          </a:xfrm>
        </p:spPr>
        <p:txBody>
          <a:bodyPr/>
          <a:lstStyle>
            <a:lvl1pPr>
              <a:defRPr b="1">
                <a:solidFill>
                  <a:srgbClr val="B60007"/>
                </a:solidFill>
              </a:defRPr>
            </a:lvl1pPr>
          </a:lstStyle>
          <a:p>
            <a:r>
              <a:rPr lang="en-US"/>
              <a:t>Click to edit Master title style</a:t>
            </a:r>
            <a:endParaRPr lang="en-US"/>
          </a:p>
        </p:txBody>
      </p:sp>
      <p:sp>
        <p:nvSpPr>
          <p:cNvPr id="1048584" name="Content Placeholder 2"/>
          <p:cNvSpPr>
            <a:spLocks noGrp="1"/>
          </p:cNvSpPr>
          <p:nvPr>
            <p:ph idx="1"/>
          </p:nvPr>
        </p:nvSpPr>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27" name=""/>
        <p:cNvGrpSpPr/>
        <p:nvPr/>
      </p:nvGrpSpPr>
      <p:grpSpPr>
        <a:xfrm>
          <a:off x="0" y="0"/>
          <a:ext cx="0" cy="0"/>
          <a:chOff x="0" y="0"/>
          <a:chExt cx="0" cy="0"/>
        </a:xfrm>
      </p:grpSpPr>
      <p:sp>
        <p:nvSpPr>
          <p:cNvPr id="1048687" name="Title 1"/>
          <p:cNvSpPr>
            <a:spLocks noGrp="1"/>
          </p:cNvSpPr>
          <p:nvPr>
            <p:ph type="title"/>
          </p:nvPr>
        </p:nvSpPr>
        <p:spPr>
          <a:xfrm>
            <a:off x="838201" y="365125"/>
            <a:ext cx="8406160" cy="1325563"/>
          </a:xfrm>
        </p:spPr>
        <p:txBody>
          <a:bodyPr/>
          <a:lstStyle>
            <a:lvl1pPr>
              <a:defRPr b="1">
                <a:solidFill>
                  <a:srgbClr val="B60007"/>
                </a:solidFill>
              </a:defRPr>
            </a:lvl1pPr>
          </a:lstStyle>
          <a:p>
            <a:r>
              <a:rPr lang="en-US"/>
              <a:t>Click to edit Master title style</a:t>
            </a:r>
            <a:endParaRPr lang="en-US"/>
          </a:p>
        </p:txBody>
      </p:sp>
      <p:sp>
        <p:nvSpPr>
          <p:cNvPr id="1048688" name="Content Placeholder 2"/>
          <p:cNvSpPr>
            <a:spLocks noGrp="1"/>
          </p:cNvSpPr>
          <p:nvPr>
            <p:ph sz="half" idx="1"/>
          </p:nvPr>
        </p:nvSpPr>
        <p:spPr>
          <a:xfrm>
            <a:off x="838200" y="1825625"/>
            <a:ext cx="5181600" cy="4351338"/>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89" name="Content Placeholder 3"/>
          <p:cNvSpPr>
            <a:spLocks noGrp="1"/>
          </p:cNvSpPr>
          <p:nvPr>
            <p:ph sz="half" idx="2"/>
          </p:nvPr>
        </p:nvSpPr>
        <p:spPr>
          <a:xfrm>
            <a:off x="6172200" y="1825625"/>
            <a:ext cx="5181600" cy="4351338"/>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28"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25" name=""/>
        <p:cNvGrpSpPr/>
        <p:nvPr/>
      </p:nvGrpSpPr>
      <p:grpSpPr>
        <a:xfrm>
          <a:off x="0" y="0"/>
          <a:ext cx="0" cy="0"/>
          <a:chOff x="0" y="0"/>
          <a:chExt cx="0" cy="0"/>
        </a:xfrm>
      </p:grpSpPr>
      <p:sp>
        <p:nvSpPr>
          <p:cNvPr id="1048683"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1048684" name="Content Placeholder 2"/>
          <p:cNvSpPr>
            <a:spLocks noGrp="1"/>
          </p:cNvSpPr>
          <p:nvPr>
            <p:ph idx="1"/>
          </p:nvPr>
        </p:nvSpPr>
        <p:spPr>
          <a:xfrm>
            <a:off x="5183188" y="2049462"/>
            <a:ext cx="6172200" cy="38115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85"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29" name=""/>
        <p:cNvGrpSpPr/>
        <p:nvPr/>
      </p:nvGrpSpPr>
      <p:grpSpPr>
        <a:xfrm>
          <a:off x="0" y="0"/>
          <a:ext cx="0" cy="0"/>
          <a:chOff x="0" y="0"/>
          <a:chExt cx="0" cy="0"/>
        </a:xfrm>
      </p:grpSpPr>
      <p:sp>
        <p:nvSpPr>
          <p:cNvPr id="1048690"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1048691" name="Picture Placeholder 2"/>
          <p:cNvSpPr>
            <a:spLocks noGrp="1"/>
          </p:cNvSpPr>
          <p:nvPr>
            <p:ph type="pic" idx="1"/>
          </p:nvPr>
        </p:nvSpPr>
        <p:spPr>
          <a:xfrm>
            <a:off x="5183188" y="2049462"/>
            <a:ext cx="6172200" cy="381158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92"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30" name=""/>
        <p:cNvGrpSpPr/>
        <p:nvPr/>
      </p:nvGrpSpPr>
      <p:grpSpPr>
        <a:xfrm>
          <a:off x="0" y="0"/>
          <a:ext cx="0" cy="0"/>
          <a:chOff x="0" y="0"/>
          <a:chExt cx="0" cy="0"/>
        </a:xfrm>
      </p:grpSpPr>
      <p:sp>
        <p:nvSpPr>
          <p:cNvPr id="1048693" name="Title 1"/>
          <p:cNvSpPr>
            <a:spLocks noGrp="1"/>
          </p:cNvSpPr>
          <p:nvPr>
            <p:ph type="title" hasCustomPrompt="1"/>
          </p:nvPr>
        </p:nvSpPr>
        <p:spPr>
          <a:xfrm>
            <a:off x="838200" y="2743849"/>
            <a:ext cx="10515600" cy="1095508"/>
          </a:xfrm>
        </p:spPr>
        <p:txBody>
          <a:bodyPr/>
          <a:lstStyle>
            <a:lvl1pPr algn="ctr"/>
          </a:lstStyle>
          <a:p>
            <a:r>
              <a:rPr lang="en-US"/>
              <a:t>Thank you!</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26" name=""/>
        <p:cNvGrpSpPr/>
        <p:nvPr/>
      </p:nvGrpSpPr>
      <p:grpSpPr>
        <a:xfrm>
          <a:off x="0" y="0"/>
          <a:ext cx="0" cy="0"/>
          <a:chOff x="0" y="0"/>
          <a:chExt cx="0" cy="0"/>
        </a:xfrm>
      </p:grpSpPr>
      <p:sp>
        <p:nvSpPr>
          <p:cNvPr id="1048686" name="Title 1"/>
          <p:cNvSpPr>
            <a:spLocks noGrp="1"/>
          </p:cNvSpPr>
          <p:nvPr>
            <p:ph type="title"/>
          </p:nvPr>
        </p:nvSpPr>
        <p:spPr/>
        <p:txBody>
          <a:bodyPr/>
          <a:p>
            <a:r>
              <a:rPr lang="en-US"/>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7"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p>
            <a:r>
              <a:rPr lang="en-US"/>
              <a:t>Click to edit Master title style</a:t>
            </a:r>
            <a:endParaRPr lang="en-US"/>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b="1" kern="1200">
          <a:solidFill>
            <a:srgbClr val="B60007"/>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slideLayout" Target="../slideLayouts/slideLayout3.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1" Type="http://schemas.openxmlformats.org/officeDocument/2006/relationships/slideLayout" Target="../slideLayouts/slideLayout3.xml"/><Relationship Id="rId20" Type="http://schemas.openxmlformats.org/officeDocument/2006/relationships/tags" Target="../tags/tag40.xml"/><Relationship Id="rId2" Type="http://schemas.openxmlformats.org/officeDocument/2006/relationships/tags" Target="../tags/tag22.xml"/><Relationship Id="rId19" Type="http://schemas.openxmlformats.org/officeDocument/2006/relationships/tags" Target="../tags/tag39.xml"/><Relationship Id="rId18" Type="http://schemas.openxmlformats.org/officeDocument/2006/relationships/tags" Target="../tags/tag38.xml"/><Relationship Id="rId17" Type="http://schemas.openxmlformats.org/officeDocument/2006/relationships/tags" Target="../tags/tag37.xml"/><Relationship Id="rId16" Type="http://schemas.openxmlformats.org/officeDocument/2006/relationships/tags" Target="../tags/tag3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tags" Target="../tags/tag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2" Type="http://schemas.openxmlformats.org/officeDocument/2006/relationships/slideLayout" Target="../slideLayouts/slideLayout3.xml"/><Relationship Id="rId21" Type="http://schemas.openxmlformats.org/officeDocument/2006/relationships/tags" Target="../tags/tag60.xml"/><Relationship Id="rId20" Type="http://schemas.openxmlformats.org/officeDocument/2006/relationships/tags" Target="../tags/tag59.xml"/><Relationship Id="rId2" Type="http://schemas.openxmlformats.org/officeDocument/2006/relationships/tags" Target="../tags/tag41.xml"/><Relationship Id="rId19" Type="http://schemas.openxmlformats.org/officeDocument/2006/relationships/tags" Target="../tags/tag58.xml"/><Relationship Id="rId18" Type="http://schemas.openxmlformats.org/officeDocument/2006/relationships/tags" Target="../tags/tag57.xml"/><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image" Target="../media/image11.png"/><Relationship Id="rId4" Type="http://schemas.openxmlformats.org/officeDocument/2006/relationships/tags" Target="../tags/tag65.xml"/><Relationship Id="rId3" Type="http://schemas.openxmlformats.org/officeDocument/2006/relationships/tags" Target="../tags/tag64.xml"/><Relationship Id="rId23" Type="http://schemas.openxmlformats.org/officeDocument/2006/relationships/slideLayout" Target="../slideLayouts/slideLayout3.xml"/><Relationship Id="rId22" Type="http://schemas.openxmlformats.org/officeDocument/2006/relationships/tags" Target="../tags/tag81.xml"/><Relationship Id="rId21" Type="http://schemas.openxmlformats.org/officeDocument/2006/relationships/tags" Target="../tags/tag80.xml"/><Relationship Id="rId20" Type="http://schemas.openxmlformats.org/officeDocument/2006/relationships/tags" Target="../tags/tag79.xml"/><Relationship Id="rId2" Type="http://schemas.openxmlformats.org/officeDocument/2006/relationships/tags" Target="../tags/tag63.xml"/><Relationship Id="rId19" Type="http://schemas.openxmlformats.org/officeDocument/2006/relationships/tags" Target="../tags/tag78.xml"/><Relationship Id="rId18" Type="http://schemas.openxmlformats.org/officeDocument/2006/relationships/tags" Target="../tags/tag77.xml"/><Relationship Id="rId17" Type="http://schemas.openxmlformats.org/officeDocument/2006/relationships/tags" Target="../tags/tag76.xml"/><Relationship Id="rId16" Type="http://schemas.openxmlformats.org/officeDocument/2006/relationships/image" Target="../media/image12.png"/><Relationship Id="rId15" Type="http://schemas.openxmlformats.org/officeDocument/2006/relationships/tags" Target="../tags/tag75.xml"/><Relationship Id="rId14" Type="http://schemas.openxmlformats.org/officeDocument/2006/relationships/tags" Target="../tags/tag74.xml"/><Relationship Id="rId13" Type="http://schemas.openxmlformats.org/officeDocument/2006/relationships/tags" Target="../tags/tag73.xml"/><Relationship Id="rId12" Type="http://schemas.openxmlformats.org/officeDocument/2006/relationships/tags" Target="../tags/tag7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tags" Target="../tags/tag62.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8.png"/><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tags" Target="../tags/tag89.xml"/><Relationship Id="rId7" Type="http://schemas.openxmlformats.org/officeDocument/2006/relationships/tags" Target="../tags/tag88.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tags" Target="../tags/tag83.xml"/><Relationship Id="rId13" Type="http://schemas.openxmlformats.org/officeDocument/2006/relationships/notesSlide" Target="../notesSlides/notesSlide1.xml"/><Relationship Id="rId12" Type="http://schemas.openxmlformats.org/officeDocument/2006/relationships/slideLayout" Target="../slideLayouts/slideLayout3.xml"/><Relationship Id="rId11" Type="http://schemas.openxmlformats.org/officeDocument/2006/relationships/tags" Target="../tags/tag91.xml"/><Relationship Id="rId10" Type="http://schemas.openxmlformats.org/officeDocument/2006/relationships/image" Target="../media/image22.png"/><Relationship Id="rId1" Type="http://schemas.openxmlformats.org/officeDocument/2006/relationships/tags" Target="../tags/tag82.xml"/></Relationships>
</file>

<file path=ppt/slides/_rels/slide15.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8" Type="http://schemas.openxmlformats.org/officeDocument/2006/relationships/notesSlide" Target="../notesSlides/notesSlide2.xml"/><Relationship Id="rId27" Type="http://schemas.openxmlformats.org/officeDocument/2006/relationships/slideLayout" Target="../slideLayouts/slideLayout3.xml"/><Relationship Id="rId26" Type="http://schemas.openxmlformats.org/officeDocument/2006/relationships/tags" Target="../tags/tag109.xml"/><Relationship Id="rId25" Type="http://schemas.openxmlformats.org/officeDocument/2006/relationships/image" Target="../media/image30.svg"/><Relationship Id="rId24" Type="http://schemas.openxmlformats.org/officeDocument/2006/relationships/image" Target="../media/image29.png"/><Relationship Id="rId23" Type="http://schemas.openxmlformats.org/officeDocument/2006/relationships/tags" Target="../tags/tag108.xml"/><Relationship Id="rId22" Type="http://schemas.openxmlformats.org/officeDocument/2006/relationships/image" Target="../media/image28.svg"/><Relationship Id="rId21" Type="http://schemas.openxmlformats.org/officeDocument/2006/relationships/image" Target="../media/image27.png"/><Relationship Id="rId20" Type="http://schemas.openxmlformats.org/officeDocument/2006/relationships/tags" Target="../tags/tag107.xml"/><Relationship Id="rId2" Type="http://schemas.openxmlformats.org/officeDocument/2006/relationships/tags" Target="../tags/tag93.xml"/><Relationship Id="rId19" Type="http://schemas.openxmlformats.org/officeDocument/2006/relationships/image" Target="../media/image26.svg"/><Relationship Id="rId18" Type="http://schemas.openxmlformats.org/officeDocument/2006/relationships/image" Target="../media/image25.png"/><Relationship Id="rId17" Type="http://schemas.openxmlformats.org/officeDocument/2006/relationships/tags" Target="../tags/tag106.xml"/><Relationship Id="rId16" Type="http://schemas.openxmlformats.org/officeDocument/2006/relationships/image" Target="../media/image24.svg"/><Relationship Id="rId15" Type="http://schemas.openxmlformats.org/officeDocument/2006/relationships/image" Target="../media/image23.png"/><Relationship Id="rId14" Type="http://schemas.openxmlformats.org/officeDocument/2006/relationships/tags" Target="../tags/tag105.xml"/><Relationship Id="rId13" Type="http://schemas.openxmlformats.org/officeDocument/2006/relationships/tags" Target="../tags/tag104.xml"/><Relationship Id="rId12" Type="http://schemas.openxmlformats.org/officeDocument/2006/relationships/tags" Target="../tags/tag103.xml"/><Relationship Id="rId11" Type="http://schemas.openxmlformats.org/officeDocument/2006/relationships/tags" Target="../tags/tag102.xml"/><Relationship Id="rId10" Type="http://schemas.openxmlformats.org/officeDocument/2006/relationships/tags" Target="../tags/tag101.xml"/><Relationship Id="rId1" Type="http://schemas.openxmlformats.org/officeDocument/2006/relationships/tags" Target="../tags/tag92.xml"/></Relationships>
</file>

<file path=ppt/slides/_rels/slide16.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6" Type="http://schemas.openxmlformats.org/officeDocument/2006/relationships/notesSlide" Target="../notesSlides/notesSlide3.xml"/><Relationship Id="rId15" Type="http://schemas.openxmlformats.org/officeDocument/2006/relationships/slideLayout" Target="../slideLayouts/slideLayout3.xml"/><Relationship Id="rId14" Type="http://schemas.openxmlformats.org/officeDocument/2006/relationships/tags" Target="../tags/tag123.xml"/><Relationship Id="rId13" Type="http://schemas.openxmlformats.org/officeDocument/2006/relationships/tags" Target="../tags/tag122.xml"/><Relationship Id="rId12" Type="http://schemas.openxmlformats.org/officeDocument/2006/relationships/tags" Target="../tags/tag12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tags" Target="../tags/tag110.xml"/></Relationships>
</file>

<file path=ppt/slides/_rels/slide17.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tags" Target="../tags/tag125.xml"/><Relationship Id="rId12" Type="http://schemas.openxmlformats.org/officeDocument/2006/relationships/notesSlide" Target="../notesSlides/notesSlide4.xml"/><Relationship Id="rId11" Type="http://schemas.openxmlformats.org/officeDocument/2006/relationships/slideLayout" Target="../slideLayouts/slideLayout3.xml"/><Relationship Id="rId10" Type="http://schemas.openxmlformats.org/officeDocument/2006/relationships/tags" Target="../tags/tag133.xml"/><Relationship Id="rId1" Type="http://schemas.openxmlformats.org/officeDocument/2006/relationships/tags" Target="../tags/tag1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8" name=""/>
        <p:cNvGrpSpPr/>
        <p:nvPr/>
      </p:nvGrpSpPr>
      <p:grpSpPr>
        <a:xfrm>
          <a:off x="0" y="0"/>
          <a:ext cx="0" cy="0"/>
          <a:chOff x="0" y="0"/>
          <a:chExt cx="0" cy="0"/>
        </a:xfrm>
      </p:grpSpPr>
      <p:sp>
        <p:nvSpPr>
          <p:cNvPr id="1048580" name="Title 1"/>
          <p:cNvSpPr>
            <a:spLocks noGrp="1"/>
          </p:cNvSpPr>
          <p:nvPr>
            <p:ph type="ctrTitle"/>
          </p:nvPr>
        </p:nvSpPr>
        <p:spPr>
          <a:xfrm>
            <a:off x="1524000" y="2140459"/>
            <a:ext cx="9144000" cy="2387600"/>
          </a:xfrm>
        </p:spPr>
        <p:txBody>
          <a:bodyPr>
            <a:normAutofit/>
          </a:bodyPr>
          <a:p>
            <a:br>
              <a:rPr lang="zh-CN" altLang="zh-CN" dirty="0"/>
            </a:br>
            <a:endParaRPr lang="en-US" dirty="0"/>
          </a:p>
        </p:txBody>
      </p:sp>
      <p:sp>
        <p:nvSpPr>
          <p:cNvPr id="1048581" name="Title 1"/>
          <p:cNvSpPr>
            <a:spLocks noGrp="1"/>
          </p:cNvSpPr>
          <p:nvPr/>
        </p:nvSpPr>
        <p:spPr>
          <a:xfrm>
            <a:off x="383540" y="2289824"/>
            <a:ext cx="10515600" cy="1095508"/>
          </a:xfrm>
          <a:prstGeom prst="rect">
            <a:avLst/>
          </a:prstGeom>
        </p:spPr>
        <p:txBody>
          <a:bodyPr vert="horz" lIns="91440" tIns="45720" rIns="91440" bIns="45720" rtlCol="0" anchor="ctr"/>
          <a:lstStyle>
            <a:lvl1pPr algn="ctr" defTabSz="914400" rtl="0" eaLnBrk="1" latinLnBrk="0" hangingPunct="1">
              <a:lnSpc>
                <a:spcPct val="90000"/>
              </a:lnSpc>
              <a:spcBef>
                <a:spcPct val="0"/>
              </a:spcBef>
              <a:buNone/>
              <a:defRPr sz="4400" b="1" kern="1200">
                <a:solidFill>
                  <a:srgbClr val="B60007"/>
                </a:solidFill>
                <a:latin typeface="+mj-lt"/>
                <a:ea typeface="+mj-ea"/>
                <a:cs typeface="+mj-cs"/>
              </a:defRPr>
            </a:lvl1pPr>
          </a:lstStyle>
          <a:p>
            <a:r>
              <a:rPr lang="en-US" altLang="zh-CN" sz="3200" dirty="0"/>
              <a:t>Sentiment and Emotion Enhanced </a:t>
            </a:r>
            <a:endParaRPr lang="en-US" altLang="zh-CN" sz="3200" dirty="0"/>
          </a:p>
          <a:p>
            <a:r>
              <a:rPr lang="en-US" altLang="zh-CN" sz="3200" dirty="0"/>
              <a:t>Rating Prediction for Hong Kong </a:t>
            </a:r>
            <a:endParaRPr lang="en-US" altLang="zh-CN" sz="3200" dirty="0"/>
          </a:p>
          <a:p>
            <a:r>
              <a:rPr lang="en-US" altLang="zh-CN" sz="3200" dirty="0"/>
              <a:t>Restaurant Reviews</a:t>
            </a:r>
            <a:r>
              <a:rPr lang="en-US" sz="3200" dirty="0"/>
              <a:t> </a:t>
            </a:r>
            <a:endParaRPr lang="en-US" sz="3200" dirty="0"/>
          </a:p>
        </p:txBody>
      </p:sp>
      <p:sp>
        <p:nvSpPr>
          <p:cNvPr id="1048582" name="文本框 4"/>
          <p:cNvSpPr txBox="1"/>
          <p:nvPr/>
        </p:nvSpPr>
        <p:spPr>
          <a:xfrm>
            <a:off x="2962910" y="3741420"/>
            <a:ext cx="4064000" cy="2798445"/>
          </a:xfrm>
          <a:prstGeom prst="rect">
            <a:avLst/>
          </a:prstGeom>
          <a:noFill/>
        </p:spPr>
        <p:txBody>
          <a:bodyPr wrap="square" rtlCol="0">
            <a:noAutofit/>
          </a:bodyPr>
          <a:p>
            <a:pPr algn="ctr"/>
            <a:r>
              <a:rPr lang="en-US" altLang="zh-CN">
                <a:solidFill>
                  <a:schemeClr val="tx1"/>
                </a:solidFill>
              </a:rPr>
              <a:t>Group Name: Quartet-V2</a:t>
            </a:r>
            <a:endParaRPr lang="en-US" altLang="zh-CN">
              <a:solidFill>
                <a:schemeClr val="tx1"/>
              </a:solidFill>
            </a:endParaRPr>
          </a:p>
          <a:p>
            <a:pPr algn="ctr"/>
            <a:endParaRPr lang="en-US" altLang="zh-CN">
              <a:solidFill>
                <a:schemeClr val="tx1"/>
              </a:solidFill>
            </a:endParaRPr>
          </a:p>
          <a:p>
            <a:pPr algn="ctr"/>
            <a:r>
              <a:rPr lang="en-US" altLang="zh-CN">
                <a:solidFill>
                  <a:schemeClr val="tx1"/>
                </a:solidFill>
              </a:rPr>
              <a:t>Group Member:</a:t>
            </a:r>
            <a:endParaRPr lang="en-US" altLang="zh-CN">
              <a:solidFill>
                <a:schemeClr val="tx1"/>
              </a:solidFill>
            </a:endParaRPr>
          </a:p>
          <a:p>
            <a:pPr algn="ctr"/>
            <a:r>
              <a:rPr lang="en-US" altLang="zh-CN">
                <a:solidFill>
                  <a:schemeClr val="tx1"/>
                </a:solidFill>
              </a:rPr>
              <a:t>LU Yan              59569483</a:t>
            </a:r>
            <a:endParaRPr lang="en-US" altLang="zh-CN">
              <a:solidFill>
                <a:schemeClr val="tx1"/>
              </a:solidFill>
            </a:endParaRPr>
          </a:p>
          <a:p>
            <a:pPr algn="ctr"/>
            <a:r>
              <a:rPr lang="en-US" altLang="zh-CN">
                <a:solidFill>
                  <a:schemeClr val="tx1"/>
                </a:solidFill>
              </a:rPr>
              <a:t>LI Jiarong          </a:t>
            </a:r>
            <a:r>
              <a:rPr lang="en-US" altLang="en-US">
                <a:solidFill>
                  <a:schemeClr val="tx1"/>
                </a:solidFill>
              </a:rPr>
              <a:t>60071463 </a:t>
            </a:r>
            <a:endParaRPr lang="en-US" altLang="en-US">
              <a:solidFill>
                <a:schemeClr val="tx1"/>
              </a:solidFill>
            </a:endParaRPr>
          </a:p>
          <a:p>
            <a:pPr algn="ctr"/>
            <a:r>
              <a:rPr lang="en-US" altLang="zh-CN">
                <a:solidFill>
                  <a:schemeClr val="tx1"/>
                </a:solidFill>
              </a:rPr>
              <a:t>LI Qing              </a:t>
            </a:r>
            <a:r>
              <a:rPr lang="en-US" altLang="en-US">
                <a:solidFill>
                  <a:schemeClr val="tx1"/>
                </a:solidFill>
              </a:rPr>
              <a:t>59447928</a:t>
            </a:r>
            <a:endParaRPr lang="en-US" altLang="en-US">
              <a:solidFill>
                <a:schemeClr val="tx1"/>
              </a:solidFill>
            </a:endParaRPr>
          </a:p>
          <a:p>
            <a:pPr algn="ctr"/>
            <a:r>
              <a:rPr lang="en-US" altLang="zh-CN">
                <a:solidFill>
                  <a:schemeClr val="tx1"/>
                </a:solidFill>
              </a:rPr>
              <a:t>ZHUANG Yuchi 59983412</a:t>
            </a:r>
            <a:endParaRPr lang="en-US" altLang="zh-CN">
              <a:solidFill>
                <a:schemeClr val="tx1"/>
              </a:solidFill>
            </a:endParaRPr>
          </a:p>
          <a:p>
            <a:pPr algn="ctr"/>
            <a:endParaRPr lang="en-US" altLang="zh-CN">
              <a:solidFill>
                <a:schemeClr val="tx1"/>
              </a:solidFill>
            </a:endParaRPr>
          </a:p>
          <a:p>
            <a:pPr algn="ctr"/>
            <a:r>
              <a:rPr lang="en-US" altLang="zh-CN">
                <a:solidFill>
                  <a:schemeClr val="tx1"/>
                </a:solidFill>
              </a:rPr>
              <a:t>Date: Apr 10, 2026</a:t>
            </a:r>
            <a:endParaRPr lang="en-US" altLang="zh-CN">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0" name=""/>
        <p:cNvGrpSpPr/>
        <p:nvPr/>
      </p:nvGrpSpPr>
      <p:grpSpPr/>
      <p:sp>
        <p:nvSpPr>
          <p:cNvPr id="1048585" name="Shape 0"/>
          <p:cNvSpPr/>
          <p:nvPr/>
        </p:nvSpPr>
        <p:spPr>
          <a:xfrm>
            <a:off x="381000" y="381000"/>
            <a:ext cx="38100" cy="381000"/>
          </a:xfrm>
          <a:custGeom>
            <a:avLst/>
            <a:gdLst/>
            <a:ahLst/>
            <a:cxnLst/>
            <a:rect l="l" t="t" r="r" b="b"/>
            <a:pathLst>
              <a:path w="38100" h="381000">
                <a:moveTo>
                  <a:pt x="0" y="0"/>
                </a:moveTo>
                <a:lnTo>
                  <a:pt x="38100" y="0"/>
                </a:lnTo>
                <a:lnTo>
                  <a:pt x="38100" y="381000"/>
                </a:lnTo>
                <a:lnTo>
                  <a:pt x="0" y="381000"/>
                </a:lnTo>
                <a:lnTo>
                  <a:pt x="0" y="0"/>
                </a:lnTo>
                <a:close/>
              </a:path>
            </a:pathLst>
          </a:custGeom>
          <a:solidFill>
            <a:srgbClr val="C00000"/>
          </a:solidFill>
        </p:spPr>
      </p:sp>
      <p:sp>
        <p:nvSpPr>
          <p:cNvPr id="1048586" name="Text 1"/>
          <p:cNvSpPr/>
          <p:nvPr/>
        </p:nvSpPr>
        <p:spPr>
          <a:xfrm>
            <a:off x="533330" y="381000"/>
            <a:ext cx="5114925" cy="381000"/>
          </a:xfrm>
          <a:prstGeom prst="rect">
            <a:avLst/>
          </a:prstGeom>
          <a:noFill/>
        </p:spPr>
        <p:txBody>
          <a:bodyPr wrap="square" lIns="0" tIns="0" rIns="0" bIns="0" rtlCol="0" anchor="ctr"/>
          <a:p>
            <a:pPr>
              <a:lnSpc>
                <a:spcPct val="90000"/>
              </a:lnSpc>
            </a:pPr>
            <a:r>
              <a:rPr lang="en-US" sz="2400" b="1" dirty="0">
                <a:solidFill>
                  <a:srgbClr val="B03E68"/>
                </a:solidFill>
                <a:latin typeface="Arial" panose="020B0704020202090204" pitchFamily="34" charset="0"/>
                <a:ea typeface="Liter" panose="02000503030000020004" pitchFamily="34" charset="-122"/>
                <a:cs typeface="Arial" panose="020B0704020202090204" pitchFamily="34" charset="0"/>
              </a:rPr>
              <a:t>Business Context and Motivation</a:t>
            </a:r>
            <a:endParaRPr lang="en-US" sz="2400"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587" name="Shape 4"/>
          <p:cNvSpPr/>
          <p:nvPr>
            <p:custDataLst>
              <p:tags r:id="rId1"/>
            </p:custDataLst>
          </p:nvPr>
        </p:nvSpPr>
        <p:spPr>
          <a:xfrm>
            <a:off x="384735" y="1447193"/>
            <a:ext cx="5589121" cy="1950571"/>
          </a:xfrm>
          <a:custGeom>
            <a:avLst/>
            <a:gdLst/>
            <a:ahLst/>
            <a:cxnLst/>
            <a:rect l="l" t="t" r="r" b="b"/>
            <a:pathLst>
              <a:path w="5589121" h="1950571">
                <a:moveTo>
                  <a:pt x="0" y="0"/>
                </a:moveTo>
                <a:lnTo>
                  <a:pt x="5589121" y="0"/>
                </a:lnTo>
                <a:lnTo>
                  <a:pt x="5589121" y="1950571"/>
                </a:lnTo>
                <a:lnTo>
                  <a:pt x="0" y="1950571"/>
                </a:lnTo>
                <a:lnTo>
                  <a:pt x="0" y="0"/>
                </a:lnTo>
                <a:close/>
              </a:path>
            </a:pathLst>
          </a:custGeom>
          <a:noFill/>
          <a:ln w="9961">
            <a:solidFill>
              <a:srgbClr val="DF6E3F"/>
            </a:solidFill>
            <a:prstDash val="solid"/>
          </a:ln>
        </p:spPr>
      </p:sp>
      <p:sp>
        <p:nvSpPr>
          <p:cNvPr id="1048588" name="Shape 5"/>
          <p:cNvSpPr/>
          <p:nvPr>
            <p:custDataLst>
              <p:tags r:id="rId2"/>
            </p:custDataLst>
          </p:nvPr>
        </p:nvSpPr>
        <p:spPr>
          <a:xfrm>
            <a:off x="617024" y="1679481"/>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DF6E3F"/>
          </a:solidFill>
        </p:spPr>
      </p:sp>
      <p:sp>
        <p:nvSpPr>
          <p:cNvPr id="1048589" name="Shape 6"/>
          <p:cNvSpPr/>
          <p:nvPr>
            <p:custDataLst>
              <p:tags r:id="rId3"/>
            </p:custDataLst>
          </p:nvPr>
        </p:nvSpPr>
        <p:spPr>
          <a:xfrm>
            <a:off x="755043" y="1831811"/>
            <a:ext cx="257175" cy="228600"/>
          </a:xfrm>
          <a:custGeom>
            <a:avLst/>
            <a:gdLst/>
            <a:ahLst/>
            <a:cxnLst/>
            <a:rect l="l" t="t" r="r" b="b"/>
            <a:pathLst>
              <a:path w="257175" h="228600">
                <a:moveTo>
                  <a:pt x="138187" y="-8439"/>
                </a:moveTo>
                <a:cubicBezTo>
                  <a:pt x="136356" y="-12010"/>
                  <a:pt x="132651" y="-14287"/>
                  <a:pt x="128632" y="-14287"/>
                </a:cubicBezTo>
                <a:cubicBezTo>
                  <a:pt x="124614" y="-14287"/>
                  <a:pt x="120908" y="-12010"/>
                  <a:pt x="119077" y="-8439"/>
                </a:cubicBezTo>
                <a:lnTo>
                  <a:pt x="86216" y="55944"/>
                </a:lnTo>
                <a:lnTo>
                  <a:pt x="14823" y="67285"/>
                </a:lnTo>
                <a:cubicBezTo>
                  <a:pt x="10850" y="67910"/>
                  <a:pt x="7546" y="70723"/>
                  <a:pt x="6295" y="74563"/>
                </a:cubicBezTo>
                <a:cubicBezTo>
                  <a:pt x="5045" y="78403"/>
                  <a:pt x="6072" y="82600"/>
                  <a:pt x="8885" y="85457"/>
                </a:cubicBezTo>
                <a:lnTo>
                  <a:pt x="59963" y="136580"/>
                </a:lnTo>
                <a:lnTo>
                  <a:pt x="48711" y="207972"/>
                </a:lnTo>
                <a:cubicBezTo>
                  <a:pt x="48086" y="211946"/>
                  <a:pt x="49738" y="215964"/>
                  <a:pt x="52998" y="218331"/>
                </a:cubicBezTo>
                <a:cubicBezTo>
                  <a:pt x="56257" y="220697"/>
                  <a:pt x="60543" y="221054"/>
                  <a:pt x="64160" y="219224"/>
                </a:cubicBezTo>
                <a:lnTo>
                  <a:pt x="128632" y="186452"/>
                </a:lnTo>
                <a:lnTo>
                  <a:pt x="193060" y="219224"/>
                </a:lnTo>
                <a:cubicBezTo>
                  <a:pt x="196632" y="221054"/>
                  <a:pt x="200963" y="220697"/>
                  <a:pt x="204222" y="218331"/>
                </a:cubicBezTo>
                <a:cubicBezTo>
                  <a:pt x="207481" y="215964"/>
                  <a:pt x="209133" y="211991"/>
                  <a:pt x="208508" y="207972"/>
                </a:cubicBezTo>
                <a:lnTo>
                  <a:pt x="197212" y="136580"/>
                </a:lnTo>
                <a:lnTo>
                  <a:pt x="248290" y="85457"/>
                </a:lnTo>
                <a:cubicBezTo>
                  <a:pt x="251147" y="82600"/>
                  <a:pt x="252130" y="78403"/>
                  <a:pt x="250880" y="74563"/>
                </a:cubicBezTo>
                <a:cubicBezTo>
                  <a:pt x="249629" y="70723"/>
                  <a:pt x="246370" y="67910"/>
                  <a:pt x="242352" y="67285"/>
                </a:cubicBezTo>
                <a:lnTo>
                  <a:pt x="171004" y="55944"/>
                </a:lnTo>
                <a:lnTo>
                  <a:pt x="138187" y="-8439"/>
                </a:lnTo>
                <a:close/>
              </a:path>
            </a:pathLst>
          </a:custGeom>
          <a:solidFill>
            <a:srgbClr val="FAF8F3"/>
          </a:solidFill>
        </p:spPr>
      </p:sp>
      <p:sp>
        <p:nvSpPr>
          <p:cNvPr id="1048590" name="Text 7"/>
          <p:cNvSpPr/>
          <p:nvPr>
            <p:custDataLst>
              <p:tags r:id="rId4"/>
            </p:custDataLst>
          </p:nvPr>
        </p:nvSpPr>
        <p:spPr>
          <a:xfrm>
            <a:off x="1302684" y="1679481"/>
            <a:ext cx="4533900" cy="266700"/>
          </a:xfrm>
          <a:prstGeom prst="rect">
            <a:avLst/>
          </a:prstGeom>
          <a:noFill/>
        </p:spPr>
        <p:txBody>
          <a:bodyPr wrap="square" lIns="0" tIns="0" rIns="0" bIns="0" rtlCol="0" anchor="ctr"/>
          <a:p>
            <a:pPr>
              <a:lnSpc>
                <a:spcPct val="120000"/>
              </a:lnSpc>
            </a:pPr>
            <a:r>
              <a:rPr lang="en-US" sz="1500" b="1" dirty="0">
                <a:solidFill>
                  <a:srgbClr val="DF6E3F"/>
                </a:solidFill>
                <a:latin typeface="Arial" panose="020B0704020202090204" pitchFamily="34" charset="0"/>
                <a:ea typeface="Liter" panose="02000503030000020004" pitchFamily="34" charset="-122"/>
                <a:cs typeface="Arial" panose="020B0704020202090204" pitchFamily="34" charset="0"/>
              </a:rPr>
              <a:t>Online Reviews Drive Decisions</a:t>
            </a:r>
            <a:endParaRPr lang="en-US" sz="1500" b="1" dirty="0">
              <a:solidFill>
                <a:srgbClr val="DF6E3F"/>
              </a:solidFill>
              <a:latin typeface="Arial" panose="020B0704020202090204" pitchFamily="34" charset="0"/>
              <a:ea typeface="Liter" panose="02000503030000020004" pitchFamily="34" charset="-122"/>
              <a:cs typeface="Arial" panose="020B0704020202090204" pitchFamily="34" charset="0"/>
            </a:endParaRPr>
          </a:p>
        </p:txBody>
      </p:sp>
      <p:sp>
        <p:nvSpPr>
          <p:cNvPr id="1048591" name="Text 8"/>
          <p:cNvSpPr/>
          <p:nvPr>
            <p:custDataLst>
              <p:tags r:id="rId5"/>
            </p:custDataLst>
          </p:nvPr>
        </p:nvSpPr>
        <p:spPr>
          <a:xfrm>
            <a:off x="1302684" y="2022195"/>
            <a:ext cx="4514850" cy="990600"/>
          </a:xfrm>
          <a:prstGeom prst="rect">
            <a:avLst/>
          </a:prstGeom>
          <a:noFill/>
        </p:spPr>
        <p:txBody>
          <a:bodyPr wrap="square" lIns="0" tIns="0" rIns="0" bIns="0" rtlCol="0" anchor="ctr"/>
          <a:p>
            <a:pPr>
              <a:lnSpc>
                <a:spcPct val="140000"/>
              </a:lnSpc>
            </a:pPr>
            <a:r>
              <a:rPr lang="en-US" sz="1400" dirty="0">
                <a:solidFill>
                  <a:srgbClr val="3D3A35"/>
                </a:solidFill>
                <a:latin typeface="Arial" panose="020B0704020202090204" pitchFamily="34" charset="0"/>
                <a:ea typeface="Liter" panose="02000503030000020004" pitchFamily="34" charset="-122"/>
                <a:cs typeface="Arial" panose="020B0704020202090204" pitchFamily="34" charset="0"/>
              </a:rPr>
              <a:t>R</a:t>
            </a:r>
            <a:r>
              <a:rPr lang="en-US" sz="1400" dirty="0">
                <a:solidFill>
                  <a:srgbClr val="3D3A35"/>
                </a:solidFill>
                <a:latin typeface="Arial" panose="020B0704020202090204" pitchFamily="34" charset="0"/>
                <a:ea typeface="Liter" panose="02000503030000020004" pitchFamily="34" charset="-122"/>
                <a:cs typeface="Arial" panose="020B0704020202090204" pitchFamily="34" charset="0"/>
              </a:rPr>
              <a:t>e</a:t>
            </a:r>
            <a:r>
              <a:rPr lang="en-US" sz="1400" dirty="0">
                <a:solidFill>
                  <a:srgbClr val="3D3A35"/>
                </a:solidFill>
                <a:latin typeface="Arial" panose="020B0704020202090204" pitchFamily="34" charset="0"/>
                <a:ea typeface="Liter" panose="02000503030000020004" pitchFamily="34" charset="-122"/>
                <a:cs typeface="Arial" panose="020B0704020202090204" pitchFamily="34" charset="0"/>
              </a:rPr>
              <a:t>views heavily influence customer choices and brand reputation.</a:t>
            </a:r>
            <a:endParaRPr lang="en-US" sz="1200" dirty="0">
              <a:solidFill>
                <a:srgbClr val="3D3A35"/>
              </a:solidFill>
              <a:latin typeface="Arial" panose="020B0704020202090204" pitchFamily="34" charset="0"/>
              <a:ea typeface="Liter" panose="02000503030000020004" pitchFamily="34" charset="-122"/>
              <a:cs typeface="Arial" panose="020B0704020202090204" pitchFamily="34" charset="0"/>
            </a:endParaRPr>
          </a:p>
        </p:txBody>
      </p:sp>
      <p:sp>
        <p:nvSpPr>
          <p:cNvPr id="1048592" name="Shape 9"/>
          <p:cNvSpPr/>
          <p:nvPr>
            <p:custDataLst>
              <p:tags r:id="rId6"/>
            </p:custDataLst>
          </p:nvPr>
        </p:nvSpPr>
        <p:spPr>
          <a:xfrm>
            <a:off x="6214012" y="1447193"/>
            <a:ext cx="5589121" cy="1950571"/>
          </a:xfrm>
          <a:custGeom>
            <a:avLst/>
            <a:gdLst/>
            <a:ahLst/>
            <a:cxnLst/>
            <a:rect l="l" t="t" r="r" b="b"/>
            <a:pathLst>
              <a:path w="5589121" h="1950571">
                <a:moveTo>
                  <a:pt x="0" y="0"/>
                </a:moveTo>
                <a:lnTo>
                  <a:pt x="5589121" y="0"/>
                </a:lnTo>
                <a:lnTo>
                  <a:pt x="5589121" y="1950571"/>
                </a:lnTo>
                <a:lnTo>
                  <a:pt x="0" y="1950571"/>
                </a:lnTo>
                <a:lnTo>
                  <a:pt x="0" y="0"/>
                </a:lnTo>
                <a:close/>
              </a:path>
            </a:pathLst>
          </a:custGeom>
          <a:noFill/>
          <a:ln w="9961">
            <a:solidFill>
              <a:srgbClr val="DA5A51"/>
            </a:solidFill>
            <a:prstDash val="solid"/>
          </a:ln>
        </p:spPr>
      </p:sp>
      <p:sp>
        <p:nvSpPr>
          <p:cNvPr id="1048593" name="Shape 10"/>
          <p:cNvSpPr/>
          <p:nvPr>
            <p:custDataLst>
              <p:tags r:id="rId7"/>
            </p:custDataLst>
          </p:nvPr>
        </p:nvSpPr>
        <p:spPr>
          <a:xfrm>
            <a:off x="6446301" y="1679481"/>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DA5A51"/>
          </a:solidFill>
        </p:spPr>
      </p:sp>
      <p:sp>
        <p:nvSpPr>
          <p:cNvPr id="1048594" name="Shape 11"/>
          <p:cNvSpPr/>
          <p:nvPr>
            <p:custDataLst>
              <p:tags r:id="rId8"/>
            </p:custDataLst>
          </p:nvPr>
        </p:nvSpPr>
        <p:spPr>
          <a:xfrm>
            <a:off x="6598607" y="1831811"/>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FAF8F3"/>
          </a:solidFill>
        </p:spPr>
      </p:sp>
      <p:sp>
        <p:nvSpPr>
          <p:cNvPr id="1048595" name="Text 12"/>
          <p:cNvSpPr/>
          <p:nvPr>
            <p:custDataLst>
              <p:tags r:id="rId9"/>
            </p:custDataLst>
          </p:nvPr>
        </p:nvSpPr>
        <p:spPr>
          <a:xfrm>
            <a:off x="7131961" y="1679481"/>
            <a:ext cx="4533900" cy="266700"/>
          </a:xfrm>
          <a:prstGeom prst="rect">
            <a:avLst/>
          </a:prstGeom>
          <a:noFill/>
        </p:spPr>
        <p:txBody>
          <a:bodyPr wrap="square" lIns="0" tIns="0" rIns="0" bIns="0" rtlCol="0" anchor="ctr"/>
          <a:p>
            <a:pPr>
              <a:lnSpc>
                <a:spcPct val="120000"/>
              </a:lnSpc>
            </a:pPr>
            <a:r>
              <a:rPr lang="en-US" sz="1500" b="1" dirty="0">
                <a:solidFill>
                  <a:srgbClr val="D64A3F"/>
                </a:solidFill>
                <a:latin typeface="Arial" panose="020B0704020202090204" pitchFamily="34" charset="0"/>
                <a:ea typeface="Liter" panose="02000503030000020004" pitchFamily="34" charset="-122"/>
                <a:cs typeface="Arial" panose="020B0704020202090204" pitchFamily="34" charset="0"/>
              </a:rPr>
              <a:t>Star Ratings Are Insufficient</a:t>
            </a:r>
            <a:endParaRPr lang="en-US" sz="1500" b="1" dirty="0">
              <a:solidFill>
                <a:srgbClr val="D64A3F"/>
              </a:solidFill>
              <a:latin typeface="Arial" panose="020B0704020202090204" pitchFamily="34" charset="0"/>
              <a:ea typeface="Liter" panose="02000503030000020004" pitchFamily="34" charset="-122"/>
              <a:cs typeface="Arial" panose="020B0704020202090204" pitchFamily="34" charset="0"/>
            </a:endParaRPr>
          </a:p>
        </p:txBody>
      </p:sp>
      <p:sp>
        <p:nvSpPr>
          <p:cNvPr id="1048596" name="Text 13"/>
          <p:cNvSpPr/>
          <p:nvPr>
            <p:custDataLst>
              <p:tags r:id="rId10"/>
            </p:custDataLst>
          </p:nvPr>
        </p:nvSpPr>
        <p:spPr>
          <a:xfrm>
            <a:off x="7131961" y="2022195"/>
            <a:ext cx="4514850" cy="742950"/>
          </a:xfrm>
          <a:prstGeom prst="rect">
            <a:avLst/>
          </a:prstGeom>
          <a:noFill/>
        </p:spPr>
        <p:txBody>
          <a:bodyPr wrap="square" lIns="0" tIns="0" rIns="0" bIns="0" rtlCol="0" anchor="ctr"/>
          <a:p>
            <a:pPr>
              <a:lnSpc>
                <a:spcPct val="140000"/>
              </a:lnSpc>
            </a:pPr>
            <a:r>
              <a:rPr lang="en-US" sz="1400" dirty="0">
                <a:solidFill>
                  <a:srgbClr val="3D3A35"/>
                </a:solidFill>
                <a:latin typeface="Arial" panose="020B0704020202090204" pitchFamily="34" charset="0"/>
                <a:ea typeface="Liter" panose="02000503030000020004" pitchFamily="34" charset="-122"/>
                <a:cs typeface="Arial" panose="020B0704020202090204" pitchFamily="34" charset="0"/>
              </a:rPr>
              <a:t>Ratings lack specific details on service, food, and value.</a:t>
            </a:r>
            <a:endParaRPr lang="en-US" sz="1200" dirty="0">
              <a:solidFill>
                <a:srgbClr val="3D3A35"/>
              </a:solidFill>
              <a:latin typeface="Arial" panose="020B0704020202090204" pitchFamily="34" charset="0"/>
              <a:ea typeface="Liter" panose="02000503030000020004" pitchFamily="34" charset="-122"/>
              <a:cs typeface="Arial" panose="020B0704020202090204" pitchFamily="34" charset="0"/>
            </a:endParaRPr>
          </a:p>
        </p:txBody>
      </p:sp>
      <p:sp>
        <p:nvSpPr>
          <p:cNvPr id="1048597" name="Shape 14"/>
          <p:cNvSpPr/>
          <p:nvPr>
            <p:custDataLst>
              <p:tags r:id="rId11"/>
            </p:custDataLst>
          </p:nvPr>
        </p:nvSpPr>
        <p:spPr>
          <a:xfrm>
            <a:off x="384735" y="3633624"/>
            <a:ext cx="5589121" cy="1950571"/>
          </a:xfrm>
          <a:custGeom>
            <a:avLst/>
            <a:gdLst/>
            <a:ahLst/>
            <a:cxnLst/>
            <a:rect l="l" t="t" r="r" b="b"/>
            <a:pathLst>
              <a:path w="5589121" h="1950571">
                <a:moveTo>
                  <a:pt x="0" y="0"/>
                </a:moveTo>
                <a:lnTo>
                  <a:pt x="5589121" y="0"/>
                </a:lnTo>
                <a:lnTo>
                  <a:pt x="5589121" y="1950571"/>
                </a:lnTo>
                <a:lnTo>
                  <a:pt x="0" y="1950571"/>
                </a:lnTo>
                <a:lnTo>
                  <a:pt x="0" y="0"/>
                </a:lnTo>
                <a:close/>
              </a:path>
            </a:pathLst>
          </a:custGeom>
          <a:noFill/>
          <a:ln w="9961">
            <a:solidFill>
              <a:srgbClr val="D64A3F"/>
            </a:solidFill>
            <a:prstDash val="solid"/>
          </a:ln>
        </p:spPr>
      </p:sp>
      <p:sp>
        <p:nvSpPr>
          <p:cNvPr id="1048598" name="Shape 15"/>
          <p:cNvSpPr/>
          <p:nvPr>
            <p:custDataLst>
              <p:tags r:id="rId12"/>
            </p:custDataLst>
          </p:nvPr>
        </p:nvSpPr>
        <p:spPr>
          <a:xfrm>
            <a:off x="617024" y="3865913"/>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D64A3F"/>
          </a:solidFill>
        </p:spPr>
      </p:sp>
      <p:sp>
        <p:nvSpPr>
          <p:cNvPr id="1048599" name="Shape 16"/>
          <p:cNvSpPr/>
          <p:nvPr>
            <p:custDataLst>
              <p:tags r:id="rId13"/>
            </p:custDataLst>
          </p:nvPr>
        </p:nvSpPr>
        <p:spPr>
          <a:xfrm>
            <a:off x="755043" y="4018242"/>
            <a:ext cx="257175" cy="228600"/>
          </a:xfrm>
          <a:custGeom>
            <a:avLst/>
            <a:gdLst/>
            <a:ahLst/>
            <a:cxnLst/>
            <a:rect l="l" t="t" r="r" b="b"/>
            <a:pathLst>
              <a:path w="257175" h="228600">
                <a:moveTo>
                  <a:pt x="100057" y="43354"/>
                </a:moveTo>
                <a:lnTo>
                  <a:pt x="100057" y="65499"/>
                </a:lnTo>
                <a:lnTo>
                  <a:pt x="100280" y="65723"/>
                </a:lnTo>
                <a:cubicBezTo>
                  <a:pt x="103183" y="28932"/>
                  <a:pt x="133945" y="0"/>
                  <a:pt x="171495" y="0"/>
                </a:cubicBezTo>
                <a:cubicBezTo>
                  <a:pt x="180469" y="0"/>
                  <a:pt x="189086" y="1652"/>
                  <a:pt x="196989" y="4688"/>
                </a:cubicBezTo>
                <a:cubicBezTo>
                  <a:pt x="201454" y="6385"/>
                  <a:pt x="202257" y="12055"/>
                  <a:pt x="198909" y="15448"/>
                </a:cubicBezTo>
                <a:lnTo>
                  <a:pt x="159306" y="55052"/>
                </a:lnTo>
                <a:cubicBezTo>
                  <a:pt x="157966" y="56391"/>
                  <a:pt x="157207" y="58222"/>
                  <a:pt x="157207" y="60097"/>
                </a:cubicBezTo>
                <a:lnTo>
                  <a:pt x="157207" y="78581"/>
                </a:lnTo>
                <a:cubicBezTo>
                  <a:pt x="157207" y="82510"/>
                  <a:pt x="160422" y="85725"/>
                  <a:pt x="164351" y="85725"/>
                </a:cubicBezTo>
                <a:lnTo>
                  <a:pt x="182835" y="85725"/>
                </a:lnTo>
                <a:cubicBezTo>
                  <a:pt x="184711" y="85725"/>
                  <a:pt x="186541" y="84966"/>
                  <a:pt x="187881" y="83627"/>
                </a:cubicBezTo>
                <a:lnTo>
                  <a:pt x="227484" y="44023"/>
                </a:lnTo>
                <a:cubicBezTo>
                  <a:pt x="230877" y="40630"/>
                  <a:pt x="236547" y="41478"/>
                  <a:pt x="238244" y="45943"/>
                </a:cubicBezTo>
                <a:cubicBezTo>
                  <a:pt x="241280" y="53846"/>
                  <a:pt x="242932" y="62463"/>
                  <a:pt x="242932" y="71438"/>
                </a:cubicBezTo>
                <a:cubicBezTo>
                  <a:pt x="242932" y="98494"/>
                  <a:pt x="227886" y="122069"/>
                  <a:pt x="205651" y="134169"/>
                </a:cubicBezTo>
                <a:lnTo>
                  <a:pt x="242039" y="170557"/>
                </a:lnTo>
                <a:cubicBezTo>
                  <a:pt x="250388" y="178906"/>
                  <a:pt x="250388" y="192479"/>
                  <a:pt x="242039" y="200873"/>
                </a:cubicBezTo>
                <a:lnTo>
                  <a:pt x="215205" y="227707"/>
                </a:lnTo>
                <a:cubicBezTo>
                  <a:pt x="206856" y="236056"/>
                  <a:pt x="193283" y="236056"/>
                  <a:pt x="184889" y="227707"/>
                </a:cubicBezTo>
                <a:lnTo>
                  <a:pt x="128632" y="171450"/>
                </a:lnTo>
                <a:cubicBezTo>
                  <a:pt x="116398" y="159216"/>
                  <a:pt x="113630" y="141134"/>
                  <a:pt x="120372" y="126221"/>
                </a:cubicBezTo>
                <a:lnTo>
                  <a:pt x="79876" y="85725"/>
                </a:lnTo>
                <a:lnTo>
                  <a:pt x="57730" y="85725"/>
                </a:lnTo>
                <a:cubicBezTo>
                  <a:pt x="52953" y="85725"/>
                  <a:pt x="48488" y="83359"/>
                  <a:pt x="45854" y="79385"/>
                </a:cubicBezTo>
                <a:lnTo>
                  <a:pt x="10448" y="26298"/>
                </a:lnTo>
                <a:cubicBezTo>
                  <a:pt x="8573" y="23485"/>
                  <a:pt x="8930" y="19690"/>
                  <a:pt x="11341" y="17279"/>
                </a:cubicBezTo>
                <a:lnTo>
                  <a:pt x="31611" y="-2991"/>
                </a:lnTo>
                <a:cubicBezTo>
                  <a:pt x="34022" y="-5402"/>
                  <a:pt x="37773" y="-5760"/>
                  <a:pt x="40630" y="-3884"/>
                </a:cubicBezTo>
                <a:lnTo>
                  <a:pt x="93717" y="31477"/>
                </a:lnTo>
                <a:cubicBezTo>
                  <a:pt x="97691" y="34111"/>
                  <a:pt x="100057" y="38576"/>
                  <a:pt x="100057" y="43354"/>
                </a:cubicBezTo>
                <a:close/>
                <a:moveTo>
                  <a:pt x="96262" y="132427"/>
                </a:moveTo>
                <a:cubicBezTo>
                  <a:pt x="93449" y="148947"/>
                  <a:pt x="97334" y="166405"/>
                  <a:pt x="108049" y="180380"/>
                </a:cubicBezTo>
                <a:lnTo>
                  <a:pt x="65633" y="222751"/>
                </a:lnTo>
                <a:cubicBezTo>
                  <a:pt x="53087" y="235297"/>
                  <a:pt x="32727" y="235297"/>
                  <a:pt x="20181" y="222751"/>
                </a:cubicBezTo>
                <a:cubicBezTo>
                  <a:pt x="7635" y="210205"/>
                  <a:pt x="7635" y="189845"/>
                  <a:pt x="20181" y="177299"/>
                </a:cubicBezTo>
                <a:lnTo>
                  <a:pt x="80635" y="116845"/>
                </a:lnTo>
                <a:lnTo>
                  <a:pt x="96262" y="132472"/>
                </a:lnTo>
                <a:close/>
              </a:path>
            </a:pathLst>
          </a:custGeom>
          <a:solidFill>
            <a:srgbClr val="FAF8F3"/>
          </a:solidFill>
        </p:spPr>
      </p:sp>
      <p:sp>
        <p:nvSpPr>
          <p:cNvPr id="1048600" name="Text 17"/>
          <p:cNvSpPr/>
          <p:nvPr>
            <p:custDataLst>
              <p:tags r:id="rId14"/>
            </p:custDataLst>
          </p:nvPr>
        </p:nvSpPr>
        <p:spPr>
          <a:xfrm>
            <a:off x="1302684" y="3865913"/>
            <a:ext cx="4533900" cy="266700"/>
          </a:xfrm>
          <a:prstGeom prst="rect">
            <a:avLst/>
          </a:prstGeom>
          <a:noFill/>
        </p:spPr>
        <p:txBody>
          <a:bodyPr wrap="square" lIns="0" tIns="0" rIns="0" bIns="0" rtlCol="0" anchor="ctr"/>
          <a:p>
            <a:pPr>
              <a:lnSpc>
                <a:spcPct val="120000"/>
              </a:lnSpc>
            </a:pPr>
            <a:r>
              <a:rPr lang="en-US" sz="1500" b="1" dirty="0">
                <a:solidFill>
                  <a:srgbClr val="D64A3F"/>
                </a:solidFill>
                <a:latin typeface="Arial" panose="020B0704020202090204" pitchFamily="34" charset="0"/>
                <a:ea typeface="Liter" panose="02000503030000020004" pitchFamily="34" charset="-122"/>
                <a:cs typeface="Arial" panose="020B0704020202090204" pitchFamily="34" charset="0"/>
              </a:rPr>
              <a:t>Scalable Interpretation Needed</a:t>
            </a:r>
            <a:endParaRPr lang="en-US" sz="1500" b="1" dirty="0">
              <a:solidFill>
                <a:srgbClr val="D64A3F"/>
              </a:solidFill>
              <a:latin typeface="Arial" panose="020B0704020202090204" pitchFamily="34" charset="0"/>
              <a:ea typeface="Liter" panose="02000503030000020004" pitchFamily="34" charset="-122"/>
              <a:cs typeface="Arial" panose="020B0704020202090204" pitchFamily="34" charset="0"/>
            </a:endParaRPr>
          </a:p>
        </p:txBody>
      </p:sp>
      <p:sp>
        <p:nvSpPr>
          <p:cNvPr id="1048601" name="Text 18"/>
          <p:cNvSpPr/>
          <p:nvPr>
            <p:custDataLst>
              <p:tags r:id="rId15"/>
            </p:custDataLst>
          </p:nvPr>
        </p:nvSpPr>
        <p:spPr>
          <a:xfrm>
            <a:off x="1302684" y="4208626"/>
            <a:ext cx="4514850" cy="990600"/>
          </a:xfrm>
          <a:prstGeom prst="rect">
            <a:avLst/>
          </a:prstGeom>
          <a:noFill/>
        </p:spPr>
        <p:txBody>
          <a:bodyPr wrap="square" lIns="0" tIns="0" rIns="0" bIns="0" rtlCol="0" anchor="ctr"/>
          <a:p>
            <a:pPr>
              <a:lnSpc>
                <a:spcPct val="140000"/>
              </a:lnSpc>
            </a:pPr>
            <a:r>
              <a:rPr lang="en-US" sz="1400" dirty="0">
                <a:solidFill>
                  <a:srgbClr val="3D3A35"/>
                </a:solidFill>
                <a:latin typeface="Arial" panose="020B0704020202090204" pitchFamily="34" charset="0"/>
                <a:ea typeface="Liter" panose="02000503030000020004" pitchFamily="34" charset="-122"/>
                <a:cs typeface="Arial" panose="020B0704020202090204" pitchFamily="34" charset="0"/>
              </a:rPr>
              <a:t>Restaurants need automated analysis for large volumes of unstructured review data</a:t>
            </a:r>
            <a:r>
              <a:rPr lang="en-US" sz="1400" dirty="0">
                <a:solidFill>
                  <a:srgbClr val="3D3A35"/>
                </a:solidFill>
                <a:latin typeface="Arial" panose="020B0704020202090204" pitchFamily="34" charset="0"/>
                <a:ea typeface="Liter" panose="02000503030000020004" pitchFamily="34" charset="-122"/>
                <a:cs typeface="Arial" panose="020B0704020202090204" pitchFamily="34" charset="0"/>
              </a:rPr>
              <a:t>.</a:t>
            </a:r>
            <a:endParaRPr lang="en-US" sz="1200" dirty="0">
              <a:solidFill>
                <a:srgbClr val="3D3A35"/>
              </a:solidFill>
              <a:latin typeface="Arial" panose="020B0704020202090204" pitchFamily="34" charset="0"/>
              <a:ea typeface="Liter" panose="02000503030000020004" pitchFamily="34" charset="-122"/>
              <a:cs typeface="Arial" panose="020B0704020202090204" pitchFamily="34" charset="0"/>
            </a:endParaRPr>
          </a:p>
        </p:txBody>
      </p:sp>
      <p:sp>
        <p:nvSpPr>
          <p:cNvPr id="1048602" name="Shape 19"/>
          <p:cNvSpPr/>
          <p:nvPr>
            <p:custDataLst>
              <p:tags r:id="rId16"/>
            </p:custDataLst>
          </p:nvPr>
        </p:nvSpPr>
        <p:spPr>
          <a:xfrm>
            <a:off x="6214012" y="3633624"/>
            <a:ext cx="5589121" cy="1950571"/>
          </a:xfrm>
          <a:custGeom>
            <a:avLst/>
            <a:gdLst/>
            <a:ahLst/>
            <a:cxnLst/>
            <a:rect l="l" t="t" r="r" b="b"/>
            <a:pathLst>
              <a:path w="5589121" h="1950571">
                <a:moveTo>
                  <a:pt x="0" y="0"/>
                </a:moveTo>
                <a:lnTo>
                  <a:pt x="5589121" y="0"/>
                </a:lnTo>
                <a:lnTo>
                  <a:pt x="5589121" y="1950571"/>
                </a:lnTo>
                <a:lnTo>
                  <a:pt x="0" y="1950571"/>
                </a:lnTo>
                <a:lnTo>
                  <a:pt x="0" y="0"/>
                </a:lnTo>
                <a:close/>
              </a:path>
            </a:pathLst>
          </a:custGeom>
          <a:noFill/>
          <a:ln w="9961">
            <a:solidFill>
              <a:srgbClr val="B03E68"/>
            </a:solidFill>
            <a:prstDash val="solid"/>
          </a:ln>
        </p:spPr>
      </p:sp>
      <p:sp>
        <p:nvSpPr>
          <p:cNvPr id="1048603" name="Shape 20"/>
          <p:cNvSpPr/>
          <p:nvPr>
            <p:custDataLst>
              <p:tags r:id="rId17"/>
            </p:custDataLst>
          </p:nvPr>
        </p:nvSpPr>
        <p:spPr>
          <a:xfrm>
            <a:off x="6446301" y="3865913"/>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B03E68"/>
          </a:solidFill>
        </p:spPr>
      </p:sp>
      <p:sp>
        <p:nvSpPr>
          <p:cNvPr id="1048604" name="Shape 21"/>
          <p:cNvSpPr/>
          <p:nvPr>
            <p:custDataLst>
              <p:tags r:id="rId18"/>
            </p:custDataLst>
          </p:nvPr>
        </p:nvSpPr>
        <p:spPr>
          <a:xfrm>
            <a:off x="6627182" y="4018242"/>
            <a:ext cx="171450" cy="228600"/>
          </a:xfrm>
          <a:custGeom>
            <a:avLst/>
            <a:gdLst/>
            <a:ahLst/>
            <a:cxnLst/>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a:srgbClr val="FAF8F3"/>
          </a:solidFill>
        </p:spPr>
      </p:sp>
      <p:sp>
        <p:nvSpPr>
          <p:cNvPr id="1048605" name="Text 22"/>
          <p:cNvSpPr/>
          <p:nvPr>
            <p:custDataLst>
              <p:tags r:id="rId19"/>
            </p:custDataLst>
          </p:nvPr>
        </p:nvSpPr>
        <p:spPr>
          <a:xfrm>
            <a:off x="7131961" y="3865913"/>
            <a:ext cx="4533900" cy="266700"/>
          </a:xfrm>
          <a:prstGeom prst="rect">
            <a:avLst/>
          </a:prstGeom>
          <a:noFill/>
        </p:spPr>
        <p:txBody>
          <a:bodyPr wrap="square" lIns="0" tIns="0" rIns="0" bIns="0" rtlCol="0" anchor="ctr"/>
          <a:p>
            <a:pPr>
              <a:lnSpc>
                <a:spcPct val="120000"/>
              </a:lnSpc>
            </a:pPr>
            <a:r>
              <a:rPr lang="en-US" sz="1500" b="1" dirty="0">
                <a:solidFill>
                  <a:srgbClr val="B03E68"/>
                </a:solidFill>
                <a:latin typeface="Arial" panose="020B0704020202090204" pitchFamily="34" charset="0"/>
                <a:ea typeface="Liter" panose="02000503030000020004" pitchFamily="34" charset="-122"/>
                <a:cs typeface="Arial" panose="020B0704020202090204" pitchFamily="34" charset="0"/>
              </a:rPr>
              <a:t>Text Analytics for Improvement</a:t>
            </a:r>
            <a:endParaRPr lang="en-US" sz="1500"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06" name="Text 23"/>
          <p:cNvSpPr/>
          <p:nvPr>
            <p:custDataLst>
              <p:tags r:id="rId20"/>
            </p:custDataLst>
          </p:nvPr>
        </p:nvSpPr>
        <p:spPr>
          <a:xfrm>
            <a:off x="7131961" y="4208626"/>
            <a:ext cx="4514850" cy="990600"/>
          </a:xfrm>
          <a:prstGeom prst="rect">
            <a:avLst/>
          </a:prstGeom>
          <a:noFill/>
        </p:spPr>
        <p:txBody>
          <a:bodyPr wrap="square" lIns="0" tIns="0" rIns="0" bIns="0" rtlCol="0" anchor="ctr"/>
          <a:p>
            <a:pPr>
              <a:lnSpc>
                <a:spcPct val="140000"/>
              </a:lnSpc>
            </a:pPr>
            <a:r>
              <a:rPr lang="en-US" sz="1400" dirty="0">
                <a:solidFill>
                  <a:srgbClr val="3D3A35"/>
                </a:solidFill>
                <a:latin typeface="Arial" panose="020B0704020202090204" pitchFamily="34" charset="0"/>
                <a:ea typeface="Liter" panose="02000503030000020004" pitchFamily="34" charset="-122"/>
                <a:cs typeface="Arial" panose="020B0704020202090204" pitchFamily="34" charset="0"/>
              </a:rPr>
              <a:t>Advanced text analytics extract actionable insights on customer opinions and operational aspects.</a:t>
            </a:r>
            <a:endParaRPr lang="en-US" sz="1200" dirty="0">
              <a:solidFill>
                <a:srgbClr val="3D3A35"/>
              </a:solidFill>
              <a:latin typeface="Arial" panose="020B0704020202090204" pitchFamily="34" charset="0"/>
              <a:ea typeface="Liter" panose="02000503030000020004" pitchFamily="34" charset="-122"/>
              <a:cs typeface="Arial" panose="020B070402020209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1" name=""/>
        <p:cNvGrpSpPr/>
        <p:nvPr/>
      </p:nvGrpSpPr>
      <p:grpSpPr>
        <a:xfrm>
          <a:off x="0" y="0"/>
          <a:ext cx="0" cy="0"/>
          <a:chOff x="0" y="0"/>
          <a:chExt cx="0" cy="0"/>
        </a:xfrm>
      </p:grpSpPr>
      <p:sp>
        <p:nvSpPr>
          <p:cNvPr id="1048607" name="Shape 0"/>
          <p:cNvSpPr/>
          <p:nvPr/>
        </p:nvSpPr>
        <p:spPr>
          <a:xfrm>
            <a:off x="320842" y="320842"/>
            <a:ext cx="32084" cy="320842"/>
          </a:xfrm>
          <a:custGeom>
            <a:avLst/>
            <a:gdLst/>
            <a:ahLst/>
            <a:cxnLst/>
            <a:rect l="l" t="t" r="r" b="b"/>
            <a:pathLst>
              <a:path w="32084" h="320842">
                <a:moveTo>
                  <a:pt x="0" y="0"/>
                </a:moveTo>
                <a:lnTo>
                  <a:pt x="32084" y="0"/>
                </a:lnTo>
                <a:lnTo>
                  <a:pt x="32084" y="320842"/>
                </a:lnTo>
                <a:lnTo>
                  <a:pt x="0" y="320842"/>
                </a:lnTo>
                <a:lnTo>
                  <a:pt x="0" y="0"/>
                </a:lnTo>
                <a:close/>
              </a:path>
            </a:pathLst>
          </a:custGeom>
          <a:solidFill>
            <a:srgbClr val="C00000"/>
          </a:solidFill>
        </p:spPr>
      </p:sp>
      <p:sp>
        <p:nvSpPr>
          <p:cNvPr id="1048608" name="Text 1"/>
          <p:cNvSpPr/>
          <p:nvPr/>
        </p:nvSpPr>
        <p:spPr>
          <a:xfrm>
            <a:off x="448945" y="320675"/>
            <a:ext cx="4738370" cy="320675"/>
          </a:xfrm>
          <a:prstGeom prst="rect">
            <a:avLst/>
          </a:prstGeom>
          <a:noFill/>
        </p:spPr>
        <p:txBody>
          <a:bodyPr wrap="square" lIns="0" tIns="0" rIns="0" bIns="0" rtlCol="0" anchor="ctr"/>
          <a:p>
            <a:pPr>
              <a:lnSpc>
                <a:spcPct val="90000"/>
              </a:lnSpc>
            </a:pPr>
            <a:r>
              <a:rPr lang="en-US" sz="2275" b="1" dirty="0">
                <a:solidFill>
                  <a:srgbClr val="B03E68"/>
                </a:solidFill>
                <a:latin typeface="Arial" panose="020B0704020202090204" pitchFamily="34" charset="0"/>
                <a:ea typeface="Liter" panose="02000503030000020004" pitchFamily="34" charset="-122"/>
                <a:cs typeface="Arial" panose="020B0704020202090204" pitchFamily="34" charset="0"/>
              </a:rPr>
              <a:t>Project Objectives</a:t>
            </a:r>
            <a:endParaRPr lang="en-US" sz="2275"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09" name="Shape 4"/>
          <p:cNvSpPr/>
          <p:nvPr>
            <p:custDataLst>
              <p:tags r:id="rId1"/>
            </p:custDataLst>
          </p:nvPr>
        </p:nvSpPr>
        <p:spPr>
          <a:xfrm>
            <a:off x="323988" y="865575"/>
            <a:ext cx="11540565" cy="1032986"/>
          </a:xfrm>
          <a:custGeom>
            <a:avLst/>
            <a:gdLst/>
            <a:ahLst/>
            <a:cxnLst/>
            <a:rect l="l" t="t" r="r" b="b"/>
            <a:pathLst>
              <a:path w="11540565" h="1032986">
                <a:moveTo>
                  <a:pt x="0" y="0"/>
                </a:moveTo>
                <a:lnTo>
                  <a:pt x="11540565" y="0"/>
                </a:lnTo>
                <a:lnTo>
                  <a:pt x="11540565" y="1032986"/>
                </a:lnTo>
                <a:lnTo>
                  <a:pt x="0" y="1032986"/>
                </a:lnTo>
                <a:lnTo>
                  <a:pt x="0" y="0"/>
                </a:lnTo>
                <a:close/>
              </a:path>
            </a:pathLst>
          </a:custGeom>
          <a:ln>
            <a:solidFill>
              <a:srgbClr val="F6DCD2"/>
            </a:solidFill>
          </a:ln>
        </p:spPr>
        <p:style>
          <a:lnRef idx="2">
            <a:schemeClr val="accent1"/>
          </a:lnRef>
          <a:fillRef idx="0">
            <a:srgbClr val="FFFFFF"/>
          </a:fillRef>
          <a:effectRef idx="0">
            <a:srgbClr val="FFFFFF"/>
          </a:effectRef>
          <a:fontRef idx="minor">
            <a:schemeClr val="tx1"/>
          </a:fontRef>
        </p:style>
      </p:sp>
      <p:sp>
        <p:nvSpPr>
          <p:cNvPr id="1048610" name="Text 6"/>
          <p:cNvSpPr/>
          <p:nvPr>
            <p:custDataLst>
              <p:tags r:id="rId2"/>
            </p:custDataLst>
          </p:nvPr>
        </p:nvSpPr>
        <p:spPr>
          <a:xfrm>
            <a:off x="619272" y="1141397"/>
            <a:ext cx="368968" cy="288758"/>
          </a:xfrm>
          <a:prstGeom prst="rect">
            <a:avLst/>
          </a:prstGeom>
          <a:noFill/>
        </p:spPr>
        <p:txBody>
          <a:bodyPr wrap="square" lIns="0" tIns="0" rIns="0" bIns="0" rtlCol="0" anchor="ctr"/>
          <a:p>
            <a:pPr>
              <a:lnSpc>
                <a:spcPct val="100000"/>
              </a:lnSpc>
            </a:pPr>
            <a:r>
              <a:rPr lang="en-US" sz="1895" b="1" dirty="0">
                <a:solidFill>
                  <a:schemeClr val="tx1"/>
                </a:solidFill>
                <a:latin typeface="Arial" panose="020B0704020202090204" pitchFamily="34" charset="0"/>
                <a:ea typeface="Liter" panose="02000503030000020004" pitchFamily="34" charset="-122"/>
                <a:cs typeface="Arial" panose="020B0704020202090204" pitchFamily="34" charset="0"/>
              </a:rPr>
              <a:t>01</a:t>
            </a:r>
            <a:endParaRPr lang="en-US" sz="1895" b="1" dirty="0">
              <a:solidFill>
                <a:schemeClr val="tx1"/>
              </a:solidFill>
              <a:latin typeface="Arial" panose="020B0704020202090204" pitchFamily="34" charset="0"/>
              <a:ea typeface="Liter" panose="02000503030000020004" pitchFamily="34" charset="-122"/>
              <a:cs typeface="Arial" panose="020B0704020202090204" pitchFamily="34" charset="0"/>
            </a:endParaRPr>
          </a:p>
        </p:txBody>
      </p:sp>
      <p:sp>
        <p:nvSpPr>
          <p:cNvPr id="1048611" name="Text 7"/>
          <p:cNvSpPr/>
          <p:nvPr>
            <p:custDataLst>
              <p:tags r:id="rId3"/>
            </p:custDataLst>
          </p:nvPr>
        </p:nvSpPr>
        <p:spPr>
          <a:xfrm>
            <a:off x="1161283" y="1029142"/>
            <a:ext cx="10619874" cy="224589"/>
          </a:xfrm>
          <a:prstGeom prst="rect">
            <a:avLst/>
          </a:prstGeom>
          <a:noFill/>
        </p:spPr>
        <p:txBody>
          <a:bodyPr wrap="square" lIns="0" tIns="0" rIns="0" bIns="0" rtlCol="0" anchor="ctr"/>
          <a:p>
            <a:pPr>
              <a:lnSpc>
                <a:spcPct val="120000"/>
              </a:lnSpc>
            </a:pPr>
            <a:r>
              <a:rPr lang="en-US" sz="1265" b="1" dirty="0">
                <a:solidFill>
                  <a:srgbClr val="B03E68"/>
                </a:solidFill>
                <a:latin typeface="Arial" panose="020B0704020202090204" pitchFamily="34" charset="0"/>
                <a:ea typeface="Liter" panose="02000503030000020004" pitchFamily="34" charset="-122"/>
                <a:cs typeface="Arial" panose="020B0704020202090204" pitchFamily="34" charset="0"/>
              </a:rPr>
              <a:t>Analyze Sentiment and Emotion Patterns</a:t>
            </a:r>
            <a:endParaRPr lang="en-US" sz="1265"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12" name="Text 8"/>
          <p:cNvSpPr/>
          <p:nvPr>
            <p:custDataLst>
              <p:tags r:id="rId4"/>
            </p:custDataLst>
          </p:nvPr>
        </p:nvSpPr>
        <p:spPr>
          <a:xfrm>
            <a:off x="1161415" y="1317625"/>
            <a:ext cx="9072880" cy="417195"/>
          </a:xfrm>
          <a:prstGeom prst="rect">
            <a:avLst/>
          </a:prstGeom>
          <a:noFill/>
        </p:spPr>
        <p:txBody>
          <a:bodyPr wrap="square" lIns="0" tIns="0" rIns="0" bIns="0" rtlCol="0" anchor="ctr"/>
          <a:p>
            <a:pPr>
              <a:lnSpc>
                <a:spcPct val="140000"/>
              </a:lnSpc>
            </a:pPr>
            <a:r>
              <a:rPr lang="en-US" sz="1400" dirty="0">
                <a:solidFill>
                  <a:schemeClr val="tx1"/>
                </a:solidFill>
                <a:latin typeface="Arial" panose="020B0704020202090204" pitchFamily="34" charset="0"/>
                <a:ea typeface="Liter" panose="02000503030000020004" pitchFamily="34" charset="-122"/>
                <a:cs typeface="Arial" panose="020B0704020202090204" pitchFamily="34" charset="0"/>
              </a:rPr>
              <a:t>Classify polarity and emotions in Hong Kong restaurant reviews using NLP.</a:t>
            </a:r>
            <a:endParaRPr lang="en-US" sz="1200" dirty="0">
              <a:solidFill>
                <a:schemeClr val="tx1"/>
              </a:solidFill>
              <a:latin typeface="Arial" panose="020B0704020202090204" pitchFamily="34" charset="0"/>
              <a:ea typeface="Liter" panose="02000503030000020004" pitchFamily="34" charset="-122"/>
              <a:cs typeface="Arial" panose="020B0704020202090204" pitchFamily="34" charset="0"/>
            </a:endParaRPr>
          </a:p>
        </p:txBody>
      </p:sp>
      <p:sp>
        <p:nvSpPr>
          <p:cNvPr id="1048613" name="Shape 9"/>
          <p:cNvSpPr/>
          <p:nvPr>
            <p:custDataLst>
              <p:tags r:id="rId5"/>
            </p:custDataLst>
          </p:nvPr>
        </p:nvSpPr>
        <p:spPr>
          <a:xfrm>
            <a:off x="323988" y="2033052"/>
            <a:ext cx="11540565" cy="1032986"/>
          </a:xfrm>
          <a:custGeom>
            <a:avLst/>
            <a:gdLst/>
            <a:ahLst/>
            <a:cxnLst/>
            <a:rect l="l" t="t" r="r" b="b"/>
            <a:pathLst>
              <a:path w="11540565" h="1032986">
                <a:moveTo>
                  <a:pt x="0" y="0"/>
                </a:moveTo>
                <a:lnTo>
                  <a:pt x="11540565" y="0"/>
                </a:lnTo>
                <a:lnTo>
                  <a:pt x="11540565" y="1032986"/>
                </a:lnTo>
                <a:lnTo>
                  <a:pt x="0" y="1032986"/>
                </a:lnTo>
                <a:lnTo>
                  <a:pt x="0" y="0"/>
                </a:lnTo>
                <a:close/>
              </a:path>
            </a:pathLst>
          </a:custGeom>
          <a:ln>
            <a:solidFill>
              <a:schemeClr val="accent2">
                <a:lumMod val="20000"/>
                <a:lumOff val="80000"/>
              </a:schemeClr>
            </a:solidFill>
          </a:ln>
        </p:spPr>
        <p:style>
          <a:lnRef idx="2">
            <a:schemeClr val="accent1"/>
          </a:lnRef>
          <a:fillRef idx="0">
            <a:srgbClr val="FFFFFF"/>
          </a:fillRef>
          <a:effectRef idx="0">
            <a:srgbClr val="FFFFFF"/>
          </a:effectRef>
          <a:fontRef idx="minor">
            <a:schemeClr val="tx1"/>
          </a:fontRef>
        </p:style>
      </p:sp>
      <p:sp>
        <p:nvSpPr>
          <p:cNvPr id="1048614" name="Text 11"/>
          <p:cNvSpPr/>
          <p:nvPr>
            <p:custDataLst>
              <p:tags r:id="rId6"/>
            </p:custDataLst>
          </p:nvPr>
        </p:nvSpPr>
        <p:spPr>
          <a:xfrm>
            <a:off x="597450" y="2308874"/>
            <a:ext cx="417095" cy="288758"/>
          </a:xfrm>
          <a:prstGeom prst="rect">
            <a:avLst/>
          </a:prstGeom>
          <a:noFill/>
        </p:spPr>
        <p:txBody>
          <a:bodyPr wrap="square" lIns="0" tIns="0" rIns="0" bIns="0" rtlCol="0" anchor="ctr"/>
          <a:p>
            <a:pPr>
              <a:lnSpc>
                <a:spcPct val="100000"/>
              </a:lnSpc>
            </a:pPr>
            <a:r>
              <a:rPr lang="en-US" sz="1895" b="1" dirty="0">
                <a:solidFill>
                  <a:schemeClr val="tx1"/>
                </a:solidFill>
                <a:latin typeface="Arial" panose="020B0704020202090204" pitchFamily="34" charset="0"/>
                <a:ea typeface="Liter" panose="02000503030000020004" pitchFamily="34" charset="-122"/>
                <a:cs typeface="Arial" panose="020B0704020202090204" pitchFamily="34" charset="0"/>
              </a:rPr>
              <a:t>02</a:t>
            </a:r>
            <a:endParaRPr lang="en-US" sz="1895" b="1" dirty="0">
              <a:solidFill>
                <a:schemeClr val="tx1"/>
              </a:solidFill>
              <a:latin typeface="Arial" panose="020B0704020202090204" pitchFamily="34" charset="0"/>
              <a:ea typeface="Liter" panose="02000503030000020004" pitchFamily="34" charset="-122"/>
              <a:cs typeface="Arial" panose="020B0704020202090204" pitchFamily="34" charset="0"/>
            </a:endParaRPr>
          </a:p>
        </p:txBody>
      </p:sp>
      <p:sp>
        <p:nvSpPr>
          <p:cNvPr id="1048615" name="Text 12"/>
          <p:cNvSpPr/>
          <p:nvPr>
            <p:custDataLst>
              <p:tags r:id="rId7"/>
            </p:custDataLst>
          </p:nvPr>
        </p:nvSpPr>
        <p:spPr>
          <a:xfrm>
            <a:off x="1161283" y="2196618"/>
            <a:ext cx="10619874" cy="224589"/>
          </a:xfrm>
          <a:prstGeom prst="rect">
            <a:avLst/>
          </a:prstGeom>
          <a:noFill/>
        </p:spPr>
        <p:txBody>
          <a:bodyPr wrap="square" lIns="0" tIns="0" rIns="0" bIns="0" rtlCol="0" anchor="ctr"/>
          <a:p>
            <a:pPr>
              <a:lnSpc>
                <a:spcPct val="120000"/>
              </a:lnSpc>
            </a:pPr>
            <a:r>
              <a:rPr lang="en-US" sz="1265" b="1" dirty="0">
                <a:solidFill>
                  <a:srgbClr val="B03E68"/>
                </a:solidFill>
                <a:latin typeface="Arial" panose="020B0704020202090204" pitchFamily="34" charset="0"/>
                <a:ea typeface="Liter" panose="02000503030000020004" pitchFamily="34" charset="-122"/>
                <a:cs typeface="Arial" panose="020B0704020202090204" pitchFamily="34" charset="0"/>
              </a:rPr>
              <a:t>Identify Descriptive Patterns</a:t>
            </a:r>
            <a:endParaRPr lang="en-US" sz="1265"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16" name="Text 13"/>
          <p:cNvSpPr/>
          <p:nvPr>
            <p:custDataLst>
              <p:tags r:id="rId8"/>
            </p:custDataLst>
          </p:nvPr>
        </p:nvSpPr>
        <p:spPr>
          <a:xfrm>
            <a:off x="1161415" y="2485390"/>
            <a:ext cx="9072880" cy="417195"/>
          </a:xfrm>
          <a:prstGeom prst="rect">
            <a:avLst/>
          </a:prstGeom>
          <a:noFill/>
        </p:spPr>
        <p:txBody>
          <a:bodyPr wrap="square" lIns="0" tIns="0" rIns="0" bIns="0" rtlCol="0" anchor="ctr"/>
          <a:p>
            <a:pPr>
              <a:lnSpc>
                <a:spcPct val="140000"/>
              </a:lnSpc>
            </a:pPr>
            <a:r>
              <a:rPr lang="en-US" sz="1400" dirty="0">
                <a:solidFill>
                  <a:schemeClr val="tx1"/>
                </a:solidFill>
                <a:latin typeface="Arial" panose="020B0704020202090204" pitchFamily="34" charset="0"/>
                <a:ea typeface="Liter" panose="02000503030000020004" pitchFamily="34" charset="-122"/>
                <a:cs typeface="Arial" panose="020B0704020202090204" pitchFamily="34" charset="0"/>
              </a:rPr>
              <a:t>Discover patterns in ratings, categories, and business types that impact review sentiment.</a:t>
            </a:r>
            <a:endParaRPr lang="en-US" sz="1200" dirty="0">
              <a:solidFill>
                <a:schemeClr val="tx1"/>
              </a:solidFill>
              <a:latin typeface="Arial" panose="020B0704020202090204" pitchFamily="34" charset="0"/>
              <a:ea typeface="Liter" panose="02000503030000020004" pitchFamily="34" charset="-122"/>
              <a:cs typeface="Arial" panose="020B0704020202090204" pitchFamily="34" charset="0"/>
            </a:endParaRPr>
          </a:p>
        </p:txBody>
      </p:sp>
      <p:sp>
        <p:nvSpPr>
          <p:cNvPr id="1048617" name="Shape 14"/>
          <p:cNvSpPr/>
          <p:nvPr>
            <p:custDataLst>
              <p:tags r:id="rId9"/>
            </p:custDataLst>
          </p:nvPr>
        </p:nvSpPr>
        <p:spPr>
          <a:xfrm>
            <a:off x="323988" y="3200528"/>
            <a:ext cx="11540565" cy="1032986"/>
          </a:xfrm>
          <a:custGeom>
            <a:avLst/>
            <a:gdLst/>
            <a:ahLst/>
            <a:cxnLst/>
            <a:rect l="l" t="t" r="r" b="b"/>
            <a:pathLst>
              <a:path w="11540565" h="1032986">
                <a:moveTo>
                  <a:pt x="0" y="0"/>
                </a:moveTo>
                <a:lnTo>
                  <a:pt x="11540565" y="0"/>
                </a:lnTo>
                <a:lnTo>
                  <a:pt x="11540565" y="1032986"/>
                </a:lnTo>
                <a:lnTo>
                  <a:pt x="0" y="1032986"/>
                </a:lnTo>
                <a:lnTo>
                  <a:pt x="0" y="0"/>
                </a:lnTo>
                <a:close/>
              </a:path>
            </a:pathLst>
          </a:custGeom>
          <a:ln>
            <a:solidFill>
              <a:schemeClr val="accent2">
                <a:lumMod val="40000"/>
                <a:lumOff val="60000"/>
              </a:schemeClr>
            </a:solidFill>
          </a:ln>
        </p:spPr>
        <p:style>
          <a:lnRef idx="2">
            <a:schemeClr val="accent1"/>
          </a:lnRef>
          <a:fillRef idx="0">
            <a:srgbClr val="FFFFFF"/>
          </a:fillRef>
          <a:effectRef idx="0">
            <a:srgbClr val="FFFFFF"/>
          </a:effectRef>
          <a:fontRef idx="minor">
            <a:schemeClr val="tx1"/>
          </a:fontRef>
        </p:style>
      </p:sp>
      <p:sp>
        <p:nvSpPr>
          <p:cNvPr id="1048618" name="Text 16"/>
          <p:cNvSpPr/>
          <p:nvPr>
            <p:custDataLst>
              <p:tags r:id="rId10"/>
            </p:custDataLst>
          </p:nvPr>
        </p:nvSpPr>
        <p:spPr>
          <a:xfrm>
            <a:off x="596369" y="3476350"/>
            <a:ext cx="417095" cy="288758"/>
          </a:xfrm>
          <a:prstGeom prst="rect">
            <a:avLst/>
          </a:prstGeom>
          <a:noFill/>
        </p:spPr>
        <p:txBody>
          <a:bodyPr wrap="square" lIns="0" tIns="0" rIns="0" bIns="0" rtlCol="0" anchor="ctr"/>
          <a:p>
            <a:pPr>
              <a:lnSpc>
                <a:spcPct val="100000"/>
              </a:lnSpc>
            </a:pPr>
            <a:r>
              <a:rPr lang="en-US" sz="1895" b="1" dirty="0">
                <a:solidFill>
                  <a:schemeClr val="tx1"/>
                </a:solidFill>
                <a:latin typeface="Arial" panose="020B0704020202090204" pitchFamily="34" charset="0"/>
                <a:ea typeface="Liter" panose="02000503030000020004" pitchFamily="34" charset="-122"/>
                <a:cs typeface="Arial" panose="020B0704020202090204" pitchFamily="34" charset="0"/>
              </a:rPr>
              <a:t>03</a:t>
            </a:r>
            <a:endParaRPr lang="en-US" sz="1895" b="1" dirty="0">
              <a:solidFill>
                <a:schemeClr val="tx1"/>
              </a:solidFill>
              <a:latin typeface="Arial" panose="020B0704020202090204" pitchFamily="34" charset="0"/>
              <a:ea typeface="Liter" panose="02000503030000020004" pitchFamily="34" charset="-122"/>
              <a:cs typeface="Arial" panose="020B0704020202090204" pitchFamily="34" charset="0"/>
            </a:endParaRPr>
          </a:p>
        </p:txBody>
      </p:sp>
      <p:sp>
        <p:nvSpPr>
          <p:cNvPr id="1048619" name="Text 17"/>
          <p:cNvSpPr/>
          <p:nvPr>
            <p:custDataLst>
              <p:tags r:id="rId11"/>
            </p:custDataLst>
          </p:nvPr>
        </p:nvSpPr>
        <p:spPr>
          <a:xfrm>
            <a:off x="1161283" y="3364095"/>
            <a:ext cx="10619874" cy="224589"/>
          </a:xfrm>
          <a:prstGeom prst="rect">
            <a:avLst/>
          </a:prstGeom>
          <a:noFill/>
        </p:spPr>
        <p:txBody>
          <a:bodyPr wrap="square" lIns="0" tIns="0" rIns="0" bIns="0" rtlCol="0" anchor="ctr"/>
          <a:p>
            <a:pPr>
              <a:lnSpc>
                <a:spcPct val="120000"/>
              </a:lnSpc>
            </a:pPr>
            <a:r>
              <a:rPr lang="en-US" sz="1265" b="1" dirty="0">
                <a:solidFill>
                  <a:srgbClr val="B03E68"/>
                </a:solidFill>
                <a:latin typeface="Arial" panose="020B0704020202090204" pitchFamily="34" charset="0"/>
                <a:ea typeface="Liter" panose="02000503030000020004" pitchFamily="34" charset="-122"/>
                <a:cs typeface="Arial" panose="020B0704020202090204" pitchFamily="34" charset="0"/>
              </a:rPr>
              <a:t>Predict Five-Star vs Non-Five-Star Reviews</a:t>
            </a:r>
            <a:endParaRPr lang="en-US" sz="1265"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20" name="Text 18"/>
          <p:cNvSpPr/>
          <p:nvPr>
            <p:custDataLst>
              <p:tags r:id="rId12"/>
            </p:custDataLst>
          </p:nvPr>
        </p:nvSpPr>
        <p:spPr>
          <a:xfrm>
            <a:off x="1161415" y="3652520"/>
            <a:ext cx="9072880" cy="417195"/>
          </a:xfrm>
          <a:prstGeom prst="rect">
            <a:avLst/>
          </a:prstGeom>
          <a:noFill/>
        </p:spPr>
        <p:txBody>
          <a:bodyPr wrap="square" lIns="0" tIns="0" rIns="0" bIns="0" rtlCol="0" anchor="ctr"/>
          <a:p>
            <a:pPr>
              <a:lnSpc>
                <a:spcPct val="140000"/>
              </a:lnSpc>
            </a:pPr>
            <a:r>
              <a:rPr lang="en-US" sz="1400" dirty="0">
                <a:solidFill>
                  <a:schemeClr val="tx1"/>
                </a:solidFill>
                <a:latin typeface="Arial" panose="020B0704020202090204" pitchFamily="34" charset="0"/>
                <a:ea typeface="Liter" panose="02000503030000020004" pitchFamily="34" charset="-122"/>
                <a:cs typeface="Arial" panose="020B0704020202090204" pitchFamily="34" charset="0"/>
              </a:rPr>
              <a:t>Develop a model to classify reviews as 5-star or non-5-star to simplify product focus.</a:t>
            </a:r>
            <a:endParaRPr lang="en-US" sz="1200" dirty="0">
              <a:solidFill>
                <a:schemeClr val="tx1"/>
              </a:solidFill>
              <a:latin typeface="Arial" panose="020B0704020202090204" pitchFamily="34" charset="0"/>
              <a:ea typeface="Liter" panose="02000503030000020004" pitchFamily="34" charset="-122"/>
              <a:cs typeface="Arial" panose="020B0704020202090204" pitchFamily="34" charset="0"/>
            </a:endParaRPr>
          </a:p>
        </p:txBody>
      </p:sp>
      <p:sp>
        <p:nvSpPr>
          <p:cNvPr id="1048621" name="Shape 19"/>
          <p:cNvSpPr/>
          <p:nvPr>
            <p:custDataLst>
              <p:tags r:id="rId13"/>
            </p:custDataLst>
          </p:nvPr>
        </p:nvSpPr>
        <p:spPr>
          <a:xfrm>
            <a:off x="323988" y="4368004"/>
            <a:ext cx="11540565" cy="1032986"/>
          </a:xfrm>
          <a:custGeom>
            <a:avLst/>
            <a:gdLst/>
            <a:ahLst/>
            <a:cxnLst/>
            <a:rect l="l" t="t" r="r" b="b"/>
            <a:pathLst>
              <a:path w="11540565" h="1032986">
                <a:moveTo>
                  <a:pt x="0" y="0"/>
                </a:moveTo>
                <a:lnTo>
                  <a:pt x="11540565" y="0"/>
                </a:lnTo>
                <a:lnTo>
                  <a:pt x="11540565" y="1032986"/>
                </a:lnTo>
                <a:lnTo>
                  <a:pt x="0" y="1032986"/>
                </a:lnTo>
                <a:lnTo>
                  <a:pt x="0" y="0"/>
                </a:lnTo>
                <a:close/>
              </a:path>
            </a:pathLst>
          </a:custGeom>
          <a:noFill/>
          <a:ln w="9961">
            <a:solidFill>
              <a:schemeClr val="accent2">
                <a:lumMod val="40000"/>
                <a:lumOff val="60000"/>
              </a:schemeClr>
            </a:solidFill>
            <a:prstDash val="solid"/>
          </a:ln>
        </p:spPr>
      </p:sp>
      <p:sp>
        <p:nvSpPr>
          <p:cNvPr id="1048622" name="Text 21"/>
          <p:cNvSpPr/>
          <p:nvPr>
            <p:custDataLst>
              <p:tags r:id="rId14"/>
            </p:custDataLst>
          </p:nvPr>
        </p:nvSpPr>
        <p:spPr>
          <a:xfrm>
            <a:off x="596566" y="4643827"/>
            <a:ext cx="417095" cy="288758"/>
          </a:xfrm>
          <a:prstGeom prst="rect">
            <a:avLst/>
          </a:prstGeom>
          <a:noFill/>
        </p:spPr>
        <p:txBody>
          <a:bodyPr wrap="square" lIns="0" tIns="0" rIns="0" bIns="0" rtlCol="0" anchor="ctr"/>
          <a:p>
            <a:pPr>
              <a:lnSpc>
                <a:spcPct val="100000"/>
              </a:lnSpc>
            </a:pPr>
            <a:r>
              <a:rPr lang="en-US" sz="1895" b="1" dirty="0">
                <a:solidFill>
                  <a:schemeClr val="tx1"/>
                </a:solidFill>
                <a:latin typeface="Arial" panose="020B0704020202090204" pitchFamily="34" charset="0"/>
                <a:ea typeface="Liter" panose="02000503030000020004" pitchFamily="34" charset="-122"/>
                <a:cs typeface="Arial" panose="020B0704020202090204" pitchFamily="34" charset="0"/>
              </a:rPr>
              <a:t>04</a:t>
            </a:r>
            <a:endParaRPr lang="en-US" sz="1895" b="1" dirty="0">
              <a:solidFill>
                <a:schemeClr val="tx1"/>
              </a:solidFill>
              <a:latin typeface="Arial" panose="020B0704020202090204" pitchFamily="34" charset="0"/>
              <a:ea typeface="Liter" panose="02000503030000020004" pitchFamily="34" charset="-122"/>
              <a:cs typeface="Arial" panose="020B0704020202090204" pitchFamily="34" charset="0"/>
            </a:endParaRPr>
          </a:p>
        </p:txBody>
      </p:sp>
      <p:sp>
        <p:nvSpPr>
          <p:cNvPr id="1048623" name="Text 22"/>
          <p:cNvSpPr/>
          <p:nvPr>
            <p:custDataLst>
              <p:tags r:id="rId15"/>
            </p:custDataLst>
          </p:nvPr>
        </p:nvSpPr>
        <p:spPr>
          <a:xfrm>
            <a:off x="1161283" y="4531571"/>
            <a:ext cx="10619874" cy="224589"/>
          </a:xfrm>
          <a:prstGeom prst="rect">
            <a:avLst/>
          </a:prstGeom>
          <a:noFill/>
        </p:spPr>
        <p:txBody>
          <a:bodyPr wrap="square" lIns="0" tIns="0" rIns="0" bIns="0" rtlCol="0" anchor="ctr"/>
          <a:p>
            <a:pPr>
              <a:lnSpc>
                <a:spcPct val="120000"/>
              </a:lnSpc>
            </a:pPr>
            <a:r>
              <a:rPr lang="en-US" sz="1265" b="1" dirty="0">
                <a:solidFill>
                  <a:srgbClr val="B03E68"/>
                </a:solidFill>
                <a:latin typeface="Arial" panose="020B0704020202090204" pitchFamily="34" charset="0"/>
                <a:ea typeface="Liter" panose="02000503030000020004" pitchFamily="34" charset="-122"/>
                <a:cs typeface="Arial" panose="020B0704020202090204" pitchFamily="34" charset="0"/>
              </a:rPr>
              <a:t>Compare Feature Groups</a:t>
            </a:r>
            <a:endParaRPr lang="en-US" sz="1265"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24" name="Text 23"/>
          <p:cNvSpPr/>
          <p:nvPr>
            <p:custDataLst>
              <p:tags r:id="rId16"/>
            </p:custDataLst>
          </p:nvPr>
        </p:nvSpPr>
        <p:spPr>
          <a:xfrm>
            <a:off x="1161415" y="4820285"/>
            <a:ext cx="9039860" cy="417195"/>
          </a:xfrm>
          <a:prstGeom prst="rect">
            <a:avLst/>
          </a:prstGeom>
          <a:noFill/>
        </p:spPr>
        <p:txBody>
          <a:bodyPr wrap="square" lIns="0" tIns="0" rIns="0" bIns="0" rtlCol="0" anchor="ctr"/>
          <a:p>
            <a:pPr>
              <a:lnSpc>
                <a:spcPct val="140000"/>
              </a:lnSpc>
            </a:pPr>
            <a:r>
              <a:rPr lang="en-US" sz="1400" dirty="0">
                <a:solidFill>
                  <a:schemeClr val="tx1"/>
                </a:solidFill>
                <a:latin typeface="Arial" panose="020B0704020202090204" pitchFamily="34" charset="0"/>
                <a:ea typeface="Liter" panose="02000503030000020004" pitchFamily="34" charset="-122"/>
                <a:cs typeface="Arial" panose="020B0704020202090204" pitchFamily="34" charset="0"/>
              </a:rPr>
              <a:t>Evaluate the predictive power of review text, metadata, and sentiment features on ratings</a:t>
            </a:r>
            <a:endParaRPr lang="en-US" sz="1200" dirty="0">
              <a:solidFill>
                <a:schemeClr val="tx1"/>
              </a:solidFill>
              <a:latin typeface="Arial" panose="020B0704020202090204" pitchFamily="34" charset="0"/>
              <a:ea typeface="Liter" panose="02000503030000020004" pitchFamily="34" charset="-122"/>
              <a:cs typeface="Arial" panose="020B0704020202090204" pitchFamily="34" charset="0"/>
            </a:endParaRPr>
          </a:p>
        </p:txBody>
      </p:sp>
      <p:sp>
        <p:nvSpPr>
          <p:cNvPr id="1048625" name="Shape 24"/>
          <p:cNvSpPr/>
          <p:nvPr>
            <p:custDataLst>
              <p:tags r:id="rId17"/>
            </p:custDataLst>
          </p:nvPr>
        </p:nvSpPr>
        <p:spPr>
          <a:xfrm>
            <a:off x="323988" y="5535480"/>
            <a:ext cx="11540565" cy="1032986"/>
          </a:xfrm>
          <a:custGeom>
            <a:avLst/>
            <a:gdLst/>
            <a:ahLst/>
            <a:cxnLst/>
            <a:rect l="l" t="t" r="r" b="b"/>
            <a:pathLst>
              <a:path w="11540565" h="1032986">
                <a:moveTo>
                  <a:pt x="0" y="0"/>
                </a:moveTo>
                <a:lnTo>
                  <a:pt x="11540565" y="0"/>
                </a:lnTo>
                <a:lnTo>
                  <a:pt x="11540565" y="1032986"/>
                </a:lnTo>
                <a:lnTo>
                  <a:pt x="0" y="1032986"/>
                </a:lnTo>
                <a:lnTo>
                  <a:pt x="0" y="0"/>
                </a:lnTo>
                <a:close/>
              </a:path>
            </a:pathLst>
          </a:custGeom>
          <a:noFill/>
          <a:ln w="9961">
            <a:solidFill>
              <a:schemeClr val="accent2">
                <a:lumMod val="60000"/>
                <a:lumOff val="40000"/>
              </a:schemeClr>
            </a:solidFill>
            <a:prstDash val="solid"/>
          </a:ln>
        </p:spPr>
      </p:sp>
      <p:sp>
        <p:nvSpPr>
          <p:cNvPr id="1048626" name="Text 26"/>
          <p:cNvSpPr/>
          <p:nvPr>
            <p:custDataLst>
              <p:tags r:id="rId18"/>
            </p:custDataLst>
          </p:nvPr>
        </p:nvSpPr>
        <p:spPr>
          <a:xfrm>
            <a:off x="598139" y="5811301"/>
            <a:ext cx="409074" cy="288758"/>
          </a:xfrm>
          <a:prstGeom prst="rect">
            <a:avLst/>
          </a:prstGeom>
          <a:noFill/>
        </p:spPr>
        <p:txBody>
          <a:bodyPr wrap="square" lIns="0" tIns="0" rIns="0" bIns="0" rtlCol="0" anchor="ctr"/>
          <a:p>
            <a:pPr>
              <a:lnSpc>
                <a:spcPct val="100000"/>
              </a:lnSpc>
            </a:pPr>
            <a:r>
              <a:rPr lang="en-US" sz="1895" b="1" dirty="0">
                <a:solidFill>
                  <a:schemeClr val="tx1"/>
                </a:solidFill>
                <a:latin typeface="Arial" panose="020B0704020202090204" pitchFamily="34" charset="0"/>
                <a:ea typeface="Liter" panose="02000503030000020004" pitchFamily="34" charset="-122"/>
                <a:cs typeface="Arial" panose="020B0704020202090204" pitchFamily="34" charset="0"/>
              </a:rPr>
              <a:t>05</a:t>
            </a:r>
            <a:endParaRPr lang="en-US" sz="1895" b="1" dirty="0">
              <a:solidFill>
                <a:schemeClr val="tx1"/>
              </a:solidFill>
              <a:latin typeface="Arial" panose="020B0704020202090204" pitchFamily="34" charset="0"/>
              <a:ea typeface="Liter" panose="02000503030000020004" pitchFamily="34" charset="-122"/>
              <a:cs typeface="Arial" panose="020B0704020202090204" pitchFamily="34" charset="0"/>
            </a:endParaRPr>
          </a:p>
        </p:txBody>
      </p:sp>
      <p:sp>
        <p:nvSpPr>
          <p:cNvPr id="1048627" name="Text 27"/>
          <p:cNvSpPr/>
          <p:nvPr>
            <p:custDataLst>
              <p:tags r:id="rId19"/>
            </p:custDataLst>
          </p:nvPr>
        </p:nvSpPr>
        <p:spPr>
          <a:xfrm>
            <a:off x="1161283" y="5699047"/>
            <a:ext cx="10619874" cy="224589"/>
          </a:xfrm>
          <a:prstGeom prst="rect">
            <a:avLst/>
          </a:prstGeom>
          <a:noFill/>
        </p:spPr>
        <p:txBody>
          <a:bodyPr wrap="square" lIns="0" tIns="0" rIns="0" bIns="0" rtlCol="0" anchor="ctr"/>
          <a:p>
            <a:pPr>
              <a:lnSpc>
                <a:spcPct val="120000"/>
              </a:lnSpc>
            </a:pPr>
            <a:r>
              <a:rPr lang="en-US" sz="1265" b="1" dirty="0">
                <a:solidFill>
                  <a:srgbClr val="B03E68"/>
                </a:solidFill>
                <a:latin typeface="Arial" panose="020B0704020202090204" pitchFamily="34" charset="0"/>
                <a:ea typeface="Liter" panose="02000503030000020004" pitchFamily="34" charset="-122"/>
                <a:cs typeface="Arial" panose="020B0704020202090204" pitchFamily="34" charset="0"/>
              </a:rPr>
              <a:t>Derive Practical Business Implications</a:t>
            </a:r>
            <a:endParaRPr lang="en-US" sz="1265"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28" name="Text 28"/>
          <p:cNvSpPr/>
          <p:nvPr>
            <p:custDataLst>
              <p:tags r:id="rId20"/>
            </p:custDataLst>
          </p:nvPr>
        </p:nvSpPr>
        <p:spPr>
          <a:xfrm>
            <a:off x="1161415" y="5987415"/>
            <a:ext cx="9040495" cy="417195"/>
          </a:xfrm>
          <a:prstGeom prst="rect">
            <a:avLst/>
          </a:prstGeom>
          <a:noFill/>
        </p:spPr>
        <p:txBody>
          <a:bodyPr wrap="square" lIns="0" tIns="0" rIns="0" bIns="0" rtlCol="0" anchor="ctr"/>
          <a:p>
            <a:pPr>
              <a:lnSpc>
                <a:spcPct val="140000"/>
              </a:lnSpc>
            </a:pPr>
            <a:r>
              <a:rPr lang="en-US" sz="1400" dirty="0">
                <a:solidFill>
                  <a:schemeClr val="tx1"/>
                </a:solidFill>
                <a:latin typeface="Arial" panose="020B0704020202090204" pitchFamily="34" charset="0"/>
                <a:ea typeface="Liter" panose="02000503030000020004" pitchFamily="34" charset="-122"/>
                <a:cs typeface="Arial" panose="020B0704020202090204" pitchFamily="34" charset="0"/>
              </a:rPr>
              <a:t>Provide actionable recommendations for restaurant managers and industry stakeholders.</a:t>
            </a:r>
            <a:endParaRPr lang="en-US" sz="1200" dirty="0">
              <a:solidFill>
                <a:schemeClr val="tx1"/>
              </a:solidFill>
              <a:latin typeface="Arial" panose="020B0704020202090204" pitchFamily="34" charset="0"/>
              <a:ea typeface="Liter" panose="02000503030000020004" pitchFamily="34" charset="-122"/>
              <a:cs typeface="Arial" panose="020B070402020209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2" name=""/>
        <p:cNvGrpSpPr/>
        <p:nvPr/>
      </p:nvGrpSpPr>
      <p:grpSpPr/>
      <p:sp>
        <p:nvSpPr>
          <p:cNvPr id="1048630" name="Text 1"/>
          <p:cNvSpPr/>
          <p:nvPr/>
        </p:nvSpPr>
        <p:spPr>
          <a:xfrm>
            <a:off x="533330" y="381000"/>
            <a:ext cx="2190750" cy="381000"/>
          </a:xfrm>
          <a:prstGeom prst="rect">
            <a:avLst/>
          </a:prstGeom>
          <a:noFill/>
        </p:spPr>
        <p:txBody>
          <a:bodyPr wrap="square" lIns="0" tIns="0" rIns="0" bIns="0" rtlCol="0" anchor="ctr"/>
          <a:p>
            <a:pPr>
              <a:lnSpc>
                <a:spcPct val="90000"/>
              </a:lnSpc>
            </a:pPr>
            <a:r>
              <a:rPr lang="en-US" sz="2700" b="1" dirty="0">
                <a:solidFill>
                  <a:srgbClr val="B03E68"/>
                </a:solidFill>
                <a:latin typeface="Arial" panose="020B0704020202090204" pitchFamily="34" charset="0"/>
                <a:ea typeface="Liter" panose="02000503030000020004" pitchFamily="34" charset="-122"/>
                <a:cs typeface="Arial" panose="020B0704020202090204" pitchFamily="34" charset="0"/>
              </a:rPr>
              <a:t>Data Sources</a:t>
            </a:r>
            <a:endParaRPr lang="en-US" sz="2700"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31" name="Shape 4"/>
          <p:cNvSpPr/>
          <p:nvPr/>
        </p:nvSpPr>
        <p:spPr>
          <a:xfrm>
            <a:off x="384735" y="949965"/>
            <a:ext cx="6151096" cy="1779121"/>
          </a:xfrm>
          <a:custGeom>
            <a:avLst/>
            <a:gdLst/>
            <a:ahLst/>
            <a:cxnLst/>
            <a:rect l="l" t="t" r="r" b="b"/>
            <a:pathLst>
              <a:path w="6151096" h="1779121">
                <a:moveTo>
                  <a:pt x="0" y="0"/>
                </a:moveTo>
                <a:lnTo>
                  <a:pt x="6151096" y="0"/>
                </a:lnTo>
                <a:lnTo>
                  <a:pt x="6151096" y="1779121"/>
                </a:lnTo>
                <a:lnTo>
                  <a:pt x="0" y="1779121"/>
                </a:lnTo>
                <a:lnTo>
                  <a:pt x="0" y="0"/>
                </a:lnTo>
                <a:close/>
              </a:path>
            </a:pathLst>
          </a:custGeom>
          <a:ln>
            <a:solidFill>
              <a:srgbClr val="DE673C"/>
            </a:solidFill>
          </a:ln>
        </p:spPr>
        <p:style>
          <a:lnRef idx="2">
            <a:schemeClr val="accent1"/>
          </a:lnRef>
          <a:fillRef idx="0">
            <a:srgbClr val="FFFFFF"/>
          </a:fillRef>
          <a:effectRef idx="0">
            <a:srgbClr val="FFFFFF"/>
          </a:effectRef>
          <a:fontRef idx="minor">
            <a:schemeClr val="tx1"/>
          </a:fontRef>
        </p:style>
      </p:sp>
      <p:sp>
        <p:nvSpPr>
          <p:cNvPr id="1048632" name="Shape 5"/>
          <p:cNvSpPr/>
          <p:nvPr/>
        </p:nvSpPr>
        <p:spPr>
          <a:xfrm>
            <a:off x="578971" y="1144199"/>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DF6E3F"/>
          </a:solidFill>
        </p:spPr>
      </p:sp>
      <p:sp>
        <p:nvSpPr>
          <p:cNvPr id="1048633" name="Shape 6"/>
          <p:cNvSpPr/>
          <p:nvPr/>
        </p:nvSpPr>
        <p:spPr>
          <a:xfrm>
            <a:off x="731277" y="1296530"/>
            <a:ext cx="228600" cy="228600"/>
          </a:xfrm>
          <a:custGeom>
            <a:avLst/>
            <a:gdLst/>
            <a:ahLst/>
            <a:cxnLst/>
            <a:rect l="l" t="t" r="r" b="b"/>
            <a:pathLst>
              <a:path w="228600" h="228600">
                <a:moveTo>
                  <a:pt x="157118" y="125016"/>
                </a:moveTo>
                <a:lnTo>
                  <a:pt x="71884" y="125016"/>
                </a:lnTo>
                <a:cubicBezTo>
                  <a:pt x="73179" y="153814"/>
                  <a:pt x="79564" y="180335"/>
                  <a:pt x="88627" y="199757"/>
                </a:cubicBezTo>
                <a:cubicBezTo>
                  <a:pt x="93717" y="210696"/>
                  <a:pt x="99209" y="218420"/>
                  <a:pt x="104299" y="223153"/>
                </a:cubicBezTo>
                <a:cubicBezTo>
                  <a:pt x="109299" y="227841"/>
                  <a:pt x="112737" y="228600"/>
                  <a:pt x="114523" y="228600"/>
                </a:cubicBezTo>
                <a:cubicBezTo>
                  <a:pt x="116309" y="228600"/>
                  <a:pt x="119747" y="227841"/>
                  <a:pt x="124748" y="223153"/>
                </a:cubicBezTo>
                <a:cubicBezTo>
                  <a:pt x="129838" y="218420"/>
                  <a:pt x="135329" y="210651"/>
                  <a:pt x="140419" y="199757"/>
                </a:cubicBezTo>
                <a:cubicBezTo>
                  <a:pt x="149483" y="180335"/>
                  <a:pt x="155868" y="153814"/>
                  <a:pt x="157162" y="125016"/>
                </a:cubicBezTo>
                <a:close/>
                <a:moveTo>
                  <a:pt x="71839" y="103584"/>
                </a:moveTo>
                <a:lnTo>
                  <a:pt x="157073" y="103584"/>
                </a:lnTo>
                <a:cubicBezTo>
                  <a:pt x="155823" y="74786"/>
                  <a:pt x="149438" y="48265"/>
                  <a:pt x="140375" y="28843"/>
                </a:cubicBezTo>
                <a:cubicBezTo>
                  <a:pt x="135285" y="17949"/>
                  <a:pt x="129793" y="10180"/>
                  <a:pt x="124703" y="5447"/>
                </a:cubicBezTo>
                <a:cubicBezTo>
                  <a:pt x="119702" y="759"/>
                  <a:pt x="116265" y="0"/>
                  <a:pt x="114479" y="0"/>
                </a:cubicBezTo>
                <a:cubicBezTo>
                  <a:pt x="112693" y="0"/>
                  <a:pt x="109255" y="759"/>
                  <a:pt x="104254" y="5447"/>
                </a:cubicBezTo>
                <a:cubicBezTo>
                  <a:pt x="99164" y="10180"/>
                  <a:pt x="93672" y="17949"/>
                  <a:pt x="88582" y="28843"/>
                </a:cubicBezTo>
                <a:cubicBezTo>
                  <a:pt x="79519" y="48265"/>
                  <a:pt x="73134" y="74786"/>
                  <a:pt x="71839" y="103584"/>
                </a:cubicBezTo>
                <a:close/>
                <a:moveTo>
                  <a:pt x="50408" y="103584"/>
                </a:moveTo>
                <a:cubicBezTo>
                  <a:pt x="51971" y="65365"/>
                  <a:pt x="61838" y="29870"/>
                  <a:pt x="76260" y="6563"/>
                </a:cubicBezTo>
                <a:cubicBezTo>
                  <a:pt x="35138" y="21119"/>
                  <a:pt x="4867" y="58579"/>
                  <a:pt x="670" y="103584"/>
                </a:cubicBezTo>
                <a:lnTo>
                  <a:pt x="50408" y="103584"/>
                </a:lnTo>
                <a:close/>
                <a:moveTo>
                  <a:pt x="670" y="125016"/>
                </a:moveTo>
                <a:cubicBezTo>
                  <a:pt x="4867" y="170021"/>
                  <a:pt x="35138" y="207481"/>
                  <a:pt x="76260" y="222037"/>
                </a:cubicBezTo>
                <a:cubicBezTo>
                  <a:pt x="61838" y="198730"/>
                  <a:pt x="51971" y="163235"/>
                  <a:pt x="50408" y="125016"/>
                </a:cubicBezTo>
                <a:lnTo>
                  <a:pt x="670" y="125016"/>
                </a:lnTo>
                <a:close/>
                <a:moveTo>
                  <a:pt x="178549" y="125016"/>
                </a:moveTo>
                <a:cubicBezTo>
                  <a:pt x="176986" y="163235"/>
                  <a:pt x="167119" y="198730"/>
                  <a:pt x="152698" y="222037"/>
                </a:cubicBezTo>
                <a:cubicBezTo>
                  <a:pt x="193819" y="207437"/>
                  <a:pt x="224091" y="170021"/>
                  <a:pt x="228287" y="125016"/>
                </a:cubicBezTo>
                <a:lnTo>
                  <a:pt x="178549" y="125016"/>
                </a:lnTo>
                <a:close/>
                <a:moveTo>
                  <a:pt x="228287" y="103584"/>
                </a:moveTo>
                <a:cubicBezTo>
                  <a:pt x="224091" y="58579"/>
                  <a:pt x="193819" y="21119"/>
                  <a:pt x="152698" y="6563"/>
                </a:cubicBezTo>
                <a:cubicBezTo>
                  <a:pt x="167119" y="29870"/>
                  <a:pt x="176986" y="65365"/>
                  <a:pt x="178549" y="103584"/>
                </a:cubicBezTo>
                <a:lnTo>
                  <a:pt x="228287" y="103584"/>
                </a:lnTo>
                <a:close/>
              </a:path>
            </a:pathLst>
          </a:custGeom>
          <a:solidFill>
            <a:srgbClr val="FAF8F3"/>
          </a:solidFill>
        </p:spPr>
      </p:sp>
      <p:sp>
        <p:nvSpPr>
          <p:cNvPr id="1048634" name="Text 7"/>
          <p:cNvSpPr/>
          <p:nvPr/>
        </p:nvSpPr>
        <p:spPr>
          <a:xfrm>
            <a:off x="1264920" y="1163320"/>
            <a:ext cx="2698750" cy="266700"/>
          </a:xfrm>
          <a:prstGeom prst="rect">
            <a:avLst/>
          </a:prstGeom>
          <a:noFill/>
        </p:spPr>
        <p:txBody>
          <a:bodyPr wrap="square" lIns="0" tIns="0" rIns="0" bIns="0" rtlCol="0" anchor="ctr"/>
          <a:p>
            <a:pPr>
              <a:lnSpc>
                <a:spcPct val="120000"/>
              </a:lnSpc>
            </a:pPr>
            <a:r>
              <a:rPr lang="en-US" sz="1500" b="1" dirty="0">
                <a:solidFill>
                  <a:srgbClr val="B03E68"/>
                </a:solidFill>
                <a:latin typeface="Arial" panose="020B0704020202090204" pitchFamily="34" charset="0"/>
                <a:ea typeface="Liter" panose="02000503030000020004" pitchFamily="34" charset="-122"/>
                <a:cs typeface="Arial" panose="020B0704020202090204" pitchFamily="34" charset="0"/>
              </a:rPr>
              <a:t>Source Platform</a:t>
            </a:r>
            <a:endParaRPr lang="en-US" sz="1500" b="1" dirty="0">
              <a:solidFill>
                <a:srgbClr val="B03E68"/>
              </a:solidFill>
              <a:latin typeface="Arial" panose="020B0704020202090204" pitchFamily="34" charset="0"/>
              <a:ea typeface="Liter" panose="02000503030000020004" pitchFamily="34" charset="-122"/>
              <a:cs typeface="Arial" panose="020B0704020202090204" pitchFamily="34" charset="0"/>
            </a:endParaRPr>
          </a:p>
          <a:p>
            <a:pPr>
              <a:lnSpc>
                <a:spcPct val="120000"/>
              </a:lnSpc>
            </a:pPr>
            <a:r>
              <a:rPr lang="en-US" sz="1500" dirty="0">
                <a:solidFill>
                  <a:schemeClr val="tx1"/>
                </a:solidFill>
                <a:latin typeface="Arial" panose="020B0704020202090204" pitchFamily="34" charset="0"/>
                <a:ea typeface="Liter" panose="02000503030000020004" pitchFamily="34" charset="-122"/>
                <a:cs typeface="Arial" panose="020B0704020202090204" pitchFamily="34" charset="0"/>
                <a:sym typeface="+mn-ea"/>
              </a:rPr>
              <a:t>TripAdvisor</a:t>
            </a:r>
            <a:endParaRPr lang="en-US" sz="1500" b="1" dirty="0">
              <a:solidFill>
                <a:schemeClr val="tx1"/>
              </a:solidFill>
              <a:latin typeface="Arial" panose="020B0704020202090204" pitchFamily="34" charset="0"/>
              <a:ea typeface="Liter" panose="02000503030000020004" pitchFamily="34" charset="-122"/>
              <a:cs typeface="Arial" panose="020B0704020202090204" pitchFamily="34" charset="0"/>
              <a:sym typeface="+mn-ea"/>
            </a:endParaRPr>
          </a:p>
        </p:txBody>
      </p:sp>
      <p:sp>
        <p:nvSpPr>
          <p:cNvPr id="1048635" name="Text 9"/>
          <p:cNvSpPr/>
          <p:nvPr/>
        </p:nvSpPr>
        <p:spPr>
          <a:xfrm>
            <a:off x="578971" y="1791806"/>
            <a:ext cx="5838825" cy="742950"/>
          </a:xfrm>
          <a:prstGeom prst="rect">
            <a:avLst/>
          </a:prstGeom>
          <a:noFill/>
        </p:spPr>
        <p:txBody>
          <a:bodyPr wrap="square" lIns="0" tIns="0" rIns="0" bIns="0" rtlCol="0" anchor="ctr"/>
          <a:p>
            <a:pPr>
              <a:lnSpc>
                <a:spcPct val="140000"/>
              </a:lnSpc>
            </a:pPr>
            <a:r>
              <a:rPr lang="en-US" sz="1400" dirty="0">
                <a:solidFill>
                  <a:srgbClr val="B03E68"/>
                </a:solidFill>
                <a:latin typeface="Arial" panose="020B0704020202090204" pitchFamily="34" charset="0"/>
                <a:ea typeface="Liter" panose="02000503030000020004" pitchFamily="34" charset="-122"/>
                <a:cs typeface="Arial" panose="020B0704020202090204" pitchFamily="34" charset="0"/>
              </a:rPr>
              <a:t>Hong Kong's largest travel platform, providing authentic, user-generated restaurant reviews. The data is c</a:t>
            </a:r>
            <a:r>
              <a:rPr lang="en-US" sz="1400" dirty="0">
                <a:solidFill>
                  <a:srgbClr val="B03E68"/>
                </a:solidFill>
                <a:latin typeface="Arial" panose="020B0704020202090204" pitchFamily="34" charset="0"/>
                <a:ea typeface="Liter" panose="02000503030000020004" pitchFamily="34" charset="-122"/>
                <a:cs typeface="Arial" panose="020B0704020202090204" pitchFamily="34" charset="0"/>
              </a:rPr>
              <a:t>rawled by Python script.</a:t>
            </a:r>
            <a:endParaRPr lang="en-US" sz="1400"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36" name="Shape 10"/>
          <p:cNvSpPr/>
          <p:nvPr/>
        </p:nvSpPr>
        <p:spPr>
          <a:xfrm>
            <a:off x="384735" y="2888933"/>
            <a:ext cx="6151096" cy="1779121"/>
          </a:xfrm>
          <a:custGeom>
            <a:avLst/>
            <a:gdLst/>
            <a:ahLst/>
            <a:cxnLst/>
            <a:rect l="l" t="t" r="r" b="b"/>
            <a:pathLst>
              <a:path w="6151096" h="1779121">
                <a:moveTo>
                  <a:pt x="0" y="0"/>
                </a:moveTo>
                <a:lnTo>
                  <a:pt x="6151096" y="0"/>
                </a:lnTo>
                <a:lnTo>
                  <a:pt x="6151096" y="1779121"/>
                </a:lnTo>
                <a:lnTo>
                  <a:pt x="0" y="1779121"/>
                </a:lnTo>
                <a:lnTo>
                  <a:pt x="0" y="0"/>
                </a:lnTo>
                <a:close/>
              </a:path>
            </a:pathLst>
          </a:custGeom>
          <a:ln>
            <a:solidFill>
              <a:srgbClr val="D64A3F"/>
            </a:solidFill>
          </a:ln>
        </p:spPr>
        <p:style>
          <a:lnRef idx="2">
            <a:schemeClr val="accent1"/>
          </a:lnRef>
          <a:fillRef idx="0">
            <a:srgbClr val="FFFFFF"/>
          </a:fillRef>
          <a:effectRef idx="0">
            <a:srgbClr val="FFFFFF"/>
          </a:effectRef>
          <a:fontRef idx="minor">
            <a:schemeClr val="tx1"/>
          </a:fontRef>
        </p:style>
      </p:sp>
      <p:sp>
        <p:nvSpPr>
          <p:cNvPr id="1048637" name="Shape 11"/>
          <p:cNvSpPr/>
          <p:nvPr/>
        </p:nvSpPr>
        <p:spPr>
          <a:xfrm>
            <a:off x="578971" y="3083167"/>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DA5A51"/>
          </a:solidFill>
        </p:spPr>
      </p:sp>
      <p:sp>
        <p:nvSpPr>
          <p:cNvPr id="1048638" name="Shape 12"/>
          <p:cNvSpPr/>
          <p:nvPr/>
        </p:nvSpPr>
        <p:spPr>
          <a:xfrm>
            <a:off x="759852" y="3235497"/>
            <a:ext cx="171450" cy="228600"/>
          </a:xfrm>
          <a:custGeom>
            <a:avLst/>
            <a:gdLst/>
            <a:ahLst/>
            <a:cxnLst/>
            <a:rect l="l" t="t" r="r" b="b"/>
            <a:pathLst>
              <a:path w="171450" h="228600">
                <a:moveTo>
                  <a:pt x="0" y="84207"/>
                </a:moveTo>
                <a:cubicBezTo>
                  <a:pt x="0" y="37683"/>
                  <a:pt x="38398" y="0"/>
                  <a:pt x="85725" y="0"/>
                </a:cubicBezTo>
                <a:cubicBezTo>
                  <a:pt x="133052" y="0"/>
                  <a:pt x="171450" y="37683"/>
                  <a:pt x="171450" y="84207"/>
                </a:cubicBezTo>
                <a:cubicBezTo>
                  <a:pt x="171450" y="137473"/>
                  <a:pt x="117783" y="201320"/>
                  <a:pt x="95369" y="225653"/>
                </a:cubicBezTo>
                <a:cubicBezTo>
                  <a:pt x="90101" y="231368"/>
                  <a:pt x="81305" y="231368"/>
                  <a:pt x="76036" y="225653"/>
                </a:cubicBezTo>
                <a:cubicBezTo>
                  <a:pt x="53623" y="201320"/>
                  <a:pt x="-45" y="137473"/>
                  <a:pt x="-45" y="84207"/>
                </a:cubicBezTo>
                <a:close/>
                <a:moveTo>
                  <a:pt x="85725" y="114300"/>
                </a:moveTo>
                <a:cubicBezTo>
                  <a:pt x="101496" y="114300"/>
                  <a:pt x="114300" y="101496"/>
                  <a:pt x="114300" y="85725"/>
                </a:cubicBezTo>
                <a:cubicBezTo>
                  <a:pt x="114300" y="69954"/>
                  <a:pt x="101496" y="57150"/>
                  <a:pt x="85725" y="57150"/>
                </a:cubicBezTo>
                <a:cubicBezTo>
                  <a:pt x="69954" y="57150"/>
                  <a:pt x="57150" y="69954"/>
                  <a:pt x="57150" y="85725"/>
                </a:cubicBezTo>
                <a:cubicBezTo>
                  <a:pt x="57150" y="101496"/>
                  <a:pt x="69954" y="114300"/>
                  <a:pt x="85725" y="114300"/>
                </a:cubicBezTo>
                <a:close/>
              </a:path>
            </a:pathLst>
          </a:custGeom>
          <a:solidFill>
            <a:srgbClr val="FAF8F3"/>
          </a:solidFill>
        </p:spPr>
      </p:sp>
      <p:sp>
        <p:nvSpPr>
          <p:cNvPr id="1048639" name="Text 13"/>
          <p:cNvSpPr/>
          <p:nvPr/>
        </p:nvSpPr>
        <p:spPr>
          <a:xfrm>
            <a:off x="1264920" y="3101975"/>
            <a:ext cx="2388235" cy="266700"/>
          </a:xfrm>
          <a:prstGeom prst="rect">
            <a:avLst/>
          </a:prstGeom>
          <a:noFill/>
        </p:spPr>
        <p:txBody>
          <a:bodyPr wrap="square" lIns="0" tIns="0" rIns="0" bIns="0" rtlCol="0" anchor="ctr"/>
          <a:p>
            <a:pPr>
              <a:lnSpc>
                <a:spcPct val="120000"/>
              </a:lnSpc>
            </a:pPr>
            <a:r>
              <a:rPr lang="en-US" sz="1500" b="1" dirty="0">
                <a:solidFill>
                  <a:srgbClr val="B03E68"/>
                </a:solidFill>
                <a:latin typeface="Arial" panose="020B0704020202090204" pitchFamily="34" charset="0"/>
                <a:ea typeface="Liter" panose="02000503030000020004" pitchFamily="34" charset="-122"/>
                <a:cs typeface="Arial" panose="020B0704020202090204" pitchFamily="34" charset="0"/>
              </a:rPr>
              <a:t>Geographic Scope</a:t>
            </a:r>
            <a:endParaRPr lang="en-US" sz="1500"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40" name="Text 14"/>
          <p:cNvSpPr/>
          <p:nvPr/>
        </p:nvSpPr>
        <p:spPr>
          <a:xfrm>
            <a:off x="1264920" y="3387725"/>
            <a:ext cx="2509520" cy="228600"/>
          </a:xfrm>
          <a:prstGeom prst="rect">
            <a:avLst/>
          </a:prstGeom>
          <a:noFill/>
        </p:spPr>
        <p:txBody>
          <a:bodyPr wrap="square" lIns="0" tIns="0" rIns="0" bIns="0" rtlCol="0" anchor="ctr"/>
          <a:p>
            <a:pPr>
              <a:lnSpc>
                <a:spcPct val="130000"/>
              </a:lnSpc>
            </a:pPr>
            <a:r>
              <a:rPr lang="en-US" sz="1400" dirty="0">
                <a:solidFill>
                  <a:schemeClr val="tx1"/>
                </a:solidFill>
                <a:latin typeface="Arial" panose="020B0704020202090204" pitchFamily="34" charset="0"/>
                <a:ea typeface="Liter" panose="02000503030000020004" pitchFamily="34" charset="-122"/>
                <a:cs typeface="Arial" panose="020B0704020202090204" pitchFamily="34" charset="0"/>
              </a:rPr>
              <a:t>Hong Kong Restaurants</a:t>
            </a:r>
            <a:endParaRPr lang="en-US" sz="1400" dirty="0">
              <a:solidFill>
                <a:schemeClr val="tx1"/>
              </a:solidFill>
              <a:latin typeface="Arial" panose="020B0704020202090204" pitchFamily="34" charset="0"/>
              <a:ea typeface="Liter" panose="02000503030000020004" pitchFamily="34" charset="-122"/>
              <a:cs typeface="Arial" panose="020B0704020202090204" pitchFamily="34" charset="0"/>
            </a:endParaRPr>
          </a:p>
        </p:txBody>
      </p:sp>
      <p:sp>
        <p:nvSpPr>
          <p:cNvPr id="1048641" name="Text 15"/>
          <p:cNvSpPr/>
          <p:nvPr/>
        </p:nvSpPr>
        <p:spPr>
          <a:xfrm>
            <a:off x="578971" y="3730774"/>
            <a:ext cx="5838825" cy="742950"/>
          </a:xfrm>
          <a:prstGeom prst="rect">
            <a:avLst/>
          </a:prstGeom>
          <a:noFill/>
        </p:spPr>
        <p:txBody>
          <a:bodyPr wrap="square" lIns="0" tIns="0" rIns="0" bIns="0" rtlCol="0" anchor="ctr"/>
          <a:p>
            <a:pPr>
              <a:lnSpc>
                <a:spcPct val="140000"/>
              </a:lnSpc>
            </a:pPr>
            <a:r>
              <a:rPr lang="en-US" sz="1400" dirty="0">
                <a:solidFill>
                  <a:srgbClr val="B03E68"/>
                </a:solidFill>
                <a:latin typeface="Arial" panose="020B0704020202090204" pitchFamily="34" charset="0"/>
                <a:ea typeface="Liter" panose="02000503030000020004" pitchFamily="34" charset="-122"/>
                <a:cs typeface="Arial" panose="020B0704020202090204" pitchFamily="34" charset="0"/>
              </a:rPr>
              <a:t>Focuses on 302 districts, covering diverse cuisines, price ranges, and locations across Hong Kong.</a:t>
            </a:r>
            <a:endParaRPr lang="en-US" sz="1200"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42" name="Shape 16"/>
          <p:cNvSpPr/>
          <p:nvPr/>
        </p:nvSpPr>
        <p:spPr>
          <a:xfrm>
            <a:off x="384735" y="4827901"/>
            <a:ext cx="6151096" cy="1531471"/>
          </a:xfrm>
          <a:custGeom>
            <a:avLst/>
            <a:gdLst/>
            <a:ahLst/>
            <a:cxnLst/>
            <a:rect l="l" t="t" r="r" b="b"/>
            <a:pathLst>
              <a:path w="6151096" h="1531471">
                <a:moveTo>
                  <a:pt x="0" y="0"/>
                </a:moveTo>
                <a:lnTo>
                  <a:pt x="6151096" y="0"/>
                </a:lnTo>
                <a:lnTo>
                  <a:pt x="6151096" y="1531471"/>
                </a:lnTo>
                <a:lnTo>
                  <a:pt x="0" y="1531471"/>
                </a:lnTo>
                <a:lnTo>
                  <a:pt x="0" y="0"/>
                </a:lnTo>
                <a:close/>
              </a:path>
            </a:pathLst>
          </a:custGeom>
          <a:ln>
            <a:solidFill>
              <a:srgbClr val="DA5A51"/>
            </a:solidFill>
          </a:ln>
        </p:spPr>
        <p:style>
          <a:lnRef idx="2">
            <a:schemeClr val="accent1"/>
          </a:lnRef>
          <a:fillRef idx="0">
            <a:srgbClr val="FFFFFF"/>
          </a:fillRef>
          <a:effectRef idx="0">
            <a:srgbClr val="FFFFFF"/>
          </a:effectRef>
          <a:fontRef idx="minor">
            <a:schemeClr val="tx1"/>
          </a:fontRef>
        </p:style>
      </p:sp>
      <p:sp>
        <p:nvSpPr>
          <p:cNvPr id="1048643" name="Shape 17"/>
          <p:cNvSpPr/>
          <p:nvPr/>
        </p:nvSpPr>
        <p:spPr>
          <a:xfrm>
            <a:off x="578971" y="5022135"/>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DA5A51"/>
          </a:solidFill>
        </p:spPr>
      </p:sp>
      <p:sp>
        <p:nvSpPr>
          <p:cNvPr id="1048644" name="Shape 18"/>
          <p:cNvSpPr/>
          <p:nvPr/>
        </p:nvSpPr>
        <p:spPr>
          <a:xfrm>
            <a:off x="745565" y="5174465"/>
            <a:ext cx="200025" cy="228600"/>
          </a:xfrm>
          <a:custGeom>
            <a:avLst/>
            <a:gdLst/>
            <a:ahLst/>
            <a:cxnLst/>
            <a:rect l="l" t="t" r="r" b="b"/>
            <a:pathLst>
              <a:path w="200025" h="228600">
                <a:moveTo>
                  <a:pt x="200025" y="91886"/>
                </a:moveTo>
                <a:cubicBezTo>
                  <a:pt x="193417" y="96262"/>
                  <a:pt x="185827" y="99789"/>
                  <a:pt x="177924" y="102602"/>
                </a:cubicBezTo>
                <a:cubicBezTo>
                  <a:pt x="156939" y="110103"/>
                  <a:pt x="129391" y="114300"/>
                  <a:pt x="100013" y="114300"/>
                </a:cubicBezTo>
                <a:cubicBezTo>
                  <a:pt x="70634" y="114300"/>
                  <a:pt x="43041" y="110058"/>
                  <a:pt x="22101" y="102602"/>
                </a:cubicBezTo>
                <a:cubicBezTo>
                  <a:pt x="14243" y="99789"/>
                  <a:pt x="6608" y="96262"/>
                  <a:pt x="0" y="91886"/>
                </a:cubicBezTo>
                <a:lnTo>
                  <a:pt x="0" y="128588"/>
                </a:lnTo>
                <a:cubicBezTo>
                  <a:pt x="0" y="148322"/>
                  <a:pt x="44782" y="164306"/>
                  <a:pt x="100013" y="164306"/>
                </a:cubicBezTo>
                <a:cubicBezTo>
                  <a:pt x="155243" y="164306"/>
                  <a:pt x="200025" y="148322"/>
                  <a:pt x="200025" y="128588"/>
                </a:cubicBezTo>
                <a:lnTo>
                  <a:pt x="200025" y="91886"/>
                </a:lnTo>
                <a:close/>
                <a:moveTo>
                  <a:pt x="200025" y="57150"/>
                </a:moveTo>
                <a:lnTo>
                  <a:pt x="200025" y="35719"/>
                </a:lnTo>
                <a:cubicBezTo>
                  <a:pt x="200025" y="15984"/>
                  <a:pt x="155243" y="0"/>
                  <a:pt x="100013" y="0"/>
                </a:cubicBezTo>
                <a:cubicBezTo>
                  <a:pt x="44782" y="0"/>
                  <a:pt x="0" y="15984"/>
                  <a:pt x="0" y="35719"/>
                </a:cubicBezTo>
                <a:lnTo>
                  <a:pt x="0" y="57150"/>
                </a:lnTo>
                <a:cubicBezTo>
                  <a:pt x="0" y="76885"/>
                  <a:pt x="44782" y="92869"/>
                  <a:pt x="100013" y="92869"/>
                </a:cubicBezTo>
                <a:cubicBezTo>
                  <a:pt x="155243" y="92869"/>
                  <a:pt x="200025" y="76885"/>
                  <a:pt x="200025" y="57150"/>
                </a:cubicBezTo>
                <a:close/>
                <a:moveTo>
                  <a:pt x="177924" y="174040"/>
                </a:moveTo>
                <a:cubicBezTo>
                  <a:pt x="156984" y="181496"/>
                  <a:pt x="129436" y="185738"/>
                  <a:pt x="100013" y="185738"/>
                </a:cubicBezTo>
                <a:cubicBezTo>
                  <a:pt x="70589" y="185738"/>
                  <a:pt x="43041" y="181496"/>
                  <a:pt x="22101" y="174040"/>
                </a:cubicBezTo>
                <a:cubicBezTo>
                  <a:pt x="14243" y="171227"/>
                  <a:pt x="6608" y="167700"/>
                  <a:pt x="0" y="163324"/>
                </a:cubicBezTo>
                <a:lnTo>
                  <a:pt x="0" y="192881"/>
                </a:lnTo>
                <a:cubicBezTo>
                  <a:pt x="0" y="212616"/>
                  <a:pt x="44782" y="228600"/>
                  <a:pt x="100013" y="228600"/>
                </a:cubicBezTo>
                <a:cubicBezTo>
                  <a:pt x="155243" y="228600"/>
                  <a:pt x="200025" y="212616"/>
                  <a:pt x="200025" y="192881"/>
                </a:cubicBezTo>
                <a:lnTo>
                  <a:pt x="200025" y="163324"/>
                </a:lnTo>
                <a:cubicBezTo>
                  <a:pt x="193417" y="167700"/>
                  <a:pt x="185827" y="171227"/>
                  <a:pt x="177924" y="174040"/>
                </a:cubicBezTo>
                <a:close/>
              </a:path>
            </a:pathLst>
          </a:custGeom>
          <a:solidFill>
            <a:srgbClr val="FAF8F3"/>
          </a:solidFill>
        </p:spPr>
      </p:sp>
      <p:sp>
        <p:nvSpPr>
          <p:cNvPr id="1048645" name="Text 19"/>
          <p:cNvSpPr/>
          <p:nvPr/>
        </p:nvSpPr>
        <p:spPr>
          <a:xfrm>
            <a:off x="1264631" y="5041162"/>
            <a:ext cx="1495425" cy="266700"/>
          </a:xfrm>
          <a:prstGeom prst="rect">
            <a:avLst/>
          </a:prstGeom>
          <a:noFill/>
        </p:spPr>
        <p:txBody>
          <a:bodyPr wrap="square" lIns="0" tIns="0" rIns="0" bIns="0" rtlCol="0" anchor="ctr"/>
          <a:p>
            <a:pPr>
              <a:lnSpc>
                <a:spcPct val="120000"/>
              </a:lnSpc>
            </a:pPr>
            <a:r>
              <a:rPr lang="en-US" sz="1500" b="1" dirty="0">
                <a:solidFill>
                  <a:srgbClr val="B03E68"/>
                </a:solidFill>
                <a:latin typeface="Arial" panose="020B0704020202090204" pitchFamily="34" charset="0"/>
                <a:ea typeface="Liter" panose="02000503030000020004" pitchFamily="34" charset="-122"/>
                <a:cs typeface="Arial" panose="020B0704020202090204" pitchFamily="34" charset="0"/>
              </a:rPr>
              <a:t>Data Structure</a:t>
            </a:r>
            <a:endParaRPr lang="en-US" sz="1500"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46" name="Text 20"/>
          <p:cNvSpPr/>
          <p:nvPr/>
        </p:nvSpPr>
        <p:spPr>
          <a:xfrm>
            <a:off x="1264920" y="5307965"/>
            <a:ext cx="2365375" cy="228600"/>
          </a:xfrm>
          <a:prstGeom prst="rect">
            <a:avLst/>
          </a:prstGeom>
          <a:noFill/>
        </p:spPr>
        <p:txBody>
          <a:bodyPr wrap="square" lIns="0" tIns="0" rIns="0" bIns="0" rtlCol="0" anchor="ctr"/>
          <a:p>
            <a:pPr>
              <a:lnSpc>
                <a:spcPct val="130000"/>
              </a:lnSpc>
            </a:pPr>
            <a:r>
              <a:rPr lang="en-US" sz="1500" dirty="0">
                <a:solidFill>
                  <a:schemeClr val="tx1"/>
                </a:solidFill>
                <a:latin typeface="Arial" panose="020B0704020202090204" pitchFamily="34" charset="0"/>
                <a:ea typeface="Liter" panose="02000503030000020004" pitchFamily="34" charset="-122"/>
                <a:cs typeface="Arial" panose="020B0704020202090204" pitchFamily="34" charset="0"/>
              </a:rPr>
              <a:t>Two-Level Hierarchy</a:t>
            </a:r>
            <a:endParaRPr lang="en-US" sz="1500" dirty="0">
              <a:solidFill>
                <a:schemeClr val="tx1"/>
              </a:solidFill>
              <a:latin typeface="Arial" panose="020B0704020202090204" pitchFamily="34" charset="0"/>
              <a:ea typeface="Liter" panose="02000503030000020004" pitchFamily="34" charset="-122"/>
              <a:cs typeface="Arial" panose="020B0704020202090204" pitchFamily="34" charset="0"/>
            </a:endParaRPr>
          </a:p>
        </p:txBody>
      </p:sp>
      <p:sp>
        <p:nvSpPr>
          <p:cNvPr id="1048647" name="Text 21"/>
          <p:cNvSpPr/>
          <p:nvPr/>
        </p:nvSpPr>
        <p:spPr>
          <a:xfrm>
            <a:off x="578971" y="5669742"/>
            <a:ext cx="5838825" cy="495300"/>
          </a:xfrm>
          <a:prstGeom prst="rect">
            <a:avLst/>
          </a:prstGeom>
          <a:noFill/>
        </p:spPr>
        <p:txBody>
          <a:bodyPr wrap="square" lIns="0" tIns="0" rIns="0" bIns="0" rtlCol="0" anchor="ctr"/>
          <a:p>
            <a:pPr>
              <a:lnSpc>
                <a:spcPct val="140000"/>
              </a:lnSpc>
            </a:pPr>
            <a:r>
              <a:rPr lang="en-US" sz="1400" dirty="0">
                <a:solidFill>
                  <a:srgbClr val="B03E68"/>
                </a:solidFill>
                <a:latin typeface="Arial" panose="020B0704020202090204" pitchFamily="34" charset="0"/>
                <a:ea typeface="Liter" panose="02000503030000020004" pitchFamily="34" charset="-122"/>
                <a:cs typeface="Arial" panose="020B0704020202090204" pitchFamily="34" charset="0"/>
              </a:rPr>
              <a:t>Restaurant-level: attributes (name, price, location, etc.).</a:t>
            </a:r>
            <a:endParaRPr lang="en-US" sz="1600" dirty="0">
              <a:solidFill>
                <a:srgbClr val="B03E68"/>
              </a:solidFill>
              <a:latin typeface="Arial" panose="020B0704020202090204" pitchFamily="34" charset="0"/>
              <a:ea typeface="Liter" panose="02000503030000020004" pitchFamily="34" charset="-122"/>
              <a:cs typeface="Arial" panose="020B0704020202090204" pitchFamily="34" charset="0"/>
            </a:endParaRPr>
          </a:p>
          <a:p>
            <a:pPr>
              <a:lnSpc>
                <a:spcPct val="140000"/>
              </a:lnSpc>
            </a:pPr>
            <a:r>
              <a:rPr lang="en-US" sz="1400" dirty="0">
                <a:solidFill>
                  <a:srgbClr val="B03E68"/>
                </a:solidFill>
                <a:latin typeface="Arial" panose="020B0704020202090204" pitchFamily="34" charset="0"/>
                <a:ea typeface="Liter" panose="02000503030000020004" pitchFamily="34" charset="-122"/>
                <a:cs typeface="Arial" panose="020B0704020202090204" pitchFamily="34" charset="0"/>
              </a:rPr>
              <a:t>Review-level: individual review content (rating, date, text).</a:t>
            </a:r>
            <a:endParaRPr lang="en-US" sz="1200"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48" name="Text 23"/>
          <p:cNvSpPr/>
          <p:nvPr/>
        </p:nvSpPr>
        <p:spPr>
          <a:xfrm>
            <a:off x="6806336" y="1514175"/>
            <a:ext cx="4857750" cy="571500"/>
          </a:xfrm>
          <a:prstGeom prst="rect">
            <a:avLst/>
          </a:prstGeom>
          <a:noFill/>
        </p:spPr>
        <p:txBody>
          <a:bodyPr wrap="square" lIns="0" tIns="0" rIns="0" bIns="0" rtlCol="0" anchor="ctr"/>
          <a:p>
            <a:pPr algn="ctr">
              <a:lnSpc>
                <a:spcPct val="80000"/>
              </a:lnSpc>
            </a:pPr>
            <a:r>
              <a:rPr lang="en-US" sz="4500" b="1" dirty="0">
                <a:solidFill>
                  <a:srgbClr val="DF6E3F"/>
                </a:solidFill>
                <a:latin typeface="Arial" panose="020B0704020202090204" pitchFamily="34" charset="0"/>
                <a:ea typeface="Liter" panose="02000503030000020004" pitchFamily="34" charset="-122"/>
                <a:cs typeface="Arial" panose="020B0704020202090204" pitchFamily="34" charset="0"/>
              </a:rPr>
              <a:t>16,350</a:t>
            </a:r>
            <a:endParaRPr lang="en-US" sz="4500" b="1" dirty="0">
              <a:solidFill>
                <a:srgbClr val="DF6E3F"/>
              </a:solidFill>
              <a:latin typeface="Arial" panose="020B0704020202090204" pitchFamily="34" charset="0"/>
              <a:ea typeface="Liter" panose="02000503030000020004" pitchFamily="34" charset="-122"/>
              <a:cs typeface="Arial" panose="020B0704020202090204" pitchFamily="34" charset="0"/>
            </a:endParaRPr>
          </a:p>
        </p:txBody>
      </p:sp>
      <p:sp>
        <p:nvSpPr>
          <p:cNvPr id="1048649" name="Text 24"/>
          <p:cNvSpPr/>
          <p:nvPr/>
        </p:nvSpPr>
        <p:spPr>
          <a:xfrm>
            <a:off x="7049224" y="2107172"/>
            <a:ext cx="4657725" cy="266700"/>
          </a:xfrm>
          <a:prstGeom prst="rect">
            <a:avLst/>
          </a:prstGeom>
          <a:noFill/>
        </p:spPr>
        <p:txBody>
          <a:bodyPr wrap="square" lIns="0" tIns="0" rIns="0" bIns="0" rtlCol="0" anchor="ctr"/>
          <a:p>
            <a:pPr algn="ctr">
              <a:lnSpc>
                <a:spcPct val="130000"/>
              </a:lnSpc>
            </a:pPr>
            <a:r>
              <a:rPr lang="en-US" sz="1350" dirty="0">
                <a:solidFill>
                  <a:srgbClr val="DF6E3F"/>
                </a:solidFill>
                <a:latin typeface="Arial" panose="020B0704020202090204" pitchFamily="34" charset="0"/>
                <a:ea typeface="Liter" panose="02000503030000020004" pitchFamily="34" charset="-122"/>
                <a:cs typeface="Arial" panose="020B0704020202090204" pitchFamily="34" charset="0"/>
              </a:rPr>
              <a:t>Raw Reviews Collected</a:t>
            </a:r>
            <a:endParaRPr lang="en-US" sz="1350" dirty="0">
              <a:solidFill>
                <a:srgbClr val="DF6E3F"/>
              </a:solidFill>
              <a:latin typeface="Arial" panose="020B0704020202090204" pitchFamily="34" charset="0"/>
              <a:ea typeface="Liter" panose="02000503030000020004" pitchFamily="34" charset="-122"/>
              <a:cs typeface="Arial" panose="020B0704020202090204" pitchFamily="34" charset="0"/>
            </a:endParaRPr>
          </a:p>
        </p:txBody>
      </p:sp>
      <p:sp>
        <p:nvSpPr>
          <p:cNvPr id="1048650" name="Shape 25"/>
          <p:cNvSpPr/>
          <p:nvPr/>
        </p:nvSpPr>
        <p:spPr>
          <a:xfrm>
            <a:off x="7092086" y="2525591"/>
            <a:ext cx="4572000" cy="9525"/>
          </a:xfrm>
          <a:custGeom>
            <a:avLst/>
            <a:gdLst/>
            <a:ahLst/>
            <a:cxnLst/>
            <a:rect l="l" t="t" r="r" b="b"/>
            <a:pathLst>
              <a:path w="4572000" h="9525">
                <a:moveTo>
                  <a:pt x="0" y="0"/>
                </a:moveTo>
                <a:lnTo>
                  <a:pt x="4572000" y="0"/>
                </a:lnTo>
                <a:lnTo>
                  <a:pt x="4572000" y="9525"/>
                </a:lnTo>
                <a:lnTo>
                  <a:pt x="0" y="9525"/>
                </a:lnTo>
                <a:lnTo>
                  <a:pt x="0" y="0"/>
                </a:lnTo>
                <a:close/>
              </a:path>
            </a:pathLst>
          </a:custGeom>
          <a:solidFill>
            <a:srgbClr val="8B7355"/>
          </a:solidFill>
          <a:ln>
            <a:solidFill>
              <a:srgbClr val="DE673C"/>
            </a:solidFill>
          </a:ln>
        </p:spPr>
      </p:sp>
      <p:sp>
        <p:nvSpPr>
          <p:cNvPr id="1048651" name="Text 26"/>
          <p:cNvSpPr/>
          <p:nvPr/>
        </p:nvSpPr>
        <p:spPr>
          <a:xfrm>
            <a:off x="6930161" y="2730556"/>
            <a:ext cx="4800600" cy="457200"/>
          </a:xfrm>
          <a:prstGeom prst="rect">
            <a:avLst/>
          </a:prstGeom>
          <a:noFill/>
        </p:spPr>
        <p:txBody>
          <a:bodyPr wrap="square" lIns="0" tIns="0" rIns="0" bIns="0" rtlCol="0" anchor="ctr"/>
          <a:p>
            <a:pPr algn="ctr">
              <a:lnSpc>
                <a:spcPct val="80000"/>
              </a:lnSpc>
            </a:pPr>
            <a:r>
              <a:rPr lang="en-US" sz="4200" b="1" dirty="0">
                <a:solidFill>
                  <a:srgbClr val="D64A3F"/>
                </a:solidFill>
                <a:latin typeface="Arial" panose="020B0704020202090204" pitchFamily="34" charset="0"/>
                <a:ea typeface="Liter" panose="02000503030000020004" pitchFamily="34" charset="-122"/>
                <a:cs typeface="Arial" panose="020B0704020202090204" pitchFamily="34" charset="0"/>
              </a:rPr>
              <a:t>13,041</a:t>
            </a:r>
            <a:endParaRPr lang="en-US" sz="4200" b="1" dirty="0">
              <a:solidFill>
                <a:srgbClr val="D64A3F"/>
              </a:solidFill>
              <a:latin typeface="Arial" panose="020B0704020202090204" pitchFamily="34" charset="0"/>
              <a:ea typeface="Liter" panose="02000503030000020004" pitchFamily="34" charset="-122"/>
              <a:cs typeface="Arial" panose="020B0704020202090204" pitchFamily="34" charset="0"/>
            </a:endParaRPr>
          </a:p>
        </p:txBody>
      </p:sp>
      <p:sp>
        <p:nvSpPr>
          <p:cNvPr id="1048652" name="Text 27"/>
          <p:cNvSpPr/>
          <p:nvPr/>
        </p:nvSpPr>
        <p:spPr>
          <a:xfrm>
            <a:off x="7049224" y="3188956"/>
            <a:ext cx="4657725" cy="266700"/>
          </a:xfrm>
          <a:prstGeom prst="rect">
            <a:avLst/>
          </a:prstGeom>
          <a:noFill/>
        </p:spPr>
        <p:txBody>
          <a:bodyPr wrap="square" lIns="0" tIns="0" rIns="0" bIns="0" rtlCol="0" anchor="ctr"/>
          <a:p>
            <a:pPr algn="ctr">
              <a:lnSpc>
                <a:spcPct val="130000"/>
              </a:lnSpc>
            </a:pPr>
            <a:r>
              <a:rPr lang="en-US" sz="1350" dirty="0">
                <a:solidFill>
                  <a:srgbClr val="D64A3F"/>
                </a:solidFill>
                <a:latin typeface="Arial" panose="020B0704020202090204" pitchFamily="34" charset="0"/>
                <a:ea typeface="Liter" panose="02000503030000020004" pitchFamily="34" charset="-122"/>
                <a:cs typeface="Arial" panose="020B0704020202090204" pitchFamily="34" charset="0"/>
              </a:rPr>
              <a:t>Cleaned Reviews for Modeling</a:t>
            </a:r>
            <a:endParaRPr lang="en-US" sz="1350" dirty="0">
              <a:solidFill>
                <a:srgbClr val="D64A3F"/>
              </a:solidFill>
              <a:latin typeface="Arial" panose="020B0704020202090204" pitchFamily="34" charset="0"/>
              <a:ea typeface="Liter" panose="02000503030000020004" pitchFamily="34" charset="-122"/>
              <a:cs typeface="Arial" panose="020B0704020202090204" pitchFamily="34" charset="0"/>
            </a:endParaRPr>
          </a:p>
        </p:txBody>
      </p:sp>
      <p:sp>
        <p:nvSpPr>
          <p:cNvPr id="1048653" name="Text 29"/>
          <p:cNvSpPr/>
          <p:nvPr/>
        </p:nvSpPr>
        <p:spPr>
          <a:xfrm>
            <a:off x="7082538" y="3914692"/>
            <a:ext cx="4419600" cy="228600"/>
          </a:xfrm>
          <a:prstGeom prst="rect">
            <a:avLst/>
          </a:prstGeom>
          <a:noFill/>
        </p:spPr>
        <p:txBody>
          <a:bodyPr wrap="square" lIns="0" tIns="0" rIns="0" bIns="0" rtlCol="0" anchor="ctr"/>
          <a:p>
            <a:pPr algn="ctr">
              <a:lnSpc>
                <a:spcPct val="130000"/>
              </a:lnSpc>
            </a:pPr>
            <a:r>
              <a:rPr lang="en-US" sz="1200" dirty="0">
                <a:solidFill>
                  <a:srgbClr val="B03E68"/>
                </a:solidFill>
                <a:latin typeface="Arial" panose="020B0704020202090204" pitchFamily="34" charset="0"/>
                <a:ea typeface="Liter" panose="02000503030000020004" pitchFamily="34" charset="-122"/>
                <a:cs typeface="Arial" panose="020B0704020202090204" pitchFamily="34" charset="0"/>
              </a:rPr>
              <a:t>Data Retention Rate</a:t>
            </a:r>
            <a:endParaRPr lang="en-US" sz="1200"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54" name="Text 30"/>
          <p:cNvSpPr/>
          <p:nvPr/>
        </p:nvSpPr>
        <p:spPr>
          <a:xfrm>
            <a:off x="7049201" y="4143361"/>
            <a:ext cx="4486275" cy="342900"/>
          </a:xfrm>
          <a:prstGeom prst="rect">
            <a:avLst/>
          </a:prstGeom>
          <a:noFill/>
        </p:spPr>
        <p:txBody>
          <a:bodyPr wrap="square" lIns="0" tIns="0" rIns="0" bIns="0" rtlCol="0" anchor="ctr"/>
          <a:p>
            <a:pPr algn="ctr">
              <a:lnSpc>
                <a:spcPct val="100000"/>
              </a:lnSpc>
            </a:pPr>
            <a:r>
              <a:rPr lang="en-US" sz="2250" b="1" dirty="0">
                <a:solidFill>
                  <a:srgbClr val="B03E68"/>
                </a:solidFill>
                <a:latin typeface="Arial" panose="020B0704020202090204" pitchFamily="34" charset="0"/>
                <a:ea typeface="Liter" panose="02000503030000020004" pitchFamily="34" charset="-122"/>
                <a:cs typeface="Arial" panose="020B0704020202090204" pitchFamily="34" charset="0"/>
              </a:rPr>
              <a:t>79.8%</a:t>
            </a:r>
            <a:endParaRPr lang="en-US" sz="2250"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55" name="Shape 31"/>
          <p:cNvSpPr/>
          <p:nvPr/>
        </p:nvSpPr>
        <p:spPr>
          <a:xfrm>
            <a:off x="6848368" y="4909942"/>
            <a:ext cx="5036671" cy="1007596"/>
          </a:xfrm>
          <a:custGeom>
            <a:avLst/>
            <a:gdLst/>
            <a:ahLst/>
            <a:cxnLst/>
            <a:rect l="l" t="t" r="r" b="b"/>
            <a:pathLst>
              <a:path w="5036671" h="1007596">
                <a:moveTo>
                  <a:pt x="0" y="0"/>
                </a:moveTo>
                <a:lnTo>
                  <a:pt x="5036671" y="0"/>
                </a:lnTo>
                <a:lnTo>
                  <a:pt x="5036671" y="1007596"/>
                </a:lnTo>
                <a:lnTo>
                  <a:pt x="0" y="1007596"/>
                </a:lnTo>
                <a:lnTo>
                  <a:pt x="0" y="0"/>
                </a:lnTo>
                <a:close/>
              </a:path>
            </a:pathLst>
          </a:custGeom>
          <a:ln>
            <a:solidFill>
              <a:srgbClr val="B03E68"/>
            </a:solidFill>
          </a:ln>
        </p:spPr>
        <p:style>
          <a:lnRef idx="2">
            <a:schemeClr val="accent1"/>
          </a:lnRef>
          <a:fillRef idx="0">
            <a:srgbClr val="FFFFFF"/>
          </a:fillRef>
          <a:effectRef idx="0">
            <a:srgbClr val="FFFFFF"/>
          </a:effectRef>
          <a:fontRef idx="minor">
            <a:schemeClr val="tx1"/>
          </a:fontRef>
        </p:style>
      </p:sp>
      <p:sp>
        <p:nvSpPr>
          <p:cNvPr id="1048656" name="Shape 32"/>
          <p:cNvSpPr/>
          <p:nvPr/>
        </p:nvSpPr>
        <p:spPr>
          <a:xfrm>
            <a:off x="7004433" y="510406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B03E68"/>
          </a:solidFill>
        </p:spPr>
      </p:sp>
      <p:sp>
        <p:nvSpPr>
          <p:cNvPr id="1048657" name="Text 33"/>
          <p:cNvSpPr/>
          <p:nvPr/>
        </p:nvSpPr>
        <p:spPr>
          <a:xfrm>
            <a:off x="7309210" y="5066007"/>
            <a:ext cx="4495800" cy="228600"/>
          </a:xfrm>
          <a:prstGeom prst="rect">
            <a:avLst/>
          </a:prstGeom>
          <a:noFill/>
        </p:spPr>
        <p:txBody>
          <a:bodyPr wrap="square" lIns="0" tIns="0" rIns="0" bIns="0" rtlCol="0" anchor="ctr"/>
          <a:p>
            <a:pPr>
              <a:lnSpc>
                <a:spcPct val="130000"/>
              </a:lnSpc>
            </a:pPr>
            <a:r>
              <a:rPr lang="en-US" sz="1200" b="1" dirty="0">
                <a:solidFill>
                  <a:srgbClr val="B03E68"/>
                </a:solidFill>
                <a:latin typeface="Arial" panose="020B0704020202090204" pitchFamily="34" charset="0"/>
                <a:ea typeface="Liter" panose="02000503030000020004" pitchFamily="34" charset="-122"/>
                <a:cs typeface="Arial" panose="020B0704020202090204" pitchFamily="34" charset="0"/>
              </a:rPr>
              <a:t>Quality Assurance</a:t>
            </a:r>
            <a:endParaRPr lang="en-US" sz="1200"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58" name="Text 34"/>
          <p:cNvSpPr/>
          <p:nvPr/>
        </p:nvSpPr>
        <p:spPr>
          <a:xfrm>
            <a:off x="7309210" y="5332730"/>
            <a:ext cx="4486275" cy="428625"/>
          </a:xfrm>
          <a:prstGeom prst="rect">
            <a:avLst/>
          </a:prstGeom>
          <a:noFill/>
        </p:spPr>
        <p:txBody>
          <a:bodyPr wrap="square" lIns="0" tIns="0" rIns="0" bIns="0" rtlCol="0" anchor="ctr"/>
          <a:p>
            <a:pPr>
              <a:lnSpc>
                <a:spcPct val="140000"/>
              </a:lnSpc>
            </a:pPr>
            <a:r>
              <a:rPr lang="en-US" sz="1100" dirty="0">
                <a:solidFill>
                  <a:srgbClr val="B03E68"/>
                </a:solidFill>
                <a:latin typeface="Arial" panose="020B0704020202090204" pitchFamily="34" charset="0"/>
                <a:ea typeface="Liter" panose="02000503030000020004" pitchFamily="34" charset="-122"/>
                <a:cs typeface="Arial" panose="020B0704020202090204" pitchFamily="34" charset="0"/>
              </a:rPr>
              <a:t>Ensures accurate, non-duplicate data with reliable review text.</a:t>
            </a:r>
            <a:endParaRPr lang="en-US" sz="1050"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2" name="Shape 0"/>
          <p:cNvSpPr/>
          <p:nvPr/>
        </p:nvSpPr>
        <p:spPr>
          <a:xfrm>
            <a:off x="373129" y="373129"/>
            <a:ext cx="37313" cy="373129"/>
          </a:xfrm>
          <a:custGeom>
            <a:avLst/>
            <a:gdLst/>
            <a:ahLst/>
            <a:cxnLst/>
            <a:rect l="l" t="t" r="r" b="b"/>
            <a:pathLst>
              <a:path w="37313" h="373129">
                <a:moveTo>
                  <a:pt x="0" y="0"/>
                </a:moveTo>
                <a:lnTo>
                  <a:pt x="37313" y="0"/>
                </a:lnTo>
                <a:lnTo>
                  <a:pt x="37313" y="373129"/>
                </a:lnTo>
                <a:lnTo>
                  <a:pt x="0" y="373129"/>
                </a:lnTo>
                <a:lnTo>
                  <a:pt x="0" y="0"/>
                </a:lnTo>
                <a:close/>
              </a:path>
            </a:pathLst>
          </a:custGeom>
          <a:solidFill>
            <a:srgbClr val="B03E68"/>
          </a:solid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3" name=""/>
        <p:cNvGrpSpPr/>
        <p:nvPr/>
      </p:nvGrpSpPr>
      <p:grpSpPr/>
      <p:pic>
        <p:nvPicPr>
          <p:cNvPr id="2097152" name="图片 3" descr="review_count_per_restaurant"/>
          <p:cNvPicPr>
            <a:picLocks noChangeAspect="1"/>
          </p:cNvPicPr>
          <p:nvPr/>
        </p:nvPicPr>
        <p:blipFill>
          <a:blip r:embed="rId1"/>
          <a:stretch>
            <a:fillRect/>
          </a:stretch>
        </p:blipFill>
        <p:spPr>
          <a:xfrm>
            <a:off x="6534150" y="3526790"/>
            <a:ext cx="5086350" cy="2820670"/>
          </a:xfrm>
          <a:prstGeom prst="rect">
            <a:avLst/>
          </a:prstGeom>
        </p:spPr>
      </p:pic>
      <p:sp>
        <p:nvSpPr>
          <p:cNvPr id="1048659" name="Shape 0"/>
          <p:cNvSpPr/>
          <p:nvPr/>
        </p:nvSpPr>
        <p:spPr>
          <a:xfrm>
            <a:off x="373129" y="373129"/>
            <a:ext cx="37313" cy="373129"/>
          </a:xfrm>
          <a:custGeom>
            <a:avLst/>
            <a:gdLst/>
            <a:ahLst/>
            <a:cxnLst/>
            <a:rect l="l" t="t" r="r" b="b"/>
            <a:pathLst>
              <a:path w="37313" h="373129">
                <a:moveTo>
                  <a:pt x="0" y="0"/>
                </a:moveTo>
                <a:lnTo>
                  <a:pt x="37313" y="0"/>
                </a:lnTo>
                <a:lnTo>
                  <a:pt x="37313" y="373129"/>
                </a:lnTo>
                <a:lnTo>
                  <a:pt x="0" y="373129"/>
                </a:lnTo>
                <a:lnTo>
                  <a:pt x="0" y="0"/>
                </a:lnTo>
                <a:close/>
              </a:path>
            </a:pathLst>
          </a:custGeom>
          <a:solidFill>
            <a:srgbClr val="B03E68"/>
          </a:solidFill>
        </p:spPr>
      </p:sp>
      <p:sp>
        <p:nvSpPr>
          <p:cNvPr id="1048660" name="Text 1"/>
          <p:cNvSpPr/>
          <p:nvPr/>
        </p:nvSpPr>
        <p:spPr>
          <a:xfrm>
            <a:off x="522605" y="366395"/>
            <a:ext cx="5323840" cy="373380"/>
          </a:xfrm>
          <a:prstGeom prst="rect">
            <a:avLst/>
          </a:prstGeom>
          <a:noFill/>
        </p:spPr>
        <p:txBody>
          <a:bodyPr wrap="square" lIns="0" tIns="0" rIns="0" bIns="0" rtlCol="0" anchor="ctr"/>
          <a:p>
            <a:pPr>
              <a:lnSpc>
                <a:spcPct val="90000"/>
              </a:lnSpc>
            </a:pPr>
            <a:r>
              <a:rPr lang="en-US" sz="2645" b="1" dirty="0">
                <a:solidFill>
                  <a:srgbClr val="B03E68"/>
                </a:solidFill>
                <a:latin typeface="Arial" panose="020B0704020202090204" pitchFamily="34" charset="0"/>
                <a:ea typeface="Liter" panose="02000503030000020004" pitchFamily="34" charset="-122"/>
                <a:cs typeface="Arial" panose="020B0704020202090204" pitchFamily="34" charset="0"/>
              </a:rPr>
              <a:t>Data Quality and Challenges</a:t>
            </a:r>
            <a:endParaRPr lang="en-US" sz="2645"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61" name="Shape 4"/>
          <p:cNvSpPr/>
          <p:nvPr>
            <p:custDataLst>
              <p:tags r:id="rId2"/>
            </p:custDataLst>
          </p:nvPr>
        </p:nvSpPr>
        <p:spPr>
          <a:xfrm>
            <a:off x="376555" y="1181735"/>
            <a:ext cx="5622925" cy="1499235"/>
          </a:xfrm>
          <a:custGeom>
            <a:avLst/>
            <a:gdLst/>
            <a:ahLst/>
            <a:cxnLst/>
            <a:rect l="l" t="t" r="r" b="b"/>
            <a:pathLst>
              <a:path w="5622912" h="2190123">
                <a:moveTo>
                  <a:pt x="0" y="0"/>
                </a:moveTo>
                <a:lnTo>
                  <a:pt x="5622912" y="0"/>
                </a:lnTo>
                <a:lnTo>
                  <a:pt x="5622912" y="2190123"/>
                </a:lnTo>
                <a:lnTo>
                  <a:pt x="0" y="2190123"/>
                </a:lnTo>
                <a:lnTo>
                  <a:pt x="0" y="0"/>
                </a:lnTo>
                <a:close/>
              </a:path>
            </a:pathLst>
          </a:custGeom>
          <a:ln>
            <a:solidFill>
              <a:srgbClr val="DF6E3F"/>
            </a:solidFill>
          </a:ln>
        </p:spPr>
        <p:style>
          <a:lnRef idx="2">
            <a:schemeClr val="accent1"/>
          </a:lnRef>
          <a:fillRef idx="0">
            <a:srgbClr val="FFFFFF"/>
          </a:fillRef>
          <a:effectRef idx="0">
            <a:srgbClr val="FFFFFF"/>
          </a:effectRef>
          <a:fontRef idx="minor">
            <a:schemeClr val="tx1"/>
          </a:fontRef>
        </p:style>
      </p:sp>
      <p:sp>
        <p:nvSpPr>
          <p:cNvPr id="1048662" name="Shape 5"/>
          <p:cNvSpPr/>
          <p:nvPr>
            <p:custDataLst>
              <p:tags r:id="rId3"/>
            </p:custDataLst>
          </p:nvPr>
        </p:nvSpPr>
        <p:spPr>
          <a:xfrm>
            <a:off x="604277" y="1190408"/>
            <a:ext cx="447755" cy="447755"/>
          </a:xfrm>
          <a:custGeom>
            <a:avLst/>
            <a:gdLst/>
            <a:ahLst/>
            <a:cxnLst/>
            <a:rect l="l" t="t" r="r" b="b"/>
            <a:pathLst>
              <a:path w="447755" h="447755">
                <a:moveTo>
                  <a:pt x="0" y="0"/>
                </a:moveTo>
                <a:lnTo>
                  <a:pt x="447755" y="0"/>
                </a:lnTo>
                <a:lnTo>
                  <a:pt x="447755" y="447755"/>
                </a:lnTo>
                <a:lnTo>
                  <a:pt x="0" y="447755"/>
                </a:lnTo>
                <a:lnTo>
                  <a:pt x="0" y="0"/>
                </a:lnTo>
                <a:close/>
              </a:path>
            </a:pathLst>
          </a:custGeom>
          <a:solidFill>
            <a:srgbClr val="DF6E3F"/>
          </a:solidFill>
        </p:spPr>
      </p:sp>
      <p:sp>
        <p:nvSpPr>
          <p:cNvPr id="1048663" name="Shape 6"/>
          <p:cNvSpPr/>
          <p:nvPr>
            <p:custDataLst>
              <p:tags r:id="rId4"/>
            </p:custDataLst>
          </p:nvPr>
        </p:nvSpPr>
        <p:spPr>
          <a:xfrm>
            <a:off x="723167" y="1320958"/>
            <a:ext cx="209885" cy="186565"/>
          </a:xfrm>
          <a:custGeom>
            <a:avLst/>
            <a:gdLst/>
            <a:ahLst/>
            <a:cxnLst/>
            <a:rect l="l" t="t" r="r" b="b"/>
            <a:pathLst>
              <a:path w="209885" h="186565">
                <a:moveTo>
                  <a:pt x="58301" y="0"/>
                </a:moveTo>
                <a:cubicBezTo>
                  <a:pt x="64751" y="0"/>
                  <a:pt x="69962" y="5211"/>
                  <a:pt x="69962" y="11660"/>
                </a:cubicBezTo>
                <a:lnTo>
                  <a:pt x="69962" y="23321"/>
                </a:lnTo>
                <a:lnTo>
                  <a:pt x="116603" y="23321"/>
                </a:lnTo>
                <a:cubicBezTo>
                  <a:pt x="123053" y="23321"/>
                  <a:pt x="128263" y="28531"/>
                  <a:pt x="128263" y="34981"/>
                </a:cubicBezTo>
                <a:cubicBezTo>
                  <a:pt x="128263" y="41430"/>
                  <a:pt x="123053" y="46641"/>
                  <a:pt x="116603" y="46641"/>
                </a:cubicBezTo>
                <a:lnTo>
                  <a:pt x="113105" y="46641"/>
                </a:lnTo>
                <a:lnTo>
                  <a:pt x="110044" y="55058"/>
                </a:lnTo>
                <a:cubicBezTo>
                  <a:pt x="104068" y="71529"/>
                  <a:pt x="95068" y="86578"/>
                  <a:pt x="83735" y="99513"/>
                </a:cubicBezTo>
                <a:cubicBezTo>
                  <a:pt x="88910" y="102720"/>
                  <a:pt x="94303" y="105562"/>
                  <a:pt x="99914" y="108076"/>
                </a:cubicBezTo>
                <a:lnTo>
                  <a:pt x="118279" y="116239"/>
                </a:lnTo>
                <a:lnTo>
                  <a:pt x="140944" y="65225"/>
                </a:lnTo>
                <a:cubicBezTo>
                  <a:pt x="142802" y="60998"/>
                  <a:pt x="146993" y="58301"/>
                  <a:pt x="151584" y="58301"/>
                </a:cubicBezTo>
                <a:cubicBezTo>
                  <a:pt x="156175" y="58301"/>
                  <a:pt x="160365" y="60998"/>
                  <a:pt x="162224" y="65225"/>
                </a:cubicBezTo>
                <a:lnTo>
                  <a:pt x="208865" y="170167"/>
                </a:lnTo>
                <a:cubicBezTo>
                  <a:pt x="211489" y="176070"/>
                  <a:pt x="208829" y="182957"/>
                  <a:pt x="202962" y="185544"/>
                </a:cubicBezTo>
                <a:cubicBezTo>
                  <a:pt x="197095" y="188132"/>
                  <a:pt x="190172" y="185508"/>
                  <a:pt x="187585" y="179641"/>
                </a:cubicBezTo>
                <a:lnTo>
                  <a:pt x="180297" y="163244"/>
                </a:lnTo>
                <a:lnTo>
                  <a:pt x="122907" y="163244"/>
                </a:lnTo>
                <a:lnTo>
                  <a:pt x="115619" y="179641"/>
                </a:lnTo>
                <a:cubicBezTo>
                  <a:pt x="112996" y="185544"/>
                  <a:pt x="106109" y="188168"/>
                  <a:pt x="100242" y="185544"/>
                </a:cubicBezTo>
                <a:cubicBezTo>
                  <a:pt x="94375" y="182921"/>
                  <a:pt x="91715" y="176034"/>
                  <a:pt x="94339" y="170167"/>
                </a:cubicBezTo>
                <a:lnTo>
                  <a:pt x="108842" y="137555"/>
                </a:lnTo>
                <a:lnTo>
                  <a:pt x="90477" y="129393"/>
                </a:lnTo>
                <a:cubicBezTo>
                  <a:pt x="82096" y="125676"/>
                  <a:pt x="74079" y="121231"/>
                  <a:pt x="66500" y="116129"/>
                </a:cubicBezTo>
                <a:cubicBezTo>
                  <a:pt x="58739" y="122397"/>
                  <a:pt x="50249" y="127862"/>
                  <a:pt x="41175" y="132417"/>
                </a:cubicBezTo>
                <a:lnTo>
                  <a:pt x="28531" y="138685"/>
                </a:lnTo>
                <a:cubicBezTo>
                  <a:pt x="22774" y="141563"/>
                  <a:pt x="15778" y="139231"/>
                  <a:pt x="12899" y="133474"/>
                </a:cubicBezTo>
                <a:cubicBezTo>
                  <a:pt x="10021" y="127717"/>
                  <a:pt x="12353" y="120720"/>
                  <a:pt x="18110" y="117842"/>
                </a:cubicBezTo>
                <a:lnTo>
                  <a:pt x="30681" y="111538"/>
                </a:lnTo>
                <a:cubicBezTo>
                  <a:pt x="36621" y="108550"/>
                  <a:pt x="42269" y="105088"/>
                  <a:pt x="47589" y="101226"/>
                </a:cubicBezTo>
                <a:cubicBezTo>
                  <a:pt x="42560" y="96598"/>
                  <a:pt x="37823" y="91606"/>
                  <a:pt x="33414" y="86323"/>
                </a:cubicBezTo>
                <a:lnTo>
                  <a:pt x="29734" y="81877"/>
                </a:lnTo>
                <a:cubicBezTo>
                  <a:pt x="25616" y="76921"/>
                  <a:pt x="26272" y="69561"/>
                  <a:pt x="31228" y="65443"/>
                </a:cubicBezTo>
                <a:cubicBezTo>
                  <a:pt x="36183" y="61326"/>
                  <a:pt x="43544" y="61982"/>
                  <a:pt x="47661" y="66937"/>
                </a:cubicBezTo>
                <a:lnTo>
                  <a:pt x="51378" y="71383"/>
                </a:lnTo>
                <a:cubicBezTo>
                  <a:pt x="55569" y="76448"/>
                  <a:pt x="60160" y="81148"/>
                  <a:pt x="65006" y="85485"/>
                </a:cubicBezTo>
                <a:cubicBezTo>
                  <a:pt x="75027" y="74407"/>
                  <a:pt x="82934" y="61399"/>
                  <a:pt x="88145" y="47078"/>
                </a:cubicBezTo>
                <a:lnTo>
                  <a:pt x="88327" y="46641"/>
                </a:lnTo>
                <a:lnTo>
                  <a:pt x="11697" y="46641"/>
                </a:lnTo>
                <a:cubicBezTo>
                  <a:pt x="5211" y="46641"/>
                  <a:pt x="0" y="41430"/>
                  <a:pt x="0" y="34981"/>
                </a:cubicBezTo>
                <a:cubicBezTo>
                  <a:pt x="0" y="28531"/>
                  <a:pt x="5211" y="23321"/>
                  <a:pt x="11660" y="23321"/>
                </a:cubicBezTo>
                <a:lnTo>
                  <a:pt x="46641" y="23321"/>
                </a:lnTo>
                <a:lnTo>
                  <a:pt x="46641" y="11660"/>
                </a:lnTo>
                <a:cubicBezTo>
                  <a:pt x="46641" y="5211"/>
                  <a:pt x="51852" y="0"/>
                  <a:pt x="58301" y="0"/>
                </a:cubicBezTo>
                <a:close/>
                <a:moveTo>
                  <a:pt x="151584" y="98675"/>
                </a:moveTo>
                <a:lnTo>
                  <a:pt x="133255" y="139923"/>
                </a:lnTo>
                <a:lnTo>
                  <a:pt x="169912" y="139923"/>
                </a:lnTo>
                <a:lnTo>
                  <a:pt x="151584" y="98675"/>
                </a:lnTo>
                <a:close/>
              </a:path>
            </a:pathLst>
          </a:custGeom>
          <a:solidFill>
            <a:srgbClr val="FAF8F3"/>
          </a:solidFill>
        </p:spPr>
      </p:sp>
      <p:sp>
        <p:nvSpPr>
          <p:cNvPr id="1048664" name="Text 7"/>
          <p:cNvSpPr/>
          <p:nvPr>
            <p:custDataLst>
              <p:tags r:id="rId5"/>
            </p:custDataLst>
          </p:nvPr>
        </p:nvSpPr>
        <p:spPr>
          <a:xfrm>
            <a:off x="1163955" y="1283970"/>
            <a:ext cx="2588260" cy="260985"/>
          </a:xfrm>
          <a:prstGeom prst="rect">
            <a:avLst/>
          </a:prstGeom>
          <a:noFill/>
        </p:spPr>
        <p:txBody>
          <a:bodyPr wrap="square" lIns="0" tIns="0" rIns="0" bIns="0" rtlCol="0" anchor="ctr"/>
          <a:p>
            <a:pPr>
              <a:lnSpc>
                <a:spcPct val="120000"/>
              </a:lnSpc>
            </a:pPr>
            <a:r>
              <a:rPr lang="en-US" sz="1470" b="1" dirty="0">
                <a:solidFill>
                  <a:srgbClr val="B03E68"/>
                </a:solidFill>
                <a:latin typeface="Arial" panose="020B0704020202090204" pitchFamily="34" charset="0"/>
                <a:ea typeface="Liter" panose="02000503030000020004" pitchFamily="34" charset="-122"/>
                <a:cs typeface="Arial" panose="020B0704020202090204" pitchFamily="34" charset="0"/>
              </a:rPr>
              <a:t>Mixed-Language Text</a:t>
            </a:r>
            <a:endParaRPr lang="en-US" sz="1470"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65" name="Text 8"/>
          <p:cNvSpPr/>
          <p:nvPr>
            <p:custDataLst>
              <p:tags r:id="rId6"/>
            </p:custDataLst>
          </p:nvPr>
        </p:nvSpPr>
        <p:spPr>
          <a:xfrm>
            <a:off x="604277" y="1787255"/>
            <a:ext cx="5242467" cy="727602"/>
          </a:xfrm>
          <a:prstGeom prst="rect">
            <a:avLst/>
          </a:prstGeom>
          <a:noFill/>
        </p:spPr>
        <p:txBody>
          <a:bodyPr wrap="square" lIns="0" tIns="0" rIns="0" bIns="0" rtlCol="0" anchor="ctr"/>
          <a:p>
            <a:pPr>
              <a:lnSpc>
                <a:spcPct val="140000"/>
              </a:lnSpc>
            </a:pPr>
            <a:r>
              <a:rPr lang="en-US" sz="1200" dirty="0">
                <a:solidFill>
                  <a:srgbClr val="3D3A35"/>
                </a:solidFill>
                <a:latin typeface="Arial" panose="020B0704020202090204" pitchFamily="34" charset="0"/>
                <a:ea typeface="Liter" panose="02000503030000020004" pitchFamily="34" charset="-122"/>
                <a:cs typeface="Arial" panose="020B0704020202090204" pitchFamily="34" charset="0"/>
              </a:rPr>
              <a:t>Reviews contain English, Chinese text, and code-switching, posing challenges for sentiment analysis.</a:t>
            </a:r>
            <a:endParaRPr lang="en-US" sz="1175" dirty="0">
              <a:solidFill>
                <a:srgbClr val="3D3A35"/>
              </a:solidFill>
              <a:latin typeface="Arial" panose="020B0704020202090204" pitchFamily="34" charset="0"/>
              <a:ea typeface="Liter" panose="02000503030000020004" pitchFamily="34" charset="-122"/>
              <a:cs typeface="Arial" panose="020B0704020202090204" pitchFamily="34" charset="0"/>
            </a:endParaRPr>
          </a:p>
        </p:txBody>
      </p:sp>
      <p:sp>
        <p:nvSpPr>
          <p:cNvPr id="1048666" name="Shape 11"/>
          <p:cNvSpPr/>
          <p:nvPr>
            <p:custDataLst>
              <p:tags r:id="rId7"/>
            </p:custDataLst>
          </p:nvPr>
        </p:nvSpPr>
        <p:spPr>
          <a:xfrm>
            <a:off x="410210" y="3148330"/>
            <a:ext cx="5622925" cy="1500505"/>
          </a:xfrm>
          <a:custGeom>
            <a:avLst/>
            <a:gdLst/>
            <a:ahLst/>
            <a:cxnLst/>
            <a:rect l="l" t="t" r="r" b="b"/>
            <a:pathLst>
              <a:path w="5622912" h="2190123">
                <a:moveTo>
                  <a:pt x="0" y="0"/>
                </a:moveTo>
                <a:lnTo>
                  <a:pt x="5622912" y="0"/>
                </a:lnTo>
                <a:lnTo>
                  <a:pt x="5622912" y="2190123"/>
                </a:lnTo>
                <a:lnTo>
                  <a:pt x="0" y="2190123"/>
                </a:lnTo>
                <a:lnTo>
                  <a:pt x="0" y="0"/>
                </a:lnTo>
                <a:close/>
              </a:path>
            </a:pathLst>
          </a:custGeom>
          <a:ln>
            <a:solidFill>
              <a:srgbClr val="D64A3F"/>
            </a:solidFill>
          </a:ln>
        </p:spPr>
        <p:style>
          <a:lnRef idx="2">
            <a:schemeClr val="accent1"/>
          </a:lnRef>
          <a:fillRef idx="0">
            <a:srgbClr val="FFFFFF"/>
          </a:fillRef>
          <a:effectRef idx="0">
            <a:srgbClr val="FFFFFF"/>
          </a:effectRef>
          <a:fontRef idx="minor">
            <a:schemeClr val="tx1"/>
          </a:fontRef>
        </p:style>
        <p:txBody>
          <a:bodyPr/>
          <a:p>
            <a:r>
              <a:rPr lang="zh-CN" altLang="en-US"/>
              <a:t>
</a:t>
            </a:r>
            <a:endParaRPr lang="zh-CN" altLang="en-US"/>
          </a:p>
        </p:txBody>
      </p:sp>
      <p:sp>
        <p:nvSpPr>
          <p:cNvPr id="1048667" name="Shape 12"/>
          <p:cNvSpPr/>
          <p:nvPr>
            <p:custDataLst>
              <p:tags r:id="rId8"/>
            </p:custDataLst>
          </p:nvPr>
        </p:nvSpPr>
        <p:spPr>
          <a:xfrm>
            <a:off x="637836" y="3152558"/>
            <a:ext cx="447755" cy="447755"/>
          </a:xfrm>
          <a:custGeom>
            <a:avLst/>
            <a:gdLst/>
            <a:ahLst/>
            <a:cxnLst/>
            <a:rect l="l" t="t" r="r" b="b"/>
            <a:pathLst>
              <a:path w="447755" h="447755">
                <a:moveTo>
                  <a:pt x="0" y="0"/>
                </a:moveTo>
                <a:lnTo>
                  <a:pt x="447755" y="0"/>
                </a:lnTo>
                <a:lnTo>
                  <a:pt x="447755" y="447755"/>
                </a:lnTo>
                <a:lnTo>
                  <a:pt x="0" y="447755"/>
                </a:lnTo>
                <a:lnTo>
                  <a:pt x="0" y="0"/>
                </a:lnTo>
                <a:close/>
              </a:path>
            </a:pathLst>
          </a:custGeom>
          <a:solidFill>
            <a:srgbClr val="D64A3F"/>
          </a:solidFill>
        </p:spPr>
      </p:sp>
      <p:sp>
        <p:nvSpPr>
          <p:cNvPr id="1048668" name="Shape 13"/>
          <p:cNvSpPr/>
          <p:nvPr>
            <p:custDataLst>
              <p:tags r:id="rId9"/>
            </p:custDataLst>
          </p:nvPr>
        </p:nvSpPr>
        <p:spPr>
          <a:xfrm>
            <a:off x="745065" y="3283108"/>
            <a:ext cx="233206" cy="186565"/>
          </a:xfrm>
          <a:custGeom>
            <a:avLst/>
            <a:gdLst/>
            <a:ahLst/>
            <a:cxnLst/>
            <a:rect l="l" t="t" r="r" b="b"/>
            <a:pathLst>
              <a:path w="233206" h="186565">
                <a:moveTo>
                  <a:pt x="139923" y="11660"/>
                </a:moveTo>
                <a:lnTo>
                  <a:pt x="186565" y="11660"/>
                </a:lnTo>
                <a:cubicBezTo>
                  <a:pt x="193014" y="11660"/>
                  <a:pt x="198225" y="16871"/>
                  <a:pt x="198225" y="23321"/>
                </a:cubicBezTo>
                <a:cubicBezTo>
                  <a:pt x="198225" y="29770"/>
                  <a:pt x="193014" y="34981"/>
                  <a:pt x="186565" y="34981"/>
                </a:cubicBezTo>
                <a:lnTo>
                  <a:pt x="145171" y="34981"/>
                </a:lnTo>
                <a:cubicBezTo>
                  <a:pt x="143276" y="44382"/>
                  <a:pt x="136826" y="52143"/>
                  <a:pt x="128263" y="55860"/>
                </a:cubicBezTo>
                <a:lnTo>
                  <a:pt x="128263" y="163244"/>
                </a:lnTo>
                <a:lnTo>
                  <a:pt x="186565" y="163244"/>
                </a:lnTo>
                <a:cubicBezTo>
                  <a:pt x="193014" y="163244"/>
                  <a:pt x="198225" y="168455"/>
                  <a:pt x="198225" y="174904"/>
                </a:cubicBezTo>
                <a:cubicBezTo>
                  <a:pt x="198225" y="181354"/>
                  <a:pt x="193014" y="186565"/>
                  <a:pt x="186565" y="186565"/>
                </a:cubicBezTo>
                <a:lnTo>
                  <a:pt x="46641" y="186565"/>
                </a:lnTo>
                <a:cubicBezTo>
                  <a:pt x="40192" y="186565"/>
                  <a:pt x="34981" y="181354"/>
                  <a:pt x="34981" y="174904"/>
                </a:cubicBezTo>
                <a:cubicBezTo>
                  <a:pt x="34981" y="168455"/>
                  <a:pt x="40192" y="163244"/>
                  <a:pt x="46641" y="163244"/>
                </a:cubicBezTo>
                <a:lnTo>
                  <a:pt x="104943" y="163244"/>
                </a:lnTo>
                <a:lnTo>
                  <a:pt x="104943" y="55860"/>
                </a:lnTo>
                <a:cubicBezTo>
                  <a:pt x="96380" y="52107"/>
                  <a:pt x="89930" y="44346"/>
                  <a:pt x="88035" y="34981"/>
                </a:cubicBezTo>
                <a:lnTo>
                  <a:pt x="46641" y="34981"/>
                </a:lnTo>
                <a:cubicBezTo>
                  <a:pt x="40192" y="34981"/>
                  <a:pt x="34981" y="29770"/>
                  <a:pt x="34981" y="23321"/>
                </a:cubicBezTo>
                <a:cubicBezTo>
                  <a:pt x="34981" y="16871"/>
                  <a:pt x="40192" y="11660"/>
                  <a:pt x="46641" y="11660"/>
                </a:cubicBezTo>
                <a:lnTo>
                  <a:pt x="93282" y="11660"/>
                </a:lnTo>
                <a:cubicBezTo>
                  <a:pt x="98602" y="4591"/>
                  <a:pt x="107056" y="0"/>
                  <a:pt x="116603" y="0"/>
                </a:cubicBezTo>
                <a:cubicBezTo>
                  <a:pt x="126150" y="0"/>
                  <a:pt x="134603" y="4591"/>
                  <a:pt x="139923" y="11660"/>
                </a:cubicBezTo>
                <a:close/>
                <a:moveTo>
                  <a:pt x="160183" y="116603"/>
                </a:moveTo>
                <a:lnTo>
                  <a:pt x="212946" y="116603"/>
                </a:lnTo>
                <a:lnTo>
                  <a:pt x="186565" y="71346"/>
                </a:lnTo>
                <a:lnTo>
                  <a:pt x="160183" y="116603"/>
                </a:lnTo>
                <a:close/>
                <a:moveTo>
                  <a:pt x="186565" y="151584"/>
                </a:moveTo>
                <a:cubicBezTo>
                  <a:pt x="163645" y="151584"/>
                  <a:pt x="144588" y="139195"/>
                  <a:pt x="140652" y="122834"/>
                </a:cubicBezTo>
                <a:cubicBezTo>
                  <a:pt x="139705" y="118826"/>
                  <a:pt x="141017" y="114708"/>
                  <a:pt x="143094" y="111137"/>
                </a:cubicBezTo>
                <a:lnTo>
                  <a:pt x="177783" y="51670"/>
                </a:lnTo>
                <a:cubicBezTo>
                  <a:pt x="179605" y="48536"/>
                  <a:pt x="182957" y="46641"/>
                  <a:pt x="186565" y="46641"/>
                </a:cubicBezTo>
                <a:cubicBezTo>
                  <a:pt x="190172" y="46641"/>
                  <a:pt x="193524" y="48572"/>
                  <a:pt x="195346" y="51670"/>
                </a:cubicBezTo>
                <a:lnTo>
                  <a:pt x="230036" y="111137"/>
                </a:lnTo>
                <a:cubicBezTo>
                  <a:pt x="232113" y="114708"/>
                  <a:pt x="233424" y="118826"/>
                  <a:pt x="232477" y="122834"/>
                </a:cubicBezTo>
                <a:cubicBezTo>
                  <a:pt x="228542" y="139158"/>
                  <a:pt x="209484" y="151584"/>
                  <a:pt x="186565" y="151584"/>
                </a:cubicBezTo>
                <a:close/>
                <a:moveTo>
                  <a:pt x="46204" y="71346"/>
                </a:moveTo>
                <a:lnTo>
                  <a:pt x="19822" y="116603"/>
                </a:lnTo>
                <a:lnTo>
                  <a:pt x="72622" y="116603"/>
                </a:lnTo>
                <a:lnTo>
                  <a:pt x="46204" y="71346"/>
                </a:lnTo>
                <a:close/>
                <a:moveTo>
                  <a:pt x="328" y="122834"/>
                </a:moveTo>
                <a:cubicBezTo>
                  <a:pt x="-619" y="118826"/>
                  <a:pt x="692" y="114708"/>
                  <a:pt x="2769" y="111137"/>
                </a:cubicBezTo>
                <a:lnTo>
                  <a:pt x="37459" y="51670"/>
                </a:lnTo>
                <a:cubicBezTo>
                  <a:pt x="39281" y="48536"/>
                  <a:pt x="42633" y="46641"/>
                  <a:pt x="46240" y="46641"/>
                </a:cubicBezTo>
                <a:cubicBezTo>
                  <a:pt x="49848" y="46641"/>
                  <a:pt x="53200" y="48572"/>
                  <a:pt x="55022" y="51670"/>
                </a:cubicBezTo>
                <a:lnTo>
                  <a:pt x="89711" y="111137"/>
                </a:lnTo>
                <a:cubicBezTo>
                  <a:pt x="91788" y="114708"/>
                  <a:pt x="93100" y="118826"/>
                  <a:pt x="92153" y="122834"/>
                </a:cubicBezTo>
                <a:cubicBezTo>
                  <a:pt x="88217" y="139158"/>
                  <a:pt x="69160" y="151584"/>
                  <a:pt x="46240" y="151584"/>
                </a:cubicBezTo>
                <a:cubicBezTo>
                  <a:pt x="23321" y="151584"/>
                  <a:pt x="4263" y="139195"/>
                  <a:pt x="328" y="122834"/>
                </a:cubicBezTo>
                <a:close/>
              </a:path>
            </a:pathLst>
          </a:custGeom>
          <a:solidFill>
            <a:srgbClr val="FAF8F3"/>
          </a:solidFill>
        </p:spPr>
      </p:sp>
      <p:sp>
        <p:nvSpPr>
          <p:cNvPr id="1048669" name="Text 14"/>
          <p:cNvSpPr/>
          <p:nvPr>
            <p:custDataLst>
              <p:tags r:id="rId10"/>
            </p:custDataLst>
          </p:nvPr>
        </p:nvSpPr>
        <p:spPr>
          <a:xfrm>
            <a:off x="1197610" y="3246120"/>
            <a:ext cx="1864995" cy="260985"/>
          </a:xfrm>
          <a:prstGeom prst="rect">
            <a:avLst/>
          </a:prstGeom>
          <a:noFill/>
        </p:spPr>
        <p:txBody>
          <a:bodyPr wrap="square" lIns="0" tIns="0" rIns="0" bIns="0" rtlCol="0" anchor="ctr"/>
          <a:p>
            <a:pPr>
              <a:lnSpc>
                <a:spcPct val="120000"/>
              </a:lnSpc>
            </a:pPr>
            <a:r>
              <a:rPr lang="en-US" sz="1470" b="1" dirty="0">
                <a:solidFill>
                  <a:srgbClr val="B03E68"/>
                </a:solidFill>
                <a:latin typeface="Arial" panose="020B0704020202090204" pitchFamily="34" charset="0"/>
                <a:ea typeface="Liter" panose="02000503030000020004" pitchFamily="34" charset="-122"/>
                <a:cs typeface="Arial" panose="020B0704020202090204" pitchFamily="34" charset="0"/>
              </a:rPr>
              <a:t>Class Imbalance</a:t>
            </a:r>
            <a:endParaRPr lang="en-US" sz="1470"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70" name="Text 15"/>
          <p:cNvSpPr/>
          <p:nvPr>
            <p:custDataLst>
              <p:tags r:id="rId11"/>
            </p:custDataLst>
          </p:nvPr>
        </p:nvSpPr>
        <p:spPr>
          <a:xfrm>
            <a:off x="637836" y="3749405"/>
            <a:ext cx="5242467" cy="727602"/>
          </a:xfrm>
          <a:prstGeom prst="rect">
            <a:avLst/>
          </a:prstGeom>
          <a:noFill/>
        </p:spPr>
        <p:txBody>
          <a:bodyPr wrap="square" lIns="0" tIns="0" rIns="0" bIns="0" rtlCol="0" anchor="ctr"/>
          <a:p>
            <a:pPr>
              <a:lnSpc>
                <a:spcPct val="140000"/>
              </a:lnSpc>
            </a:pPr>
            <a:r>
              <a:rPr lang="en-US" sz="1200" dirty="0">
                <a:solidFill>
                  <a:srgbClr val="3D3A35"/>
                </a:solidFill>
                <a:latin typeface="Arial" panose="020B0704020202090204" pitchFamily="34" charset="0"/>
                <a:ea typeface="Liter" panose="02000503030000020004" pitchFamily="34" charset="-122"/>
                <a:cs typeface="Arial" panose="020B0704020202090204" pitchFamily="34" charset="0"/>
              </a:rPr>
              <a:t>A strong imbalance towards 4-5 star reviews can bias models, requiring specialized techniques for minority class handling.</a:t>
            </a:r>
            <a:endParaRPr lang="en-US" sz="1175" dirty="0">
              <a:solidFill>
                <a:srgbClr val="3D3A35"/>
              </a:solidFill>
              <a:latin typeface="Arial" panose="020B0704020202090204" pitchFamily="34" charset="0"/>
              <a:ea typeface="Liter" panose="02000503030000020004" pitchFamily="34" charset="-122"/>
              <a:cs typeface="Arial" panose="020B0704020202090204" pitchFamily="34" charset="0"/>
            </a:endParaRPr>
          </a:p>
        </p:txBody>
      </p:sp>
      <p:sp>
        <p:nvSpPr>
          <p:cNvPr id="1048671" name="Shape 18"/>
          <p:cNvSpPr/>
          <p:nvPr>
            <p:custDataLst>
              <p:tags r:id="rId12"/>
            </p:custDataLst>
          </p:nvPr>
        </p:nvSpPr>
        <p:spPr>
          <a:xfrm>
            <a:off x="376555" y="5034915"/>
            <a:ext cx="5622925" cy="1393825"/>
          </a:xfrm>
          <a:custGeom>
            <a:avLst/>
            <a:gdLst/>
            <a:ahLst/>
            <a:cxnLst/>
            <a:rect l="l" t="t" r="r" b="b"/>
            <a:pathLst>
              <a:path w="5622912" h="2190123">
                <a:moveTo>
                  <a:pt x="0" y="0"/>
                </a:moveTo>
                <a:lnTo>
                  <a:pt x="5622912" y="0"/>
                </a:lnTo>
                <a:lnTo>
                  <a:pt x="5622912" y="2190123"/>
                </a:lnTo>
                <a:lnTo>
                  <a:pt x="0" y="2190123"/>
                </a:lnTo>
                <a:lnTo>
                  <a:pt x="0" y="0"/>
                </a:lnTo>
                <a:close/>
              </a:path>
            </a:pathLst>
          </a:custGeom>
          <a:ln>
            <a:solidFill>
              <a:srgbClr val="DA5A51"/>
            </a:solidFill>
          </a:ln>
        </p:spPr>
        <p:style>
          <a:lnRef idx="2">
            <a:schemeClr val="accent1"/>
          </a:lnRef>
          <a:fillRef idx="0">
            <a:srgbClr val="FFFFFF"/>
          </a:fillRef>
          <a:effectRef idx="0">
            <a:srgbClr val="FFFFFF"/>
          </a:effectRef>
          <a:fontRef idx="minor">
            <a:schemeClr val="tx1"/>
          </a:fontRef>
        </p:style>
      </p:sp>
      <p:sp>
        <p:nvSpPr>
          <p:cNvPr id="1048672" name="Shape 19"/>
          <p:cNvSpPr/>
          <p:nvPr>
            <p:custDataLst>
              <p:tags r:id="rId13"/>
            </p:custDataLst>
          </p:nvPr>
        </p:nvSpPr>
        <p:spPr>
          <a:xfrm>
            <a:off x="604277" y="5022903"/>
            <a:ext cx="447755" cy="447755"/>
          </a:xfrm>
          <a:custGeom>
            <a:avLst/>
            <a:gdLst/>
            <a:ahLst/>
            <a:cxnLst/>
            <a:rect l="l" t="t" r="r" b="b"/>
            <a:pathLst>
              <a:path w="447755" h="447755">
                <a:moveTo>
                  <a:pt x="0" y="0"/>
                </a:moveTo>
                <a:lnTo>
                  <a:pt x="447755" y="0"/>
                </a:lnTo>
                <a:lnTo>
                  <a:pt x="447755" y="447755"/>
                </a:lnTo>
                <a:lnTo>
                  <a:pt x="0" y="447755"/>
                </a:lnTo>
                <a:lnTo>
                  <a:pt x="0" y="0"/>
                </a:lnTo>
                <a:close/>
              </a:path>
            </a:pathLst>
          </a:custGeom>
          <a:solidFill>
            <a:srgbClr val="D64A3F"/>
          </a:solidFill>
        </p:spPr>
      </p:sp>
      <p:sp>
        <p:nvSpPr>
          <p:cNvPr id="1048673" name="Shape 20"/>
          <p:cNvSpPr/>
          <p:nvPr>
            <p:custDataLst>
              <p:tags r:id="rId14"/>
            </p:custDataLst>
          </p:nvPr>
        </p:nvSpPr>
        <p:spPr>
          <a:xfrm>
            <a:off x="734827" y="5153452"/>
            <a:ext cx="186565" cy="186565"/>
          </a:xfrm>
          <a:custGeom>
            <a:avLst/>
            <a:gdLst/>
            <a:ahLst/>
            <a:cxnLst/>
            <a:rect l="l" t="t" r="r" b="b"/>
            <a:pathLst>
              <a:path w="186565" h="186565">
                <a:moveTo>
                  <a:pt x="84719" y="1895"/>
                </a:moveTo>
                <a:cubicBezTo>
                  <a:pt x="90149" y="-619"/>
                  <a:pt x="96416" y="-619"/>
                  <a:pt x="101845" y="1895"/>
                </a:cubicBezTo>
                <a:lnTo>
                  <a:pt x="181500" y="38698"/>
                </a:lnTo>
                <a:cubicBezTo>
                  <a:pt x="184597" y="40119"/>
                  <a:pt x="186565" y="43216"/>
                  <a:pt x="186565" y="46641"/>
                </a:cubicBezTo>
                <a:cubicBezTo>
                  <a:pt x="186565" y="50066"/>
                  <a:pt x="184597" y="53164"/>
                  <a:pt x="181500" y="54585"/>
                </a:cubicBezTo>
                <a:lnTo>
                  <a:pt x="101845" y="91388"/>
                </a:lnTo>
                <a:cubicBezTo>
                  <a:pt x="96416" y="93902"/>
                  <a:pt x="90149" y="93902"/>
                  <a:pt x="84719" y="91388"/>
                </a:cubicBezTo>
                <a:lnTo>
                  <a:pt x="5065" y="54585"/>
                </a:lnTo>
                <a:cubicBezTo>
                  <a:pt x="1968" y="53127"/>
                  <a:pt x="0" y="50030"/>
                  <a:pt x="0" y="46641"/>
                </a:cubicBezTo>
                <a:cubicBezTo>
                  <a:pt x="0" y="43252"/>
                  <a:pt x="1968" y="40119"/>
                  <a:pt x="5065" y="38698"/>
                </a:cubicBezTo>
                <a:lnTo>
                  <a:pt x="84719" y="1895"/>
                </a:lnTo>
                <a:close/>
                <a:moveTo>
                  <a:pt x="17527" y="79581"/>
                </a:moveTo>
                <a:lnTo>
                  <a:pt x="77395" y="107238"/>
                </a:lnTo>
                <a:cubicBezTo>
                  <a:pt x="87489" y="111902"/>
                  <a:pt x="99112" y="111902"/>
                  <a:pt x="109206" y="107238"/>
                </a:cubicBezTo>
                <a:lnTo>
                  <a:pt x="169074" y="79581"/>
                </a:lnTo>
                <a:lnTo>
                  <a:pt x="181500" y="85339"/>
                </a:lnTo>
                <a:cubicBezTo>
                  <a:pt x="184597" y="86760"/>
                  <a:pt x="186565" y="89857"/>
                  <a:pt x="186565" y="93282"/>
                </a:cubicBezTo>
                <a:cubicBezTo>
                  <a:pt x="186565" y="96708"/>
                  <a:pt x="184597" y="99805"/>
                  <a:pt x="181500" y="101226"/>
                </a:cubicBezTo>
                <a:lnTo>
                  <a:pt x="101845" y="138029"/>
                </a:lnTo>
                <a:cubicBezTo>
                  <a:pt x="96416" y="140543"/>
                  <a:pt x="90149" y="140543"/>
                  <a:pt x="84719" y="138029"/>
                </a:cubicBezTo>
                <a:lnTo>
                  <a:pt x="5065" y="101226"/>
                </a:lnTo>
                <a:cubicBezTo>
                  <a:pt x="1968" y="99768"/>
                  <a:pt x="0" y="96671"/>
                  <a:pt x="0" y="93282"/>
                </a:cubicBezTo>
                <a:cubicBezTo>
                  <a:pt x="0" y="89894"/>
                  <a:pt x="1968" y="86760"/>
                  <a:pt x="5065" y="85339"/>
                </a:cubicBezTo>
                <a:lnTo>
                  <a:pt x="17490" y="79581"/>
                </a:lnTo>
                <a:close/>
                <a:moveTo>
                  <a:pt x="5065" y="131980"/>
                </a:moveTo>
                <a:lnTo>
                  <a:pt x="17490" y="126223"/>
                </a:lnTo>
                <a:lnTo>
                  <a:pt x="77359" y="153879"/>
                </a:lnTo>
                <a:cubicBezTo>
                  <a:pt x="87452" y="158544"/>
                  <a:pt x="99076" y="158544"/>
                  <a:pt x="109169" y="153879"/>
                </a:cubicBezTo>
                <a:lnTo>
                  <a:pt x="169038" y="126223"/>
                </a:lnTo>
                <a:lnTo>
                  <a:pt x="181463" y="131980"/>
                </a:lnTo>
                <a:cubicBezTo>
                  <a:pt x="184561" y="133401"/>
                  <a:pt x="186528" y="136498"/>
                  <a:pt x="186528" y="139923"/>
                </a:cubicBezTo>
                <a:cubicBezTo>
                  <a:pt x="186528" y="143349"/>
                  <a:pt x="184561" y="146446"/>
                  <a:pt x="181463" y="147867"/>
                </a:cubicBezTo>
                <a:lnTo>
                  <a:pt x="101809" y="184670"/>
                </a:lnTo>
                <a:cubicBezTo>
                  <a:pt x="96380" y="187184"/>
                  <a:pt x="90112" y="187184"/>
                  <a:pt x="84683" y="184670"/>
                </a:cubicBezTo>
                <a:lnTo>
                  <a:pt x="5065" y="147867"/>
                </a:lnTo>
                <a:cubicBezTo>
                  <a:pt x="1968" y="146410"/>
                  <a:pt x="0" y="143312"/>
                  <a:pt x="0" y="139923"/>
                </a:cubicBezTo>
                <a:cubicBezTo>
                  <a:pt x="0" y="136535"/>
                  <a:pt x="1968" y="133401"/>
                  <a:pt x="5065" y="131980"/>
                </a:cubicBezTo>
                <a:close/>
              </a:path>
            </a:pathLst>
          </a:custGeom>
          <a:solidFill>
            <a:srgbClr val="FAF8F3"/>
          </a:solidFill>
        </p:spPr>
      </p:sp>
      <p:sp>
        <p:nvSpPr>
          <p:cNvPr id="1048674" name="Text 21"/>
          <p:cNvSpPr/>
          <p:nvPr>
            <p:custDataLst>
              <p:tags r:id="rId15"/>
            </p:custDataLst>
          </p:nvPr>
        </p:nvSpPr>
        <p:spPr>
          <a:xfrm>
            <a:off x="1163955" y="5116195"/>
            <a:ext cx="2233930" cy="260985"/>
          </a:xfrm>
          <a:prstGeom prst="rect">
            <a:avLst/>
          </a:prstGeom>
          <a:noFill/>
        </p:spPr>
        <p:txBody>
          <a:bodyPr wrap="square" lIns="0" tIns="0" rIns="0" bIns="0" rtlCol="0" anchor="ctr"/>
          <a:p>
            <a:pPr>
              <a:lnSpc>
                <a:spcPct val="120000"/>
              </a:lnSpc>
            </a:pPr>
            <a:r>
              <a:rPr lang="en-US" sz="1470" b="1" dirty="0">
                <a:solidFill>
                  <a:srgbClr val="B03E68"/>
                </a:solidFill>
                <a:latin typeface="Arial" panose="020B0704020202090204" pitchFamily="34" charset="0"/>
                <a:ea typeface="Liter" panose="02000503030000020004" pitchFamily="34" charset="-122"/>
                <a:cs typeface="Arial" panose="020B0704020202090204" pitchFamily="34" charset="0"/>
              </a:rPr>
              <a:t>Review Count Caps</a:t>
            </a:r>
            <a:endParaRPr lang="en-US" sz="1470"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75" name="Text 22"/>
          <p:cNvSpPr/>
          <p:nvPr>
            <p:custDataLst>
              <p:tags r:id="rId16"/>
            </p:custDataLst>
          </p:nvPr>
        </p:nvSpPr>
        <p:spPr>
          <a:xfrm>
            <a:off x="604277" y="5619750"/>
            <a:ext cx="5242467" cy="727602"/>
          </a:xfrm>
          <a:prstGeom prst="rect">
            <a:avLst/>
          </a:prstGeom>
          <a:noFill/>
        </p:spPr>
        <p:txBody>
          <a:bodyPr wrap="square" lIns="0" tIns="0" rIns="0" bIns="0" rtlCol="0" anchor="ctr"/>
          <a:p>
            <a:pPr>
              <a:lnSpc>
                <a:spcPct val="140000"/>
              </a:lnSpc>
            </a:pPr>
            <a:r>
              <a:rPr lang="en-US" sz="1200" dirty="0">
                <a:solidFill>
                  <a:srgbClr val="3D3A35"/>
                </a:solidFill>
                <a:latin typeface="Arial" panose="020B0704020202090204" pitchFamily="34" charset="0"/>
                <a:ea typeface="Liter" panose="02000503030000020004" pitchFamily="34" charset="-122"/>
                <a:cs typeface="Arial" panose="020B0704020202090204" pitchFamily="34" charset="0"/>
              </a:rPr>
              <a:t>Review counts capped at ~120 introduce selection bias and limit review volume assessment.</a:t>
            </a:r>
            <a:endParaRPr lang="en-US" sz="1175" dirty="0">
              <a:solidFill>
                <a:srgbClr val="3D3A35"/>
              </a:solidFill>
              <a:latin typeface="Arial" panose="020B0704020202090204" pitchFamily="34" charset="0"/>
              <a:ea typeface="Liter" panose="02000503030000020004" pitchFamily="34" charset="-122"/>
              <a:cs typeface="Arial" panose="020B0704020202090204" pitchFamily="34" charset="0"/>
            </a:endParaRPr>
          </a:p>
        </p:txBody>
      </p:sp>
      <p:sp>
        <p:nvSpPr>
          <p:cNvPr id="1048676" name="Shape 25"/>
          <p:cNvSpPr/>
          <p:nvPr>
            <p:custDataLst>
              <p:tags r:id="rId17"/>
            </p:custDataLst>
          </p:nvPr>
        </p:nvSpPr>
        <p:spPr>
          <a:xfrm>
            <a:off x="6228715" y="1841500"/>
            <a:ext cx="5622925" cy="1441450"/>
          </a:xfrm>
          <a:custGeom>
            <a:avLst/>
            <a:gdLst/>
            <a:ahLst/>
            <a:cxnLst/>
            <a:rect l="l" t="t" r="r" b="b"/>
            <a:pathLst>
              <a:path w="5622912" h="2190123">
                <a:moveTo>
                  <a:pt x="0" y="0"/>
                </a:moveTo>
                <a:lnTo>
                  <a:pt x="5622912" y="0"/>
                </a:lnTo>
                <a:lnTo>
                  <a:pt x="5622912" y="2190123"/>
                </a:lnTo>
                <a:lnTo>
                  <a:pt x="0" y="2190123"/>
                </a:lnTo>
                <a:lnTo>
                  <a:pt x="0" y="0"/>
                </a:lnTo>
                <a:close/>
              </a:path>
            </a:pathLst>
          </a:custGeom>
          <a:ln>
            <a:solidFill>
              <a:srgbClr val="B03E68"/>
            </a:solidFill>
          </a:ln>
        </p:spPr>
        <p:style>
          <a:lnRef idx="2">
            <a:schemeClr val="accent1"/>
          </a:lnRef>
          <a:fillRef idx="0">
            <a:srgbClr val="FFFFFF"/>
          </a:fillRef>
          <a:effectRef idx="0">
            <a:srgbClr val="FFFFFF"/>
          </a:effectRef>
          <a:fontRef idx="minor">
            <a:schemeClr val="tx1"/>
          </a:fontRef>
        </p:style>
      </p:sp>
      <p:sp>
        <p:nvSpPr>
          <p:cNvPr id="1048677" name="Shape 26"/>
          <p:cNvSpPr/>
          <p:nvPr>
            <p:custDataLst>
              <p:tags r:id="rId18"/>
            </p:custDataLst>
          </p:nvPr>
        </p:nvSpPr>
        <p:spPr>
          <a:xfrm>
            <a:off x="6456341" y="1842188"/>
            <a:ext cx="447755" cy="447755"/>
          </a:xfrm>
          <a:custGeom>
            <a:avLst/>
            <a:gdLst/>
            <a:ahLst/>
            <a:cxnLst/>
            <a:rect l="l" t="t" r="r" b="b"/>
            <a:pathLst>
              <a:path w="447755" h="447755">
                <a:moveTo>
                  <a:pt x="0" y="0"/>
                </a:moveTo>
                <a:lnTo>
                  <a:pt x="447755" y="0"/>
                </a:lnTo>
                <a:lnTo>
                  <a:pt x="447755" y="447755"/>
                </a:lnTo>
                <a:lnTo>
                  <a:pt x="0" y="447755"/>
                </a:lnTo>
                <a:lnTo>
                  <a:pt x="0" y="0"/>
                </a:lnTo>
                <a:close/>
              </a:path>
            </a:pathLst>
          </a:custGeom>
          <a:solidFill>
            <a:srgbClr val="B03E68"/>
          </a:solidFill>
        </p:spPr>
      </p:sp>
      <p:sp>
        <p:nvSpPr>
          <p:cNvPr id="1048678" name="Shape 27"/>
          <p:cNvSpPr/>
          <p:nvPr>
            <p:custDataLst>
              <p:tags r:id="rId19"/>
            </p:custDataLst>
          </p:nvPr>
        </p:nvSpPr>
        <p:spPr>
          <a:xfrm>
            <a:off x="6598551" y="1972737"/>
            <a:ext cx="163244" cy="186565"/>
          </a:xfrm>
          <a:custGeom>
            <a:avLst/>
            <a:gdLst/>
            <a:ahLst/>
            <a:cxnLst/>
            <a:rect l="l" t="t" r="r" b="b"/>
            <a:pathLst>
              <a:path w="163244" h="186565">
                <a:moveTo>
                  <a:pt x="46641" y="0"/>
                </a:moveTo>
                <a:cubicBezTo>
                  <a:pt x="53091" y="0"/>
                  <a:pt x="58301" y="5211"/>
                  <a:pt x="58301" y="11660"/>
                </a:cubicBezTo>
                <a:lnTo>
                  <a:pt x="58301" y="23321"/>
                </a:lnTo>
                <a:lnTo>
                  <a:pt x="104943" y="23321"/>
                </a:lnTo>
                <a:lnTo>
                  <a:pt x="104943" y="11660"/>
                </a:lnTo>
                <a:cubicBezTo>
                  <a:pt x="104943" y="5211"/>
                  <a:pt x="110153" y="0"/>
                  <a:pt x="116603" y="0"/>
                </a:cubicBezTo>
                <a:cubicBezTo>
                  <a:pt x="123053" y="0"/>
                  <a:pt x="128263" y="5211"/>
                  <a:pt x="128263" y="11660"/>
                </a:cubicBezTo>
                <a:lnTo>
                  <a:pt x="128263" y="23321"/>
                </a:lnTo>
                <a:lnTo>
                  <a:pt x="139923" y="23321"/>
                </a:lnTo>
                <a:cubicBezTo>
                  <a:pt x="152786" y="23321"/>
                  <a:pt x="163244" y="33778"/>
                  <a:pt x="163244" y="46641"/>
                </a:cubicBezTo>
                <a:lnTo>
                  <a:pt x="163244" y="151584"/>
                </a:lnTo>
                <a:cubicBezTo>
                  <a:pt x="163244" y="164447"/>
                  <a:pt x="152786" y="174904"/>
                  <a:pt x="139923" y="174904"/>
                </a:cubicBezTo>
                <a:lnTo>
                  <a:pt x="23321" y="174904"/>
                </a:lnTo>
                <a:cubicBezTo>
                  <a:pt x="10458" y="174904"/>
                  <a:pt x="0" y="164447"/>
                  <a:pt x="0" y="151584"/>
                </a:cubicBezTo>
                <a:lnTo>
                  <a:pt x="0" y="46641"/>
                </a:lnTo>
                <a:cubicBezTo>
                  <a:pt x="0" y="33778"/>
                  <a:pt x="10458" y="23321"/>
                  <a:pt x="23321" y="23321"/>
                </a:cubicBezTo>
                <a:lnTo>
                  <a:pt x="34981" y="23321"/>
                </a:lnTo>
                <a:lnTo>
                  <a:pt x="34981" y="11660"/>
                </a:lnTo>
                <a:cubicBezTo>
                  <a:pt x="34981" y="5211"/>
                  <a:pt x="40192" y="0"/>
                  <a:pt x="46641" y="0"/>
                </a:cubicBezTo>
                <a:close/>
                <a:moveTo>
                  <a:pt x="23321" y="87452"/>
                </a:moveTo>
                <a:lnTo>
                  <a:pt x="23321" y="99112"/>
                </a:lnTo>
                <a:cubicBezTo>
                  <a:pt x="23321" y="102319"/>
                  <a:pt x="25944" y="104943"/>
                  <a:pt x="29151" y="104943"/>
                </a:cubicBezTo>
                <a:lnTo>
                  <a:pt x="40811" y="104943"/>
                </a:lnTo>
                <a:cubicBezTo>
                  <a:pt x="44018" y="104943"/>
                  <a:pt x="46641" y="102319"/>
                  <a:pt x="46641" y="99112"/>
                </a:cubicBezTo>
                <a:lnTo>
                  <a:pt x="46641" y="87452"/>
                </a:lnTo>
                <a:cubicBezTo>
                  <a:pt x="46641" y="84246"/>
                  <a:pt x="44018" y="81622"/>
                  <a:pt x="40811" y="81622"/>
                </a:cubicBezTo>
                <a:lnTo>
                  <a:pt x="29151" y="81622"/>
                </a:lnTo>
                <a:cubicBezTo>
                  <a:pt x="25944" y="81622"/>
                  <a:pt x="23321" y="84246"/>
                  <a:pt x="23321" y="87452"/>
                </a:cubicBezTo>
                <a:close/>
                <a:moveTo>
                  <a:pt x="69962" y="87452"/>
                </a:moveTo>
                <a:lnTo>
                  <a:pt x="69962" y="99112"/>
                </a:lnTo>
                <a:cubicBezTo>
                  <a:pt x="69962" y="102319"/>
                  <a:pt x="72585" y="104943"/>
                  <a:pt x="75792" y="104943"/>
                </a:cubicBezTo>
                <a:lnTo>
                  <a:pt x="87452" y="104943"/>
                </a:lnTo>
                <a:cubicBezTo>
                  <a:pt x="90659" y="104943"/>
                  <a:pt x="93282" y="102319"/>
                  <a:pt x="93282" y="99112"/>
                </a:cubicBezTo>
                <a:lnTo>
                  <a:pt x="93282" y="87452"/>
                </a:lnTo>
                <a:cubicBezTo>
                  <a:pt x="93282" y="84246"/>
                  <a:pt x="90659" y="81622"/>
                  <a:pt x="87452" y="81622"/>
                </a:cubicBezTo>
                <a:lnTo>
                  <a:pt x="75792" y="81622"/>
                </a:lnTo>
                <a:cubicBezTo>
                  <a:pt x="72585" y="81622"/>
                  <a:pt x="69962" y="84246"/>
                  <a:pt x="69962" y="87452"/>
                </a:cubicBezTo>
                <a:close/>
                <a:moveTo>
                  <a:pt x="122433" y="81622"/>
                </a:moveTo>
                <a:cubicBezTo>
                  <a:pt x="119226" y="81622"/>
                  <a:pt x="116603" y="84246"/>
                  <a:pt x="116603" y="87452"/>
                </a:cubicBezTo>
                <a:lnTo>
                  <a:pt x="116603" y="99112"/>
                </a:lnTo>
                <a:cubicBezTo>
                  <a:pt x="116603" y="102319"/>
                  <a:pt x="119226" y="104943"/>
                  <a:pt x="122433" y="104943"/>
                </a:cubicBezTo>
                <a:lnTo>
                  <a:pt x="134093" y="104943"/>
                </a:lnTo>
                <a:cubicBezTo>
                  <a:pt x="137300" y="104943"/>
                  <a:pt x="139923" y="102319"/>
                  <a:pt x="139923" y="99112"/>
                </a:cubicBezTo>
                <a:lnTo>
                  <a:pt x="139923" y="87452"/>
                </a:lnTo>
                <a:cubicBezTo>
                  <a:pt x="139923" y="84246"/>
                  <a:pt x="137300" y="81622"/>
                  <a:pt x="134093" y="81622"/>
                </a:cubicBezTo>
                <a:lnTo>
                  <a:pt x="122433" y="81622"/>
                </a:lnTo>
                <a:close/>
                <a:moveTo>
                  <a:pt x="23321" y="134093"/>
                </a:moveTo>
                <a:lnTo>
                  <a:pt x="23321" y="145754"/>
                </a:lnTo>
                <a:cubicBezTo>
                  <a:pt x="23321" y="148960"/>
                  <a:pt x="25944" y="151584"/>
                  <a:pt x="29151" y="151584"/>
                </a:cubicBezTo>
                <a:lnTo>
                  <a:pt x="40811" y="151584"/>
                </a:lnTo>
                <a:cubicBezTo>
                  <a:pt x="44018" y="151584"/>
                  <a:pt x="46641" y="148960"/>
                  <a:pt x="46641" y="145754"/>
                </a:cubicBezTo>
                <a:lnTo>
                  <a:pt x="46641" y="134093"/>
                </a:lnTo>
                <a:cubicBezTo>
                  <a:pt x="46641" y="130887"/>
                  <a:pt x="44018" y="128263"/>
                  <a:pt x="40811" y="128263"/>
                </a:cubicBezTo>
                <a:lnTo>
                  <a:pt x="29151" y="128263"/>
                </a:lnTo>
                <a:cubicBezTo>
                  <a:pt x="25944" y="128263"/>
                  <a:pt x="23321" y="130887"/>
                  <a:pt x="23321" y="134093"/>
                </a:cubicBezTo>
                <a:close/>
                <a:moveTo>
                  <a:pt x="75792" y="128263"/>
                </a:moveTo>
                <a:cubicBezTo>
                  <a:pt x="72585" y="128263"/>
                  <a:pt x="69962" y="130887"/>
                  <a:pt x="69962" y="134093"/>
                </a:cubicBezTo>
                <a:lnTo>
                  <a:pt x="69962" y="145754"/>
                </a:lnTo>
                <a:cubicBezTo>
                  <a:pt x="69962" y="148960"/>
                  <a:pt x="72585" y="151584"/>
                  <a:pt x="75792" y="151584"/>
                </a:cubicBezTo>
                <a:lnTo>
                  <a:pt x="87452" y="151584"/>
                </a:lnTo>
                <a:cubicBezTo>
                  <a:pt x="90659" y="151584"/>
                  <a:pt x="93282" y="148960"/>
                  <a:pt x="93282" y="145754"/>
                </a:cubicBezTo>
                <a:lnTo>
                  <a:pt x="93282" y="134093"/>
                </a:lnTo>
                <a:cubicBezTo>
                  <a:pt x="93282" y="130887"/>
                  <a:pt x="90659" y="128263"/>
                  <a:pt x="87452" y="128263"/>
                </a:cubicBezTo>
                <a:lnTo>
                  <a:pt x="75792" y="128263"/>
                </a:lnTo>
                <a:close/>
                <a:moveTo>
                  <a:pt x="116603" y="134093"/>
                </a:moveTo>
                <a:lnTo>
                  <a:pt x="116603" y="145754"/>
                </a:lnTo>
                <a:cubicBezTo>
                  <a:pt x="116603" y="148960"/>
                  <a:pt x="119226" y="151584"/>
                  <a:pt x="122433" y="151584"/>
                </a:cubicBezTo>
                <a:lnTo>
                  <a:pt x="134093" y="151584"/>
                </a:lnTo>
                <a:cubicBezTo>
                  <a:pt x="137300" y="151584"/>
                  <a:pt x="139923" y="148960"/>
                  <a:pt x="139923" y="145754"/>
                </a:cubicBezTo>
                <a:lnTo>
                  <a:pt x="139923" y="134093"/>
                </a:lnTo>
                <a:cubicBezTo>
                  <a:pt x="139923" y="130887"/>
                  <a:pt x="137300" y="128263"/>
                  <a:pt x="134093" y="128263"/>
                </a:cubicBezTo>
                <a:lnTo>
                  <a:pt x="122433" y="128263"/>
                </a:lnTo>
                <a:cubicBezTo>
                  <a:pt x="119226" y="128263"/>
                  <a:pt x="116603" y="130887"/>
                  <a:pt x="116603" y="134093"/>
                </a:cubicBezTo>
                <a:close/>
              </a:path>
            </a:pathLst>
          </a:custGeom>
          <a:solidFill>
            <a:srgbClr val="FAF8F3"/>
          </a:solidFill>
        </p:spPr>
      </p:sp>
      <p:sp>
        <p:nvSpPr>
          <p:cNvPr id="1048679" name="Text 28"/>
          <p:cNvSpPr/>
          <p:nvPr>
            <p:custDataLst>
              <p:tags r:id="rId20"/>
            </p:custDataLst>
          </p:nvPr>
        </p:nvSpPr>
        <p:spPr>
          <a:xfrm>
            <a:off x="7016115" y="1935480"/>
            <a:ext cx="2212340" cy="260985"/>
          </a:xfrm>
          <a:prstGeom prst="rect">
            <a:avLst/>
          </a:prstGeom>
          <a:noFill/>
        </p:spPr>
        <p:txBody>
          <a:bodyPr wrap="square" lIns="0" tIns="0" rIns="0" bIns="0" rtlCol="0" anchor="ctr"/>
          <a:p>
            <a:pPr>
              <a:lnSpc>
                <a:spcPct val="120000"/>
              </a:lnSpc>
            </a:pPr>
            <a:r>
              <a:rPr lang="en-US" sz="1470" b="1" dirty="0">
                <a:solidFill>
                  <a:srgbClr val="B03E68"/>
                </a:solidFill>
                <a:latin typeface="Arial" panose="020B0704020202090204" pitchFamily="34" charset="0"/>
                <a:ea typeface="Liter" panose="02000503030000020004" pitchFamily="34" charset="-122"/>
                <a:cs typeface="Arial" panose="020B0704020202090204" pitchFamily="34" charset="0"/>
              </a:rPr>
              <a:t>Temporal Data Issues</a:t>
            </a:r>
            <a:endParaRPr lang="en-US" sz="1470" b="1" dirty="0">
              <a:solidFill>
                <a:srgbClr val="B03E68"/>
              </a:solidFill>
              <a:latin typeface="Arial" panose="020B0704020202090204" pitchFamily="34" charset="0"/>
              <a:ea typeface="Liter" panose="02000503030000020004" pitchFamily="34" charset="-122"/>
              <a:cs typeface="Arial" panose="020B0704020202090204" pitchFamily="34" charset="0"/>
            </a:endParaRPr>
          </a:p>
        </p:txBody>
      </p:sp>
      <p:sp>
        <p:nvSpPr>
          <p:cNvPr id="1048680" name="Text 29"/>
          <p:cNvSpPr/>
          <p:nvPr>
            <p:custDataLst>
              <p:tags r:id="rId21"/>
            </p:custDataLst>
          </p:nvPr>
        </p:nvSpPr>
        <p:spPr>
          <a:xfrm>
            <a:off x="6456341" y="2439035"/>
            <a:ext cx="5242467" cy="727602"/>
          </a:xfrm>
          <a:prstGeom prst="rect">
            <a:avLst/>
          </a:prstGeom>
          <a:noFill/>
        </p:spPr>
        <p:txBody>
          <a:bodyPr wrap="square" lIns="0" tIns="0" rIns="0" bIns="0" rtlCol="0" anchor="ctr"/>
          <a:p>
            <a:pPr>
              <a:lnSpc>
                <a:spcPct val="140000"/>
              </a:lnSpc>
            </a:pPr>
            <a:r>
              <a:rPr lang="en-US" sz="1600" dirty="0">
                <a:latin typeface="Arial" panose="020B0704020202090204" pitchFamily="34" charset="0"/>
                <a:cs typeface="Arial" panose="020B0704020202090204" pitchFamily="34" charset="0"/>
              </a:rPr>
              <a:t>Time zone field exhibits patterns suggesting a function, not a month. This requires granular temporal analysis.</a:t>
            </a:r>
            <a:endParaRPr lang="en-US" sz="1600" dirty="0">
              <a:latin typeface="Arial" panose="020B0704020202090204" pitchFamily="34" charset="0"/>
              <a:cs typeface="Arial" panose="020B0704020202090204" pitchFamily="34" charset="0"/>
            </a:endParaRPr>
          </a:p>
          <a:p>
            <a:pPr>
              <a:lnSpc>
                <a:spcPct val="140000"/>
              </a:lnSpc>
            </a:pPr>
            <a:endParaRPr lang="en-US" sz="1600" dirty="0">
              <a:latin typeface="Arial" panose="020B0704020202090204" pitchFamily="34" charset="0"/>
              <a:cs typeface="Arial" panose="020B070402020209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Analytics Framework</a:t>
            </a:r>
            <a:endParaRPr lang="en-US" altLang="zh-CN" dirty="0"/>
          </a:p>
        </p:txBody>
      </p:sp>
      <p:graphicFrame>
        <p:nvGraphicFramePr>
          <p:cNvPr id="6" name="表格 5"/>
          <p:cNvGraphicFramePr/>
          <p:nvPr>
            <p:custDataLst>
              <p:tags r:id="rId1"/>
            </p:custDataLst>
          </p:nvPr>
        </p:nvGraphicFramePr>
        <p:xfrm>
          <a:off x="1736090" y="1691005"/>
          <a:ext cx="9012555" cy="3071495"/>
        </p:xfrm>
        <a:graphic>
          <a:graphicData uri="http://schemas.openxmlformats.org/drawingml/2006/table">
            <a:tbl>
              <a:tblPr firstRow="1" bandRow="1">
                <a:tableStyleId>{5C22544A-7EE6-4342-B048-85BDC9FD1C3A}</a:tableStyleId>
              </a:tblPr>
              <a:tblGrid>
                <a:gridCol w="3000375"/>
                <a:gridCol w="6012180"/>
              </a:tblGrid>
              <a:tr h="902970">
                <a:tc>
                  <a:txBody>
                    <a:bodyPr/>
                    <a:p>
                      <a:pPr algn="ctr">
                        <a:lnSpc>
                          <a:spcPts val="1500"/>
                        </a:lnSpc>
                      </a:pPr>
                      <a:r>
                        <a:rPr lang="en-US" altLang="zh-CN" sz="1600" b="0" i="0">
                          <a:solidFill>
                            <a:srgbClr val="0F1115"/>
                          </a:solidFill>
                          <a:latin typeface="Arial" panose="020B0704020202090204" pitchFamily="34" charset="0"/>
                          <a:ea typeface="quote-cjk-patch"/>
                          <a:cs typeface="Arial" panose="020B0704020202090204" pitchFamily="34" charset="0"/>
                        </a:rPr>
                        <a:t>  Descriptive Analytics</a:t>
                      </a:r>
                      <a:endParaRPr lang="en-US" altLang="zh-CN" sz="1600" b="0" i="0">
                        <a:solidFill>
                          <a:srgbClr val="0F1115"/>
                        </a:solidFill>
                        <a:latin typeface="Arial" panose="020B0704020202090204" pitchFamily="34" charset="0"/>
                        <a:ea typeface="quote-cjk-patch"/>
                        <a:cs typeface="Arial" panose="020B0704020202090204" pitchFamily="34" charset="0"/>
                      </a:endParaRPr>
                    </a:p>
                  </a:txBody>
                  <a:tcPr marL="0" marR="122237" marT="76517" marB="76517" anchor="ctr" anchorCtr="0"/>
                </a:tc>
                <a:tc>
                  <a:txBody>
                    <a:bodyPr/>
                    <a:p>
                      <a:pPr algn="ctr">
                        <a:lnSpc>
                          <a:spcPts val="1500"/>
                        </a:lnSpc>
                      </a:pPr>
                      <a:r>
                        <a:rPr lang="en-US" altLang="zh-CN" sz="1600" b="0" i="0">
                          <a:solidFill>
                            <a:srgbClr val="0F1115"/>
                          </a:solidFill>
                          <a:latin typeface="Arial" panose="020B0704020202090204" pitchFamily="34" charset="0"/>
                          <a:ea typeface="quote-cjk-patch"/>
                          <a:cs typeface="Arial" panose="020B0704020202090204" pitchFamily="34" charset="0"/>
                        </a:rPr>
                        <a:t>Summarize review patterns, ratings, and trends</a:t>
                      </a:r>
                      <a:endParaRPr lang="en-US" altLang="zh-CN" sz="1600" b="0" i="0">
                        <a:solidFill>
                          <a:srgbClr val="0F1115"/>
                        </a:solidFill>
                        <a:latin typeface="Arial" panose="020B0704020202090204" pitchFamily="34" charset="0"/>
                        <a:ea typeface="quote-cjk-patch"/>
                        <a:cs typeface="Arial" panose="020B0704020202090204" pitchFamily="34" charset="0"/>
                      </a:endParaRPr>
                    </a:p>
                  </a:txBody>
                  <a:tcPr marL="122237" marR="0" marT="76517" marB="76517" anchor="ctr" anchorCtr="0"/>
                </a:tc>
              </a:tr>
              <a:tr h="1265555">
                <a:tc>
                  <a:txBody>
                    <a:bodyPr/>
                    <a:p>
                      <a:pPr algn="ctr">
                        <a:lnSpc>
                          <a:spcPts val="1500"/>
                        </a:lnSpc>
                      </a:pPr>
                      <a:r>
                        <a:rPr lang="en-US" altLang="zh-CN" sz="1600" b="0" i="0">
                          <a:solidFill>
                            <a:srgbClr val="0F1115"/>
                          </a:solidFill>
                          <a:latin typeface="Arial" panose="020B0704020202090204" pitchFamily="34" charset="0"/>
                          <a:ea typeface="quote-cjk-patch"/>
                          <a:cs typeface="Arial" panose="020B0704020202090204" pitchFamily="34" charset="0"/>
                        </a:rPr>
                        <a:t>Sentiment &amp; Emotion Analytics</a:t>
                      </a:r>
                      <a:endParaRPr lang="en-US" altLang="zh-CN" sz="1600" b="0" i="0">
                        <a:solidFill>
                          <a:srgbClr val="0F1115"/>
                        </a:solidFill>
                        <a:latin typeface="Arial" panose="020B0704020202090204" pitchFamily="34" charset="0"/>
                        <a:ea typeface="quote-cjk-patch"/>
                        <a:cs typeface="Arial" panose="020B0704020202090204" pitchFamily="34" charset="0"/>
                      </a:endParaRPr>
                    </a:p>
                  </a:txBody>
                  <a:tcPr marL="0" marR="122237" marT="76517" marB="76517" anchor="ctr" anchorCtr="0"/>
                </a:tc>
                <a:tc>
                  <a:txBody>
                    <a:bodyPr/>
                    <a:p>
                      <a:pPr algn="ctr">
                        <a:lnSpc>
                          <a:spcPts val="1500"/>
                        </a:lnSpc>
                      </a:pPr>
                      <a:r>
                        <a:rPr lang="en-US" altLang="zh-CN" sz="1600" b="0" i="0">
                          <a:solidFill>
                            <a:srgbClr val="0F1115"/>
                          </a:solidFill>
                          <a:latin typeface="Arial" panose="020B0704020202090204" pitchFamily="34" charset="0"/>
                          <a:ea typeface="quote-cjk-patch"/>
                          <a:cs typeface="Arial" panose="020B0704020202090204" pitchFamily="34" charset="0"/>
                        </a:rPr>
                        <a:t>Extract lexicon-based sentiment and NRC emotion features</a:t>
                      </a:r>
                      <a:endParaRPr lang="en-US" altLang="zh-CN" sz="1600" b="0" i="0">
                        <a:solidFill>
                          <a:srgbClr val="0F1115"/>
                        </a:solidFill>
                        <a:latin typeface="Arial" panose="020B0704020202090204" pitchFamily="34" charset="0"/>
                        <a:ea typeface="quote-cjk-patch"/>
                        <a:cs typeface="Arial" panose="020B0704020202090204" pitchFamily="34" charset="0"/>
                      </a:endParaRPr>
                    </a:p>
                  </a:txBody>
                  <a:tcPr marL="122237" marR="0" marT="76517" marB="76517" anchor="ctr" anchorCtr="0"/>
                </a:tc>
              </a:tr>
              <a:tr h="902970">
                <a:tc>
                  <a:txBody>
                    <a:bodyPr/>
                    <a:p>
                      <a:pPr algn="ctr">
                        <a:lnSpc>
                          <a:spcPts val="1500"/>
                        </a:lnSpc>
                      </a:pPr>
                      <a:r>
                        <a:rPr lang="en-US" altLang="zh-CN" sz="1600" b="0" i="0">
                          <a:solidFill>
                            <a:srgbClr val="0F1115"/>
                          </a:solidFill>
                          <a:latin typeface="Arial" panose="020B0704020202090204" pitchFamily="34" charset="0"/>
                          <a:ea typeface="quote-cjk-patch"/>
                          <a:cs typeface="Arial" panose="020B0704020202090204" pitchFamily="34" charset="0"/>
                        </a:rPr>
                        <a:t>Predictive Analytics</a:t>
                      </a:r>
                      <a:endParaRPr lang="en-US" altLang="zh-CN" sz="1600" b="0" i="0">
                        <a:solidFill>
                          <a:srgbClr val="0F1115"/>
                        </a:solidFill>
                        <a:latin typeface="Arial" panose="020B0704020202090204" pitchFamily="34" charset="0"/>
                        <a:ea typeface="quote-cjk-patch"/>
                        <a:cs typeface="Arial" panose="020B0704020202090204" pitchFamily="34" charset="0"/>
                      </a:endParaRPr>
                    </a:p>
                  </a:txBody>
                  <a:tcPr marL="0" marR="122237" marT="76517" marB="76517" anchor="ctr" anchorCtr="0"/>
                </a:tc>
                <a:tc>
                  <a:txBody>
                    <a:bodyPr/>
                    <a:p>
                      <a:pPr algn="ctr">
                        <a:lnSpc>
                          <a:spcPts val="1500"/>
                        </a:lnSpc>
                      </a:pPr>
                      <a:r>
                        <a:rPr lang="en-US" altLang="zh-CN" sz="1600" b="0" i="0">
                          <a:solidFill>
                            <a:srgbClr val="0F1115"/>
                          </a:solidFill>
                          <a:latin typeface="Arial" panose="020B0704020202090204" pitchFamily="34" charset="0"/>
                          <a:ea typeface="quote-cjk-patch"/>
                          <a:cs typeface="Arial" panose="020B0704020202090204" pitchFamily="34" charset="0"/>
                        </a:rPr>
                        <a:t>Classify five-star vs. non-five-star reviews</a:t>
                      </a:r>
                      <a:endParaRPr lang="en-US" altLang="zh-CN" sz="1600" b="0" i="0">
                        <a:solidFill>
                          <a:srgbClr val="0F1115"/>
                        </a:solidFill>
                        <a:latin typeface="Arial" panose="020B0704020202090204" pitchFamily="34" charset="0"/>
                        <a:ea typeface="quote-cjk-patch"/>
                        <a:cs typeface="Arial" panose="020B0704020202090204" pitchFamily="34" charset="0"/>
                      </a:endParaRPr>
                    </a:p>
                  </a:txBody>
                  <a:tcPr marL="122237" marR="0" marT="76517" marB="76517" anchor="ctr" anchorCtr="0"/>
                </a:tc>
              </a:tr>
            </a:tbl>
          </a:graphicData>
        </a:graphic>
      </p:graphicFrame>
      <p:sp>
        <p:nvSpPr>
          <p:cNvPr id="9" name="文本框 8"/>
          <p:cNvSpPr txBox="1"/>
          <p:nvPr/>
        </p:nvSpPr>
        <p:spPr>
          <a:xfrm>
            <a:off x="1089660" y="5375275"/>
            <a:ext cx="10259695" cy="368300"/>
          </a:xfrm>
          <a:prstGeom prst="rect">
            <a:avLst/>
          </a:prstGeom>
          <a:noFill/>
        </p:spPr>
        <p:txBody>
          <a:bodyPr wrap="square" rtlCol="0" anchor="t">
            <a:spAutoFit/>
          </a:bodyPr>
          <a:p>
            <a:pPr algn="ctr"/>
            <a:r>
              <a:rPr lang="en-US" altLang="zh-CN"/>
              <a:t>Data Collection </a:t>
            </a:r>
            <a:r>
              <a:rPr lang="en-US" altLang="en-US"/>
              <a:t>→</a:t>
            </a:r>
            <a:r>
              <a:rPr lang="en-US" altLang="zh-CN"/>
              <a:t> Cleaning </a:t>
            </a:r>
            <a:r>
              <a:rPr lang="en-US" altLang="en-US"/>
              <a:t>→</a:t>
            </a:r>
            <a:r>
              <a:rPr lang="en-US" altLang="zh-CN"/>
              <a:t> Feature Extraction </a:t>
            </a:r>
            <a:r>
              <a:rPr lang="en-US" altLang="en-US"/>
              <a:t>→</a:t>
            </a:r>
            <a:r>
              <a:rPr lang="en-US" altLang="zh-CN"/>
              <a:t> Modeling </a:t>
            </a:r>
            <a:r>
              <a:rPr lang="en-US" altLang="en-US"/>
              <a:t>→</a:t>
            </a:r>
            <a:r>
              <a:rPr lang="en-US" altLang="zh-CN"/>
              <a:t> Evaluation </a:t>
            </a:r>
            <a:r>
              <a:rPr lang="en-US" altLang="en-US"/>
              <a:t>→</a:t>
            </a:r>
            <a:r>
              <a:rPr lang="en-US" altLang="zh-CN"/>
              <a:t> Business Insights</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925" y="182245"/>
            <a:ext cx="8417312" cy="1325563"/>
          </a:xfrm>
        </p:spPr>
        <p:txBody>
          <a:bodyPr/>
          <a:lstStyle/>
          <a:p>
            <a:r>
              <a:rPr lang="en-US" altLang="zh-CN" dirty="0"/>
              <a:t> Descriptive Analytics Results</a:t>
            </a:r>
            <a:endParaRPr lang="en-US" altLang="zh-CN" dirty="0"/>
          </a:p>
        </p:txBody>
      </p:sp>
      <p:sp>
        <p:nvSpPr>
          <p:cNvPr id="4" name="文本框 3"/>
          <p:cNvSpPr txBox="1"/>
          <p:nvPr/>
        </p:nvSpPr>
        <p:spPr>
          <a:xfrm>
            <a:off x="114300" y="1675765"/>
            <a:ext cx="5713730" cy="3776980"/>
          </a:xfrm>
          <a:prstGeom prst="rect">
            <a:avLst/>
          </a:prstGeom>
          <a:noFill/>
        </p:spPr>
        <p:txBody>
          <a:bodyPr wrap="square" rtlCol="0" anchor="t">
            <a:noAutofit/>
          </a:bodyPr>
          <a:p>
            <a:r>
              <a:rPr lang="en-US" altLang="zh-CN" sz="2400"/>
              <a:t>• Ratings are heavily concentrated in 5 stars</a:t>
            </a:r>
            <a:endParaRPr lang="en-US" altLang="zh-CN" sz="2400"/>
          </a:p>
          <a:p>
            <a:endParaRPr lang="en-US" altLang="zh-CN" sz="2400"/>
          </a:p>
          <a:p>
            <a:r>
              <a:rPr lang="en-US" altLang="zh-CN" sz="2400"/>
              <a:t>• Higher price range </a:t>
            </a:r>
            <a:r>
              <a:rPr lang="en-US" altLang="en-US" sz="2400"/>
              <a:t>→</a:t>
            </a:r>
            <a:r>
              <a:rPr lang="en-US" altLang="zh-CN" sz="2400"/>
              <a:t> higher five-star rate</a:t>
            </a:r>
            <a:endParaRPr lang="en-US" altLang="zh-CN" sz="2400"/>
          </a:p>
          <a:p>
            <a:endParaRPr lang="en-US" altLang="zh-CN" sz="2400"/>
          </a:p>
          <a:p>
            <a:r>
              <a:rPr lang="en-US" altLang="zh-CN" sz="2400"/>
              <a:t>• Review volume varies by year</a:t>
            </a:r>
            <a:endParaRPr lang="en-US" altLang="zh-CN" sz="2400"/>
          </a:p>
          <a:p>
            <a:endParaRPr lang="en-US" altLang="zh-CN" sz="2400"/>
          </a:p>
          <a:p>
            <a:r>
              <a:rPr lang="en-US" altLang="zh-CN" sz="2400"/>
              <a:t>• The dataset is useful, but not a full historical record</a:t>
            </a:r>
            <a:endParaRPr lang="en-US" altLang="zh-CN" sz="2400"/>
          </a:p>
        </p:txBody>
      </p:sp>
      <p:pic>
        <p:nvPicPr>
          <p:cNvPr id="5" name="图片 4"/>
          <p:cNvPicPr>
            <a:picLocks noChangeAspect="1"/>
          </p:cNvPicPr>
          <p:nvPr/>
        </p:nvPicPr>
        <p:blipFill>
          <a:blip r:embed="rId1"/>
          <a:stretch>
            <a:fillRect/>
          </a:stretch>
        </p:blipFill>
        <p:spPr>
          <a:xfrm>
            <a:off x="5828030" y="1250950"/>
            <a:ext cx="4287520" cy="2414905"/>
          </a:xfrm>
          <a:prstGeom prst="rect">
            <a:avLst/>
          </a:prstGeom>
        </p:spPr>
      </p:pic>
      <p:pic>
        <p:nvPicPr>
          <p:cNvPr id="6" name="图片 5"/>
          <p:cNvPicPr>
            <a:picLocks noChangeAspect="1"/>
          </p:cNvPicPr>
          <p:nvPr/>
        </p:nvPicPr>
        <p:blipFill>
          <a:blip r:embed="rId2"/>
          <a:stretch>
            <a:fillRect/>
          </a:stretch>
        </p:blipFill>
        <p:spPr>
          <a:xfrm>
            <a:off x="5828030" y="3902075"/>
            <a:ext cx="4325620" cy="27324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Sentiment Analysis Results</a:t>
            </a:r>
            <a:endParaRPr lang="en-US" altLang="zh-CN"/>
          </a:p>
        </p:txBody>
      </p:sp>
      <p:sp>
        <p:nvSpPr>
          <p:cNvPr id="7" name="文本框 6"/>
          <p:cNvSpPr txBox="1"/>
          <p:nvPr/>
        </p:nvSpPr>
        <p:spPr>
          <a:xfrm rot="10800000">
            <a:off x="6490970" y="1786890"/>
            <a:ext cx="459740" cy="2398395"/>
          </a:xfrm>
          <a:prstGeom prst="rect">
            <a:avLst/>
          </a:prstGeom>
          <a:noFill/>
        </p:spPr>
        <p:txBody>
          <a:bodyPr vert="eaVert" wrap="square" rtlCol="0">
            <a:spAutoFit/>
          </a:bodyPr>
          <a:p>
            <a:r>
              <a:rPr lang="en-US" altLang="zh-CN"/>
              <a:t>FIve-star target </a:t>
            </a:r>
            <a:r>
              <a:rPr lang="en-US" altLang="zh-CN"/>
              <a:t>rating</a:t>
            </a:r>
            <a:endParaRPr lang="en-US" altLang="zh-CN"/>
          </a:p>
        </p:txBody>
      </p:sp>
      <p:sp>
        <p:nvSpPr>
          <p:cNvPr id="8" name="文本框 7"/>
          <p:cNvSpPr txBox="1"/>
          <p:nvPr/>
        </p:nvSpPr>
        <p:spPr>
          <a:xfrm>
            <a:off x="2106930" y="5154930"/>
            <a:ext cx="8503920" cy="1542415"/>
          </a:xfrm>
          <a:prstGeom prst="rect">
            <a:avLst/>
          </a:prstGeom>
          <a:noFill/>
        </p:spPr>
        <p:txBody>
          <a:bodyPr wrap="square" rtlCol="0" anchor="t">
            <a:noAutofit/>
          </a:bodyPr>
          <a:p>
            <a:r>
              <a:rPr lang="en-US" altLang="zh-CN" sz="2400"/>
              <a:t>• Sentiment score increases consistently as rating increases</a:t>
            </a:r>
            <a:endParaRPr lang="en-US" altLang="zh-CN" sz="2400"/>
          </a:p>
          <a:p>
            <a:r>
              <a:rPr lang="en-US" altLang="zh-CN" sz="2400"/>
              <a:t>• Low-rated reviews contain much more negative sentiment</a:t>
            </a:r>
            <a:endParaRPr lang="en-US" altLang="zh-CN" sz="2400"/>
          </a:p>
          <a:p>
            <a:r>
              <a:rPr lang="en-US" altLang="zh-CN" sz="2400"/>
              <a:t>• Positive sentiment dominates 4-star and 5-star reviews</a:t>
            </a:r>
            <a:endParaRPr lang="en-US" altLang="zh-CN" sz="2400"/>
          </a:p>
        </p:txBody>
      </p:sp>
      <p:sp>
        <p:nvSpPr>
          <p:cNvPr id="3" name="Content Placeholder 2"/>
          <p:cNvSpPr/>
          <p:nvPr>
            <p:ph idx="1"/>
          </p:nvPr>
        </p:nvSpPr>
        <p:spPr/>
        <p:txBody>
          <a:bodyPr/>
          <a:p>
            <a:endParaRPr lang="en-US"/>
          </a:p>
        </p:txBody>
      </p:sp>
      <p:pic>
        <p:nvPicPr>
          <p:cNvPr id="4" name="Picture 3" descr="sentiment_score_by_rating"/>
          <p:cNvPicPr>
            <a:picLocks noChangeAspect="1"/>
          </p:cNvPicPr>
          <p:nvPr/>
        </p:nvPicPr>
        <p:blipFill>
          <a:blip r:embed="rId1"/>
          <a:stretch>
            <a:fillRect/>
          </a:stretch>
        </p:blipFill>
        <p:spPr>
          <a:xfrm>
            <a:off x="273685" y="1539875"/>
            <a:ext cx="5617210" cy="3423920"/>
          </a:xfrm>
          <a:prstGeom prst="rect">
            <a:avLst/>
          </a:prstGeom>
        </p:spPr>
      </p:pic>
      <p:pic>
        <p:nvPicPr>
          <p:cNvPr id="9" name="Picture 8" descr="sentiment_label_mix_by_rating"/>
          <p:cNvPicPr>
            <a:picLocks noChangeAspect="1"/>
          </p:cNvPicPr>
          <p:nvPr/>
        </p:nvPicPr>
        <p:blipFill>
          <a:blip r:embed="rId2"/>
          <a:stretch>
            <a:fillRect/>
          </a:stretch>
        </p:blipFill>
        <p:spPr>
          <a:xfrm>
            <a:off x="6950710" y="1786890"/>
            <a:ext cx="5053330" cy="30816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Emotion Analysis Results</a:t>
            </a:r>
            <a:endParaRPr lang="en-US" altLang="zh-CN"/>
          </a:p>
        </p:txBody>
      </p:sp>
      <p:pic>
        <p:nvPicPr>
          <p:cNvPr id="4" name="内容占位符 3"/>
          <p:cNvPicPr>
            <a:picLocks noChangeAspect="1"/>
          </p:cNvPicPr>
          <p:nvPr>
            <p:ph idx="1"/>
          </p:nvPr>
        </p:nvPicPr>
        <p:blipFill>
          <a:blip r:embed="rId1"/>
          <a:stretch>
            <a:fillRect/>
          </a:stretch>
        </p:blipFill>
        <p:spPr>
          <a:xfrm>
            <a:off x="6026785" y="2025015"/>
            <a:ext cx="6025515" cy="3582035"/>
          </a:xfrm>
          <a:prstGeom prst="rect">
            <a:avLst/>
          </a:prstGeom>
        </p:spPr>
      </p:pic>
      <p:sp>
        <p:nvSpPr>
          <p:cNvPr id="9" name="文本框 8"/>
          <p:cNvSpPr txBox="1"/>
          <p:nvPr/>
        </p:nvSpPr>
        <p:spPr>
          <a:xfrm>
            <a:off x="218440" y="2025015"/>
            <a:ext cx="6096000" cy="3870960"/>
          </a:xfrm>
          <a:prstGeom prst="rect">
            <a:avLst/>
          </a:prstGeom>
          <a:noFill/>
        </p:spPr>
        <p:txBody>
          <a:bodyPr wrap="square" rtlCol="0" anchor="t">
            <a:noAutofit/>
          </a:bodyPr>
          <a:p>
            <a:r>
              <a:rPr lang="en-US" altLang="zh-CN" sz="2400"/>
              <a:t>• "Happy" emotion increases as rating increases</a:t>
            </a:r>
            <a:endParaRPr lang="en-US" altLang="zh-CN" sz="2400"/>
          </a:p>
          <a:p>
            <a:endParaRPr lang="en-US" altLang="zh-CN" sz="2400"/>
          </a:p>
          <a:p>
            <a:r>
              <a:rPr lang="en-US" altLang="zh-CN" sz="2400"/>
              <a:t>• "Anger", "Sad", and "Fear" decrease as rating increases</a:t>
            </a:r>
            <a:endParaRPr lang="en-US" altLang="zh-CN" sz="2400"/>
          </a:p>
          <a:p>
            <a:endParaRPr lang="en-US" altLang="zh-CN" sz="2400"/>
          </a:p>
          <a:p>
            <a:r>
              <a:rPr lang="en-US" altLang="zh-CN" sz="2400"/>
              <a:t>• Emotion features provide interpretable signals beyond polarity</a:t>
            </a:r>
            <a:endParaRPr lang="en-US" altLang="zh-CN"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Engineering and Modeling Setup</a:t>
            </a:r>
            <a:endParaRPr lang="en-US" dirty="0"/>
          </a:p>
        </p:txBody>
      </p:sp>
      <p:sp>
        <p:nvSpPr>
          <p:cNvPr id="4" name="Shape 1"/>
          <p:cNvSpPr/>
          <p:nvPr>
            <p:custDataLst>
              <p:tags r:id="rId1"/>
            </p:custDataLst>
          </p:nvPr>
        </p:nvSpPr>
        <p:spPr>
          <a:xfrm>
            <a:off x="908051" y="1713240"/>
            <a:ext cx="9455150" cy="3431520"/>
          </a:xfrm>
          <a:custGeom>
            <a:avLst/>
            <a:gdLst/>
            <a:ahLst/>
            <a:cxnLst/>
            <a:rect l="l" t="t" r="r" b="b"/>
            <a:pathLst>
              <a:path w="8311715" h="3574735">
                <a:moveTo>
                  <a:pt x="255784" y="0"/>
                </a:moveTo>
                <a:moveTo>
                  <a:pt x="255784" y="0"/>
                </a:moveTo>
                <a:lnTo>
                  <a:pt x="8055931" y="0"/>
                </a:lnTo>
                <a:quadBezTo>
                  <a:pt x="8311715" y="0"/>
                  <a:pt x="8311715" y="255784"/>
                </a:quadBezTo>
                <a:lnTo>
                  <a:pt x="8311715" y="3318951"/>
                </a:lnTo>
                <a:quadBezTo>
                  <a:pt x="8311715" y="3574735"/>
                  <a:pt x="8055931" y="3574735"/>
                </a:quadBezTo>
                <a:lnTo>
                  <a:pt x="255784" y="3574735"/>
                </a:lnTo>
                <a:quadBezTo>
                  <a:pt x="0" y="3574735"/>
                  <a:pt x="0" y="3318951"/>
                </a:quadBezTo>
                <a:lnTo>
                  <a:pt x="0" y="255784"/>
                </a:lnTo>
                <a:quadBezTo>
                  <a:pt x="0" y="0"/>
                  <a:pt x="255784" y="0"/>
                </a:quadBezTo>
                <a:close/>
              </a:path>
            </a:pathLst>
          </a:custGeom>
          <a:solidFill>
            <a:srgbClr val="FFFFFF"/>
          </a:solidFill>
          <a:effectLst>
            <a:outerShdw blurRad="19050" dist="38100" dir="2700000" algn="bl" rotWithShape="0">
              <a:srgbClr val="808080">
                <a:alpha val="14902"/>
              </a:srgbClr>
            </a:outerShdw>
          </a:effectLst>
        </p:spPr>
        <p:txBody>
          <a:bodyPr/>
          <a:lstStyle/>
          <a:p>
            <a:endParaRPr lang="zh-CN" altLang="en-US"/>
          </a:p>
        </p:txBody>
      </p:sp>
      <p:sp>
        <p:nvSpPr>
          <p:cNvPr id="5" name="Shape 2"/>
          <p:cNvSpPr/>
          <p:nvPr>
            <p:custDataLst>
              <p:tags r:id="rId2"/>
            </p:custDataLst>
          </p:nvPr>
        </p:nvSpPr>
        <p:spPr>
          <a:xfrm>
            <a:off x="1595985" y="2659510"/>
            <a:ext cx="2295442" cy="626033"/>
          </a:xfrm>
          <a:custGeom>
            <a:avLst/>
            <a:gdLst/>
            <a:ahLst/>
            <a:cxnLst/>
            <a:rect l="l" t="t" r="r" b="b"/>
            <a:pathLst>
              <a:path w="2295442" h="626033">
                <a:moveTo>
                  <a:pt x="267010" y="0"/>
                </a:moveTo>
                <a:moveTo>
                  <a:pt x="267010" y="0"/>
                </a:moveTo>
                <a:lnTo>
                  <a:pt x="2028431" y="0"/>
                </a:lnTo>
                <a:quadBezTo>
                  <a:pt x="2295442" y="0"/>
                  <a:pt x="2295442" y="313016"/>
                </a:quadBezTo>
                <a:lnTo>
                  <a:pt x="2295442" y="313016"/>
                </a:lnTo>
                <a:quadBezTo>
                  <a:pt x="2295442" y="626033"/>
                  <a:pt x="2028431" y="626033"/>
                </a:quadBezTo>
                <a:lnTo>
                  <a:pt x="267010" y="626033"/>
                </a:lnTo>
                <a:quadBezTo>
                  <a:pt x="0" y="626033"/>
                  <a:pt x="0" y="313016"/>
                </a:quadBezTo>
                <a:lnTo>
                  <a:pt x="0" y="313016"/>
                </a:lnTo>
                <a:quadBezTo>
                  <a:pt x="0" y="0"/>
                  <a:pt x="267010" y="0"/>
                </a:quadBezTo>
                <a:close/>
              </a:path>
            </a:pathLst>
          </a:custGeom>
          <a:solidFill>
            <a:schemeClr val="accent2"/>
          </a:solidFill>
        </p:spPr>
        <p:txBody>
          <a:bodyPr/>
          <a:lstStyle/>
          <a:p>
            <a:endParaRPr lang="zh-CN" altLang="en-US"/>
          </a:p>
        </p:txBody>
      </p:sp>
      <p:sp>
        <p:nvSpPr>
          <p:cNvPr id="6" name="Shape 3"/>
          <p:cNvSpPr/>
          <p:nvPr>
            <p:custDataLst>
              <p:tags r:id="rId3"/>
            </p:custDataLst>
          </p:nvPr>
        </p:nvSpPr>
        <p:spPr>
          <a:xfrm>
            <a:off x="1694310" y="3513299"/>
            <a:ext cx="2098790" cy="45720"/>
          </a:xfrm>
          <a:custGeom>
            <a:avLst/>
            <a:gdLst/>
            <a:ahLst/>
            <a:cxnLst/>
            <a:rect l="l" t="t" r="r" b="b"/>
            <a:pathLst>
              <a:path w="2098790" h="45720">
                <a:moveTo>
                  <a:pt x="0" y="0"/>
                </a:moveTo>
                <a:moveTo>
                  <a:pt x="0" y="0"/>
                </a:moveTo>
                <a:lnTo>
                  <a:pt x="2098790" y="0"/>
                </a:lnTo>
              </a:path>
            </a:pathLst>
          </a:custGeom>
          <a:noFill/>
          <a:ln w="9525">
            <a:solidFill>
              <a:srgbClr val="7C3FF9">
                <a:alpha val="21961"/>
              </a:srgbClr>
            </a:solidFill>
            <a:prstDash val="solid"/>
            <a:headEnd type="none"/>
            <a:tailEnd type="none"/>
          </a:ln>
        </p:spPr>
        <p:txBody>
          <a:bodyPr/>
          <a:lstStyle/>
          <a:p>
            <a:endParaRPr lang="zh-CN" altLang="en-US"/>
          </a:p>
        </p:txBody>
      </p:sp>
      <p:pic>
        <p:nvPicPr>
          <p:cNvPr id="7" name="Image 1"/>
          <p:cNvPicPr>
            <a:picLocks noChangeAspect="1"/>
          </p:cNvPicPr>
          <p:nvPr>
            <p:custDataLst>
              <p:tags r:id="rId4"/>
            </p:custDataLst>
          </p:nvPr>
        </p:nvPicPr>
        <p:blipFill>
          <a:blip r:embed="rId5"/>
          <a:stretch>
            <a:fillRect/>
          </a:stretch>
        </p:blipFill>
        <p:spPr>
          <a:xfrm>
            <a:off x="1700898" y="2082092"/>
            <a:ext cx="2085615" cy="485978"/>
          </a:xfrm>
          <a:prstGeom prst="rect">
            <a:avLst/>
          </a:prstGeom>
        </p:spPr>
      </p:pic>
      <p:sp>
        <p:nvSpPr>
          <p:cNvPr id="8" name="Shape 4"/>
          <p:cNvSpPr/>
          <p:nvPr>
            <p:custDataLst>
              <p:tags r:id="rId6"/>
            </p:custDataLst>
          </p:nvPr>
        </p:nvSpPr>
        <p:spPr>
          <a:xfrm>
            <a:off x="4524753" y="2659510"/>
            <a:ext cx="2295442" cy="626033"/>
          </a:xfrm>
          <a:custGeom>
            <a:avLst/>
            <a:gdLst/>
            <a:ahLst/>
            <a:cxnLst/>
            <a:rect l="l" t="t" r="r" b="b"/>
            <a:pathLst>
              <a:path w="2295442" h="626033">
                <a:moveTo>
                  <a:pt x="267010" y="0"/>
                </a:moveTo>
                <a:moveTo>
                  <a:pt x="267010" y="0"/>
                </a:moveTo>
                <a:lnTo>
                  <a:pt x="2028431" y="0"/>
                </a:lnTo>
                <a:quadBezTo>
                  <a:pt x="2295442" y="0"/>
                  <a:pt x="2295442" y="313016"/>
                </a:quadBezTo>
                <a:lnTo>
                  <a:pt x="2295442" y="313016"/>
                </a:lnTo>
                <a:quadBezTo>
                  <a:pt x="2295442" y="626033"/>
                  <a:pt x="2028431" y="626033"/>
                </a:quadBezTo>
                <a:lnTo>
                  <a:pt x="267010" y="626033"/>
                </a:lnTo>
                <a:quadBezTo>
                  <a:pt x="0" y="626033"/>
                  <a:pt x="0" y="313016"/>
                </a:quadBezTo>
                <a:lnTo>
                  <a:pt x="0" y="313016"/>
                </a:lnTo>
                <a:quadBezTo>
                  <a:pt x="0" y="0"/>
                  <a:pt x="267010" y="0"/>
                </a:quadBezTo>
                <a:close/>
              </a:path>
            </a:pathLst>
          </a:custGeom>
          <a:solidFill>
            <a:schemeClr val="accent2"/>
          </a:solidFill>
        </p:spPr>
        <p:txBody>
          <a:bodyPr/>
          <a:lstStyle/>
          <a:p>
            <a:endParaRPr lang="zh-CN" altLang="en-US"/>
          </a:p>
        </p:txBody>
      </p:sp>
      <p:sp>
        <p:nvSpPr>
          <p:cNvPr id="9" name="Shape 5"/>
          <p:cNvSpPr/>
          <p:nvPr>
            <p:custDataLst>
              <p:tags r:id="rId7"/>
            </p:custDataLst>
          </p:nvPr>
        </p:nvSpPr>
        <p:spPr>
          <a:xfrm>
            <a:off x="4623079" y="3513299"/>
            <a:ext cx="2098790" cy="45720"/>
          </a:xfrm>
          <a:custGeom>
            <a:avLst/>
            <a:gdLst/>
            <a:ahLst/>
            <a:cxnLst/>
            <a:rect l="l" t="t" r="r" b="b"/>
            <a:pathLst>
              <a:path w="2098790" h="45720">
                <a:moveTo>
                  <a:pt x="0" y="0"/>
                </a:moveTo>
                <a:moveTo>
                  <a:pt x="0" y="0"/>
                </a:moveTo>
                <a:lnTo>
                  <a:pt x="2098790" y="0"/>
                </a:lnTo>
              </a:path>
            </a:pathLst>
          </a:custGeom>
          <a:noFill/>
          <a:ln w="9525">
            <a:solidFill>
              <a:srgbClr val="7C3FF9">
                <a:alpha val="21961"/>
              </a:srgbClr>
            </a:solidFill>
            <a:prstDash val="solid"/>
            <a:headEnd type="none"/>
            <a:tailEnd type="none"/>
          </a:ln>
        </p:spPr>
        <p:txBody>
          <a:bodyPr/>
          <a:lstStyle/>
          <a:p>
            <a:endParaRPr lang="zh-CN" altLang="en-US"/>
          </a:p>
        </p:txBody>
      </p:sp>
      <p:pic>
        <p:nvPicPr>
          <p:cNvPr id="10" name="Image 2"/>
          <p:cNvPicPr>
            <a:picLocks noChangeAspect="1"/>
          </p:cNvPicPr>
          <p:nvPr>
            <p:custDataLst>
              <p:tags r:id="rId8"/>
            </p:custDataLst>
          </p:nvPr>
        </p:nvPicPr>
        <p:blipFill>
          <a:blip r:embed="rId5"/>
          <a:stretch>
            <a:fillRect/>
          </a:stretch>
        </p:blipFill>
        <p:spPr>
          <a:xfrm>
            <a:off x="4629666" y="2082092"/>
            <a:ext cx="2085615" cy="485978"/>
          </a:xfrm>
          <a:prstGeom prst="rect">
            <a:avLst/>
          </a:prstGeom>
        </p:spPr>
      </p:pic>
      <p:sp>
        <p:nvSpPr>
          <p:cNvPr id="11" name="Shape 6"/>
          <p:cNvSpPr/>
          <p:nvPr>
            <p:custDataLst>
              <p:tags r:id="rId9"/>
            </p:custDataLst>
          </p:nvPr>
        </p:nvSpPr>
        <p:spPr>
          <a:xfrm>
            <a:off x="7436974" y="2659510"/>
            <a:ext cx="2295442" cy="626033"/>
          </a:xfrm>
          <a:custGeom>
            <a:avLst/>
            <a:gdLst/>
            <a:ahLst/>
            <a:cxnLst/>
            <a:rect l="l" t="t" r="r" b="b"/>
            <a:pathLst>
              <a:path w="2295442" h="626033">
                <a:moveTo>
                  <a:pt x="267010" y="0"/>
                </a:moveTo>
                <a:moveTo>
                  <a:pt x="267010" y="0"/>
                </a:moveTo>
                <a:lnTo>
                  <a:pt x="2028431" y="0"/>
                </a:lnTo>
                <a:quadBezTo>
                  <a:pt x="2295442" y="0"/>
                  <a:pt x="2295442" y="313016"/>
                </a:quadBezTo>
                <a:lnTo>
                  <a:pt x="2295442" y="313016"/>
                </a:lnTo>
                <a:quadBezTo>
                  <a:pt x="2295442" y="626033"/>
                  <a:pt x="2028431" y="626033"/>
                </a:quadBezTo>
                <a:lnTo>
                  <a:pt x="267010" y="626033"/>
                </a:lnTo>
                <a:quadBezTo>
                  <a:pt x="0" y="626033"/>
                  <a:pt x="0" y="313016"/>
                </a:quadBezTo>
                <a:lnTo>
                  <a:pt x="0" y="313016"/>
                </a:lnTo>
                <a:quadBezTo>
                  <a:pt x="0" y="0"/>
                  <a:pt x="267010" y="0"/>
                </a:quadBezTo>
                <a:close/>
              </a:path>
            </a:pathLst>
          </a:custGeom>
          <a:solidFill>
            <a:schemeClr val="accent2"/>
          </a:solidFill>
        </p:spPr>
        <p:txBody>
          <a:bodyPr/>
          <a:lstStyle/>
          <a:p>
            <a:endParaRPr lang="zh-CN" altLang="en-US"/>
          </a:p>
        </p:txBody>
      </p:sp>
      <p:sp>
        <p:nvSpPr>
          <p:cNvPr id="12" name="Shape 7"/>
          <p:cNvSpPr/>
          <p:nvPr>
            <p:custDataLst>
              <p:tags r:id="rId10"/>
            </p:custDataLst>
          </p:nvPr>
        </p:nvSpPr>
        <p:spPr>
          <a:xfrm>
            <a:off x="7535299" y="3513299"/>
            <a:ext cx="2098790" cy="45720"/>
          </a:xfrm>
          <a:custGeom>
            <a:avLst/>
            <a:gdLst/>
            <a:ahLst/>
            <a:cxnLst/>
            <a:rect l="l" t="t" r="r" b="b"/>
            <a:pathLst>
              <a:path w="2098790" h="45720">
                <a:moveTo>
                  <a:pt x="0" y="0"/>
                </a:moveTo>
                <a:moveTo>
                  <a:pt x="0" y="0"/>
                </a:moveTo>
                <a:lnTo>
                  <a:pt x="2098790" y="0"/>
                </a:lnTo>
              </a:path>
            </a:pathLst>
          </a:custGeom>
          <a:noFill/>
          <a:ln w="9525">
            <a:solidFill>
              <a:srgbClr val="7C3FF9">
                <a:alpha val="21961"/>
              </a:srgbClr>
            </a:solidFill>
            <a:prstDash val="solid"/>
            <a:headEnd type="none"/>
            <a:tailEnd type="none"/>
          </a:ln>
        </p:spPr>
        <p:txBody>
          <a:bodyPr/>
          <a:lstStyle/>
          <a:p>
            <a:endParaRPr lang="zh-CN" altLang="en-US"/>
          </a:p>
        </p:txBody>
      </p:sp>
      <p:pic>
        <p:nvPicPr>
          <p:cNvPr id="13" name="Image 3"/>
          <p:cNvPicPr>
            <a:picLocks noChangeAspect="1"/>
          </p:cNvPicPr>
          <p:nvPr>
            <p:custDataLst>
              <p:tags r:id="rId11"/>
            </p:custDataLst>
          </p:nvPr>
        </p:nvPicPr>
        <p:blipFill>
          <a:blip r:embed="rId5"/>
          <a:stretch>
            <a:fillRect/>
          </a:stretch>
        </p:blipFill>
        <p:spPr>
          <a:xfrm>
            <a:off x="7541887" y="2082092"/>
            <a:ext cx="2085615" cy="485978"/>
          </a:xfrm>
          <a:prstGeom prst="rect">
            <a:avLst/>
          </a:prstGeom>
        </p:spPr>
      </p:pic>
      <p:sp>
        <p:nvSpPr>
          <p:cNvPr id="14" name="Text 8"/>
          <p:cNvSpPr/>
          <p:nvPr>
            <p:custDataLst>
              <p:tags r:id="rId12"/>
            </p:custDataLst>
          </p:nvPr>
        </p:nvSpPr>
        <p:spPr>
          <a:xfrm>
            <a:off x="1640159" y="1713240"/>
            <a:ext cx="2207094" cy="1071062"/>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spcBef>
                <a:spcPts val="360"/>
              </a:spcBef>
              <a:buNone/>
            </a:pPr>
            <a:r>
              <a:rPr lang="en-US" sz="5760" b="1" i="1" dirty="0">
                <a:solidFill>
                  <a:schemeClr val="accent2"/>
                </a:solidFill>
                <a:latin typeface="Microsoft Yahei" pitchFamily="34" charset="0"/>
                <a:ea typeface="Microsoft YaHei" charset="-122"/>
                <a:cs typeface="Microsoft Yahei" pitchFamily="34" charset="-120"/>
              </a:rPr>
              <a:t>1</a:t>
            </a:r>
            <a:endParaRPr lang="en-US" sz="1440" dirty="0">
              <a:solidFill>
                <a:schemeClr val="accent2"/>
              </a:solidFill>
            </a:endParaRPr>
          </a:p>
        </p:txBody>
      </p:sp>
      <p:sp>
        <p:nvSpPr>
          <p:cNvPr id="15" name="Text 9"/>
          <p:cNvSpPr/>
          <p:nvPr>
            <p:custDataLst>
              <p:tags r:id="rId13"/>
            </p:custDataLst>
          </p:nvPr>
        </p:nvSpPr>
        <p:spPr>
          <a:xfrm>
            <a:off x="4568927" y="1713240"/>
            <a:ext cx="2207094" cy="1071062"/>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spcBef>
                <a:spcPts val="360"/>
              </a:spcBef>
              <a:buNone/>
            </a:pPr>
            <a:r>
              <a:rPr lang="en-US" sz="5760" b="1" i="1" dirty="0">
                <a:solidFill>
                  <a:schemeClr val="accent2"/>
                </a:solidFill>
                <a:latin typeface="Microsoft Yahei" pitchFamily="34" charset="0"/>
                <a:ea typeface="Microsoft YaHei" charset="-122"/>
                <a:cs typeface="Microsoft Yahei" pitchFamily="34" charset="-120"/>
              </a:rPr>
              <a:t>2</a:t>
            </a:r>
            <a:endParaRPr lang="en-US" sz="1440" dirty="0">
              <a:solidFill>
                <a:schemeClr val="accent2"/>
              </a:solidFill>
            </a:endParaRPr>
          </a:p>
        </p:txBody>
      </p:sp>
      <p:sp>
        <p:nvSpPr>
          <p:cNvPr id="16" name="Text 10"/>
          <p:cNvSpPr/>
          <p:nvPr>
            <p:custDataLst>
              <p:tags r:id="rId14"/>
            </p:custDataLst>
          </p:nvPr>
        </p:nvSpPr>
        <p:spPr>
          <a:xfrm>
            <a:off x="7481148" y="1713240"/>
            <a:ext cx="2207094" cy="1071062"/>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0000"/>
              </a:lnSpc>
              <a:spcBef>
                <a:spcPts val="360"/>
              </a:spcBef>
              <a:buNone/>
            </a:pPr>
            <a:r>
              <a:rPr lang="en-US" sz="5760" b="1" i="1" dirty="0">
                <a:solidFill>
                  <a:schemeClr val="accent2"/>
                </a:solidFill>
                <a:latin typeface="Microsoft Yahei" pitchFamily="34" charset="0"/>
                <a:ea typeface="Microsoft YaHei" charset="-122"/>
                <a:cs typeface="Microsoft Yahei" pitchFamily="34" charset="-120"/>
              </a:rPr>
              <a:t>3</a:t>
            </a:r>
            <a:endParaRPr lang="en-US" sz="1440" dirty="0">
              <a:solidFill>
                <a:schemeClr val="accent2"/>
              </a:solidFill>
            </a:endParaRPr>
          </a:p>
        </p:txBody>
      </p:sp>
      <p:pic>
        <p:nvPicPr>
          <p:cNvPr id="17" name="Image 4"/>
          <p:cNvPicPr>
            <a:picLocks noChangeAspect="1"/>
          </p:cNvPicPr>
          <p:nvPr>
            <p:custDataLst>
              <p:tags r:id="rId15"/>
            </p:custDataLst>
          </p:nvPr>
        </p:nvPicPr>
        <p:blipFill>
          <a:blip r:embed="rId16"/>
          <a:stretch>
            <a:fillRect/>
          </a:stretch>
        </p:blipFill>
        <p:spPr>
          <a:xfrm>
            <a:off x="1700898" y="2170440"/>
            <a:ext cx="8054670" cy="419652"/>
          </a:xfrm>
          <a:prstGeom prst="rect">
            <a:avLst/>
          </a:prstGeom>
        </p:spPr>
      </p:pic>
      <p:sp>
        <p:nvSpPr>
          <p:cNvPr id="18" name="Text 11"/>
          <p:cNvSpPr/>
          <p:nvPr>
            <p:custDataLst>
              <p:tags r:id="rId17"/>
            </p:custDataLst>
          </p:nvPr>
        </p:nvSpPr>
        <p:spPr>
          <a:xfrm>
            <a:off x="1595985" y="2785075"/>
            <a:ext cx="2295442" cy="374904"/>
          </a:xfrm>
          <a:prstGeom prst="rect">
            <a:avLst/>
          </a:prstGeom>
          <a:noFill/>
        </p:spPr>
        <p:txBody>
          <a:bodyPr wrap="square" lIns="91440" tIns="91440" rIns="91440" bIns="9144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2000"/>
              </a:lnSpc>
              <a:spcBef>
                <a:spcPts val="360"/>
              </a:spcBef>
              <a:buNone/>
            </a:pPr>
            <a:r>
              <a:rPr lang="en-US" sz="1295" b="1" dirty="0">
                <a:solidFill>
                  <a:srgbClr val="FFFFFF"/>
                </a:solidFill>
                <a:latin typeface="Microsoft Yahei" pitchFamily="34" charset="0"/>
                <a:ea typeface="Microsoft YaHei" charset="-122"/>
                <a:cs typeface="Microsoft Yahei" pitchFamily="34" charset="-120"/>
              </a:rPr>
              <a:t>Metadata Features</a:t>
            </a:r>
            <a:endParaRPr lang="en-US" sz="1440" dirty="0"/>
          </a:p>
        </p:txBody>
      </p:sp>
      <p:sp>
        <p:nvSpPr>
          <p:cNvPr id="19" name="Text 12"/>
          <p:cNvSpPr/>
          <p:nvPr>
            <p:custDataLst>
              <p:tags r:id="rId18"/>
            </p:custDataLst>
          </p:nvPr>
        </p:nvSpPr>
        <p:spPr>
          <a:xfrm>
            <a:off x="1526061" y="3493889"/>
            <a:ext cx="2435288" cy="1432380"/>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31000"/>
              </a:lnSpc>
              <a:spcBef>
                <a:spcPts val="360"/>
              </a:spcBef>
              <a:buNone/>
            </a:pPr>
            <a:r>
              <a:rPr lang="en-US" altLang="zh-CN" sz="1050" dirty="0"/>
              <a:t>Reviewer activity, time information, price range, reservation status, and restaurant location were used as structured metadata features. These variables provide useful non-text context for rating prediction.</a:t>
            </a:r>
            <a:endParaRPr lang="en-US" sz="1440" dirty="0"/>
          </a:p>
        </p:txBody>
      </p:sp>
      <p:sp>
        <p:nvSpPr>
          <p:cNvPr id="20" name="Text 13"/>
          <p:cNvSpPr/>
          <p:nvPr>
            <p:custDataLst>
              <p:tags r:id="rId19"/>
            </p:custDataLst>
          </p:nvPr>
        </p:nvSpPr>
        <p:spPr>
          <a:xfrm>
            <a:off x="4524753" y="2785075"/>
            <a:ext cx="2295442" cy="374904"/>
          </a:xfrm>
          <a:prstGeom prst="rect">
            <a:avLst/>
          </a:prstGeom>
          <a:noFill/>
        </p:spPr>
        <p:txBody>
          <a:bodyPr wrap="square" lIns="91440" tIns="91440" rIns="91440" bIns="9144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2000"/>
              </a:lnSpc>
              <a:spcBef>
                <a:spcPts val="360"/>
              </a:spcBef>
              <a:buNone/>
            </a:pPr>
            <a:r>
              <a:rPr lang="en-US" sz="1295" b="1" dirty="0">
                <a:solidFill>
                  <a:srgbClr val="FFFFFF"/>
                </a:solidFill>
                <a:latin typeface="Microsoft Yahei" pitchFamily="34" charset="0"/>
                <a:ea typeface="Microsoft YaHei" charset="-122"/>
                <a:cs typeface="Microsoft Yahei" pitchFamily="34" charset="-120"/>
              </a:rPr>
              <a:t>Text Features</a:t>
            </a:r>
            <a:endParaRPr lang="en-US" sz="1440" dirty="0"/>
          </a:p>
        </p:txBody>
      </p:sp>
      <p:sp>
        <p:nvSpPr>
          <p:cNvPr id="21" name="Text 14"/>
          <p:cNvSpPr/>
          <p:nvPr>
            <p:custDataLst>
              <p:tags r:id="rId20"/>
            </p:custDataLst>
          </p:nvPr>
        </p:nvSpPr>
        <p:spPr>
          <a:xfrm>
            <a:off x="4443980" y="3561341"/>
            <a:ext cx="2568506" cy="977640"/>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31000"/>
              </a:lnSpc>
              <a:spcBef>
                <a:spcPts val="360"/>
              </a:spcBef>
              <a:buNone/>
            </a:pPr>
            <a:r>
              <a:rPr lang="en-US" sz="1010" dirty="0">
                <a:solidFill>
                  <a:srgbClr val="00070F"/>
                </a:solidFill>
                <a:latin typeface="Arial" panose="020B0704020202090204" pitchFamily="34" charset="0"/>
                <a:ea typeface="Microsoft YaHei" charset="-122"/>
                <a:cs typeface="Arial" panose="020B0704020202090204" pitchFamily="34" charset="0"/>
              </a:rPr>
              <a:t>Cleaned review text was transformed into TF-IDF features to capture important opinion words and recurring textual patterns in customer comments.</a:t>
            </a:r>
            <a:endParaRPr lang="en-US" sz="1440" dirty="0">
              <a:latin typeface="Arial" panose="020B0704020202090204" pitchFamily="34" charset="0"/>
              <a:cs typeface="Arial" panose="020B0704020202090204" pitchFamily="34" charset="0"/>
            </a:endParaRPr>
          </a:p>
        </p:txBody>
      </p:sp>
      <p:sp>
        <p:nvSpPr>
          <p:cNvPr id="22" name="Text 15"/>
          <p:cNvSpPr/>
          <p:nvPr>
            <p:custDataLst>
              <p:tags r:id="rId21"/>
            </p:custDataLst>
          </p:nvPr>
        </p:nvSpPr>
        <p:spPr>
          <a:xfrm>
            <a:off x="7436974" y="2785075"/>
            <a:ext cx="2295442" cy="374904"/>
          </a:xfrm>
          <a:prstGeom prst="rect">
            <a:avLst/>
          </a:prstGeom>
          <a:noFill/>
        </p:spPr>
        <p:txBody>
          <a:bodyPr wrap="square" lIns="91440" tIns="91440" rIns="91440" bIns="9144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02000"/>
              </a:lnSpc>
              <a:spcBef>
                <a:spcPts val="360"/>
              </a:spcBef>
              <a:buNone/>
            </a:pPr>
            <a:r>
              <a:rPr lang="en-US" sz="1295" b="1" dirty="0">
                <a:solidFill>
                  <a:srgbClr val="FFFFFF"/>
                </a:solidFill>
                <a:latin typeface="Microsoft Yahei" pitchFamily="34" charset="0"/>
                <a:ea typeface="Microsoft YaHei" charset="-122"/>
                <a:cs typeface="Microsoft Yahei" pitchFamily="34" charset="-120"/>
              </a:rPr>
              <a:t>Sentiment &amp; Emotion Features</a:t>
            </a:r>
            <a:endParaRPr lang="en-US" sz="1440" dirty="0"/>
          </a:p>
        </p:txBody>
      </p:sp>
      <p:sp>
        <p:nvSpPr>
          <p:cNvPr id="23" name="Text 16"/>
          <p:cNvSpPr/>
          <p:nvPr>
            <p:custDataLst>
              <p:tags r:id="rId22"/>
            </p:custDataLst>
          </p:nvPr>
        </p:nvSpPr>
        <p:spPr>
          <a:xfrm>
            <a:off x="7365274" y="3493410"/>
            <a:ext cx="2438839" cy="1220719"/>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31000"/>
              </a:lnSpc>
              <a:spcBef>
                <a:spcPts val="360"/>
              </a:spcBef>
              <a:buNone/>
            </a:pPr>
            <a:r>
              <a:rPr lang="en-US" altLang="zh-CN" sz="1050" dirty="0"/>
              <a:t>We extracted lexicon sentiment scores, sentiment-related counts, VADER scores, and NRC emotion ratios to capture both overall polarity and finer emotional signals.</a:t>
            </a:r>
            <a:endParaRPr lang="en-US" sz="1440" dirty="0"/>
          </a:p>
        </p:txBody>
      </p:sp>
      <p:sp>
        <p:nvSpPr>
          <p:cNvPr id="24" name="文本框 23"/>
          <p:cNvSpPr txBox="1"/>
          <p:nvPr/>
        </p:nvSpPr>
        <p:spPr>
          <a:xfrm>
            <a:off x="1196340" y="5537032"/>
            <a:ext cx="9654540" cy="584775"/>
          </a:xfrm>
          <a:prstGeom prst="rect">
            <a:avLst/>
          </a:prstGeom>
          <a:noFill/>
        </p:spPr>
        <p:txBody>
          <a:bodyPr wrap="square" rtlCol="0">
            <a:spAutoFit/>
          </a:bodyPr>
          <a:lstStyle/>
          <a:p>
            <a:r>
              <a:rPr lang="en-US" altLang="zh-CN" sz="1600" dirty="0"/>
              <a:t>The task was defined as binary classification: five-star versus non-five-star reviews. We used an 80/20 train-test split, 5-fold cross-validation, and Macro-F1 as the main evaluation metric.</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Models Compared</a:t>
            </a:r>
            <a:endParaRPr lang="zh-CN" dirty="0"/>
          </a:p>
        </p:txBody>
      </p:sp>
      <p:sp>
        <p:nvSpPr>
          <p:cNvPr id="7" name="Shape 1"/>
          <p:cNvSpPr/>
          <p:nvPr/>
        </p:nvSpPr>
        <p:spPr>
          <a:xfrm>
            <a:off x="3076494" y="3728656"/>
            <a:ext cx="890007" cy="890007"/>
          </a:xfrm>
          <a:custGeom>
            <a:avLst/>
            <a:gdLst/>
            <a:ahLst/>
            <a:cxnLst/>
            <a:rect l="l" t="t" r="r" b="b"/>
            <a:pathLst>
              <a:path w="890007" h="890007">
                <a:moveTo>
                  <a:pt x="445004" y="0"/>
                </a:moveTo>
                <a:moveTo>
                  <a:pt x="445004" y="0"/>
                </a:moveTo>
                <a:cubicBezTo>
                  <a:pt x="690608" y="0"/>
                  <a:pt x="890007" y="199399"/>
                  <a:pt x="890007" y="445004"/>
                </a:cubicBezTo>
                <a:cubicBezTo>
                  <a:pt x="890007" y="690608"/>
                  <a:pt x="690608" y="890007"/>
                  <a:pt x="445004" y="890007"/>
                </a:cubicBezTo>
                <a:cubicBezTo>
                  <a:pt x="199399" y="890007"/>
                  <a:pt x="0" y="690608"/>
                  <a:pt x="0" y="445004"/>
                </a:cubicBezTo>
                <a:cubicBezTo>
                  <a:pt x="0" y="199399"/>
                  <a:pt x="199399" y="0"/>
                  <a:pt x="445004" y="0"/>
                </a:cubicBezTo>
                <a:close/>
              </a:path>
            </a:pathLst>
          </a:custGeom>
          <a:solidFill>
            <a:schemeClr val="accent2"/>
          </a:solidFill>
        </p:spPr>
        <p:txBody>
          <a:bodyPr/>
          <a:lstStyle/>
          <a:p>
            <a:endParaRPr lang="zh-CN" altLang="en-US"/>
          </a:p>
        </p:txBody>
      </p:sp>
      <p:pic>
        <p:nvPicPr>
          <p:cNvPr id="8" name="Image 2"/>
          <p:cNvPicPr>
            <a:picLocks noChangeAspect="1"/>
          </p:cNvPicPr>
          <p:nvPr/>
        </p:nvPicPr>
        <p:blipFill>
          <a:blip r:embed="rId1"/>
          <a:stretch>
            <a:fillRect/>
          </a:stretch>
        </p:blipFill>
        <p:spPr>
          <a:xfrm>
            <a:off x="3292097" y="3944259"/>
            <a:ext cx="458801" cy="458801"/>
          </a:xfrm>
          <a:prstGeom prst="rect">
            <a:avLst/>
          </a:prstGeom>
        </p:spPr>
      </p:pic>
      <p:sp>
        <p:nvSpPr>
          <p:cNvPr id="12" name="Text 3"/>
          <p:cNvSpPr/>
          <p:nvPr/>
        </p:nvSpPr>
        <p:spPr>
          <a:xfrm>
            <a:off x="965411" y="1638530"/>
            <a:ext cx="3370521" cy="406265"/>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ct val="100000"/>
              </a:lnSpc>
              <a:spcBef>
                <a:spcPts val="360"/>
              </a:spcBef>
              <a:buNone/>
            </a:pPr>
            <a:r>
              <a:rPr lang="en-US" sz="1440" b="1" dirty="0">
                <a:solidFill>
                  <a:schemeClr val="accent2"/>
                </a:solidFill>
                <a:latin typeface="Microsoft Yahei" pitchFamily="34" charset="0"/>
                <a:ea typeface="Microsoft YaHei" charset="-122"/>
                <a:cs typeface="Microsoft Yahei" pitchFamily="34" charset="-120"/>
              </a:rPr>
              <a:t>Metadata-only Baselines</a:t>
            </a:r>
            <a:endParaRPr lang="en-US" sz="1440" dirty="0">
              <a:solidFill>
                <a:schemeClr val="accent2"/>
              </a:solidFill>
            </a:endParaRPr>
          </a:p>
        </p:txBody>
      </p:sp>
      <p:sp>
        <p:nvSpPr>
          <p:cNvPr id="13" name="Text 4"/>
          <p:cNvSpPr/>
          <p:nvPr/>
        </p:nvSpPr>
        <p:spPr>
          <a:xfrm>
            <a:off x="965411" y="1963130"/>
            <a:ext cx="3370521" cy="797398"/>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ct val="131000"/>
              </a:lnSpc>
              <a:buNone/>
            </a:pPr>
            <a:r>
              <a:rPr lang="en-US" altLang="zh-CN" sz="1050" dirty="0"/>
              <a:t>We first trained KNN, Random Forest, and Boosting models using only metadata features. These models provide a baseline without using review text.</a:t>
            </a:r>
            <a:endParaRPr lang="en-US" sz="1440" dirty="0"/>
          </a:p>
        </p:txBody>
      </p:sp>
      <p:sp>
        <p:nvSpPr>
          <p:cNvPr id="14" name="Text 5"/>
          <p:cNvSpPr/>
          <p:nvPr/>
        </p:nvSpPr>
        <p:spPr>
          <a:xfrm>
            <a:off x="7260725" y="1629881"/>
            <a:ext cx="3390968" cy="406265"/>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0000"/>
              </a:lnSpc>
              <a:spcBef>
                <a:spcPts val="360"/>
              </a:spcBef>
              <a:buNone/>
            </a:pPr>
            <a:r>
              <a:rPr lang="en-US" sz="1440" b="1" dirty="0">
                <a:solidFill>
                  <a:schemeClr val="accent2"/>
                </a:solidFill>
                <a:latin typeface="Microsoft Yahei" pitchFamily="34" charset="0"/>
                <a:ea typeface="Microsoft YaHei" charset="-122"/>
                <a:cs typeface="Microsoft Yahei" pitchFamily="34" charset="-120"/>
              </a:rPr>
              <a:t>Sentiment/Emotion-only Models</a:t>
            </a:r>
            <a:endParaRPr lang="en-US" sz="1440" dirty="0">
              <a:solidFill>
                <a:schemeClr val="accent2"/>
              </a:solidFill>
            </a:endParaRPr>
          </a:p>
        </p:txBody>
      </p:sp>
      <p:sp>
        <p:nvSpPr>
          <p:cNvPr id="15" name="Text 6"/>
          <p:cNvSpPr/>
          <p:nvPr/>
        </p:nvSpPr>
        <p:spPr>
          <a:xfrm>
            <a:off x="7292786" y="1954459"/>
            <a:ext cx="3390968" cy="1028700"/>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1000"/>
              </a:lnSpc>
              <a:spcBef>
                <a:spcPts val="360"/>
              </a:spcBef>
              <a:buNone/>
            </a:pPr>
            <a:r>
              <a:rPr lang="en-US" altLang="zh-CN" sz="1050" dirty="0"/>
              <a:t>We then trained the same model family using only sentiment and emotion features. This helps test whether opinion-based signals can outperform structured metadata alone.</a:t>
            </a:r>
            <a:endParaRPr lang="en-US" sz="1440" dirty="0"/>
          </a:p>
        </p:txBody>
      </p:sp>
      <p:sp>
        <p:nvSpPr>
          <p:cNvPr id="16" name="Text 7"/>
          <p:cNvSpPr/>
          <p:nvPr/>
        </p:nvSpPr>
        <p:spPr>
          <a:xfrm>
            <a:off x="1765511" y="4785130"/>
            <a:ext cx="3370521" cy="406265"/>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ct val="100000"/>
              </a:lnSpc>
              <a:spcBef>
                <a:spcPts val="360"/>
              </a:spcBef>
              <a:buNone/>
            </a:pPr>
            <a:r>
              <a:rPr lang="en-US" sz="1440" b="1" dirty="0">
                <a:solidFill>
                  <a:schemeClr val="accent2"/>
                </a:solidFill>
                <a:latin typeface="Microsoft Yahei" pitchFamily="34" charset="0"/>
                <a:ea typeface="Microsoft YaHei" charset="-122"/>
                <a:cs typeface="Microsoft Yahei" pitchFamily="34" charset="-120"/>
              </a:rPr>
              <a:t>TF-IDF-only Model</a:t>
            </a:r>
            <a:endParaRPr lang="en-US" sz="1440" dirty="0">
              <a:solidFill>
                <a:schemeClr val="accent2"/>
              </a:solidFill>
            </a:endParaRPr>
          </a:p>
        </p:txBody>
      </p:sp>
      <p:sp>
        <p:nvSpPr>
          <p:cNvPr id="17" name="Text 8"/>
          <p:cNvSpPr/>
          <p:nvPr/>
        </p:nvSpPr>
        <p:spPr>
          <a:xfrm>
            <a:off x="1765511" y="5022874"/>
            <a:ext cx="3370521" cy="1009059"/>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lnSpc>
                <a:spcPct val="131000"/>
              </a:lnSpc>
              <a:spcBef>
                <a:spcPts val="360"/>
              </a:spcBef>
              <a:buNone/>
            </a:pPr>
            <a:r>
              <a:rPr lang="en-US" altLang="zh-CN" sz="1050" dirty="0"/>
              <a:t>A TF-IDF-based KNN model was used to measure the predictive value of cleaned review text itself and compare it with curated sentiment and emotion features.</a:t>
            </a:r>
            <a:endParaRPr lang="en-US" sz="1440" dirty="0"/>
          </a:p>
        </p:txBody>
      </p:sp>
      <p:sp>
        <p:nvSpPr>
          <p:cNvPr id="18" name="Text 9"/>
          <p:cNvSpPr/>
          <p:nvPr/>
        </p:nvSpPr>
        <p:spPr>
          <a:xfrm>
            <a:off x="7094108" y="4785130"/>
            <a:ext cx="3354385" cy="406265"/>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0000"/>
              </a:lnSpc>
              <a:spcBef>
                <a:spcPts val="360"/>
              </a:spcBef>
              <a:buNone/>
            </a:pPr>
            <a:r>
              <a:rPr lang="en-US" sz="1440" b="1" dirty="0">
                <a:solidFill>
                  <a:schemeClr val="accent2"/>
                </a:solidFill>
                <a:latin typeface="Microsoft Yahei" pitchFamily="34" charset="0"/>
                <a:ea typeface="Microsoft YaHei" charset="-122"/>
                <a:cs typeface="Microsoft Yahei" pitchFamily="34" charset="-120"/>
              </a:rPr>
              <a:t>Combined Model</a:t>
            </a:r>
            <a:endParaRPr lang="en-US" sz="1440" dirty="0">
              <a:solidFill>
                <a:schemeClr val="accent2"/>
              </a:solidFill>
            </a:endParaRPr>
          </a:p>
        </p:txBody>
      </p:sp>
      <p:sp>
        <p:nvSpPr>
          <p:cNvPr id="19" name="Text 10"/>
          <p:cNvSpPr/>
          <p:nvPr/>
        </p:nvSpPr>
        <p:spPr>
          <a:xfrm>
            <a:off x="7089586" y="5022874"/>
            <a:ext cx="3390968" cy="1009059"/>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1000"/>
              </a:lnSpc>
              <a:spcBef>
                <a:spcPts val="360"/>
              </a:spcBef>
              <a:buNone/>
            </a:pPr>
            <a:r>
              <a:rPr lang="en-US" altLang="zh-CN" sz="1050" dirty="0"/>
              <a:t>Finally, we built combined Random Forest and Boosting models using metadata, TF-IDF, sentiment, and emotion features together to test the full feature integration strategy.</a:t>
            </a:r>
            <a:endParaRPr lang="en-US" sz="1440" dirty="0"/>
          </a:p>
        </p:txBody>
      </p:sp>
      <p:pic>
        <p:nvPicPr>
          <p:cNvPr id="21" name="图片 20" descr="图标&#10;&#10;AI 生成的内容可能不正确。"/>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2675" y="3661125"/>
            <a:ext cx="922837" cy="922837"/>
          </a:xfrm>
          <a:prstGeom prst="rect">
            <a:avLst/>
          </a:prstGeom>
        </p:spPr>
      </p:pic>
      <p:pic>
        <p:nvPicPr>
          <p:cNvPr id="23" name="图片 22" descr="图标&#10;&#10;AI 生成的内容可能不正确。"/>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3672" y="3313681"/>
            <a:ext cx="2271827" cy="1300804"/>
          </a:xfrm>
          <a:prstGeom prst="rect">
            <a:avLst/>
          </a:prstGeom>
        </p:spPr>
      </p:pic>
      <p:pic>
        <p:nvPicPr>
          <p:cNvPr id="25" name="图片 24" descr="徽标, 图标&#10;&#10;AI 生成的内容可能不正确。"/>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6501" y="3300390"/>
            <a:ext cx="2324481" cy="13273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descr="图片包含 游戏机&#10;&#10;AI 生成的内容可能不正确。"/>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01720" y="3532193"/>
            <a:ext cx="7881400" cy="1502980"/>
          </a:xfrm>
          <a:prstGeom prst="rect">
            <a:avLst/>
          </a:prstGeom>
        </p:spPr>
      </p:pic>
      <p:sp>
        <p:nvSpPr>
          <p:cNvPr id="2" name="标题 1"/>
          <p:cNvSpPr>
            <a:spLocks noGrp="1"/>
          </p:cNvSpPr>
          <p:nvPr>
            <p:ph type="title"/>
          </p:nvPr>
        </p:nvSpPr>
        <p:spPr>
          <a:xfrm>
            <a:off x="838200" y="365125"/>
            <a:ext cx="8612796" cy="1325563"/>
          </a:xfrm>
        </p:spPr>
        <p:txBody>
          <a:bodyPr/>
          <a:lstStyle/>
          <a:p>
            <a:r>
              <a:rPr lang="en-US" altLang="zh-CN" dirty="0"/>
              <a:t>Model Performance Comparison</a:t>
            </a:r>
            <a:endParaRPr lang="zh-CN" altLang="en-US" dirty="0"/>
          </a:p>
        </p:txBody>
      </p:sp>
      <p:sp>
        <p:nvSpPr>
          <p:cNvPr id="7" name="Shape 1"/>
          <p:cNvSpPr/>
          <p:nvPr/>
        </p:nvSpPr>
        <p:spPr>
          <a:xfrm>
            <a:off x="1373293" y="4873855"/>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chemeClr val="accent2"/>
          </a:solidFill>
          <a:ln w="19050">
            <a:solidFill>
              <a:srgbClr val="E1E1E1"/>
            </a:solidFill>
            <a:prstDash val="solid"/>
          </a:ln>
        </p:spPr>
        <p:txBody>
          <a:bodyPr/>
          <a:lstStyle/>
          <a:p>
            <a:endParaRPr lang="zh-CN" altLang="en-US"/>
          </a:p>
        </p:txBody>
      </p:sp>
      <p:sp>
        <p:nvSpPr>
          <p:cNvPr id="8" name="Text 2"/>
          <p:cNvSpPr/>
          <p:nvPr/>
        </p:nvSpPr>
        <p:spPr>
          <a:xfrm>
            <a:off x="1320099" y="4996699"/>
            <a:ext cx="289268" cy="427746"/>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0000"/>
              </a:lnSpc>
              <a:spcBef>
                <a:spcPts val="360"/>
              </a:spcBef>
              <a:buNone/>
            </a:pPr>
            <a:r>
              <a:rPr lang="en-US" sz="1440" b="1" dirty="0">
                <a:solidFill>
                  <a:schemeClr val="accent2"/>
                </a:solidFill>
                <a:latin typeface="Microsoft Yahei" pitchFamily="34" charset="0"/>
                <a:ea typeface="Microsoft YaHei" charset="-122"/>
                <a:cs typeface="Microsoft Yahei" pitchFamily="34" charset="-120"/>
              </a:rPr>
              <a:t>1</a:t>
            </a:r>
            <a:endParaRPr lang="en-US" sz="1440" dirty="0">
              <a:solidFill>
                <a:schemeClr val="accent2"/>
              </a:solidFill>
            </a:endParaRPr>
          </a:p>
        </p:txBody>
      </p:sp>
      <p:sp>
        <p:nvSpPr>
          <p:cNvPr id="9" name="Shape 3"/>
          <p:cNvSpPr/>
          <p:nvPr/>
        </p:nvSpPr>
        <p:spPr>
          <a:xfrm>
            <a:off x="3790624" y="4332946"/>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chemeClr val="accent2"/>
          </a:solidFill>
          <a:ln w="19050">
            <a:solidFill>
              <a:srgbClr val="E1E1E1"/>
            </a:solidFill>
            <a:prstDash val="solid"/>
          </a:ln>
        </p:spPr>
        <p:txBody>
          <a:bodyPr/>
          <a:lstStyle/>
          <a:p>
            <a:endParaRPr lang="zh-CN" altLang="en-US"/>
          </a:p>
        </p:txBody>
      </p:sp>
      <p:sp>
        <p:nvSpPr>
          <p:cNvPr id="10" name="Text 4"/>
          <p:cNvSpPr/>
          <p:nvPr/>
        </p:nvSpPr>
        <p:spPr>
          <a:xfrm>
            <a:off x="3748388" y="4452292"/>
            <a:ext cx="289268" cy="427746"/>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0000"/>
              </a:lnSpc>
              <a:spcBef>
                <a:spcPts val="360"/>
              </a:spcBef>
              <a:buNone/>
            </a:pPr>
            <a:r>
              <a:rPr lang="en-US" sz="1440" b="1" dirty="0">
                <a:solidFill>
                  <a:schemeClr val="accent2"/>
                </a:solidFill>
                <a:latin typeface="Microsoft Yahei" pitchFamily="34" charset="0"/>
                <a:ea typeface="Microsoft YaHei" charset="-122"/>
                <a:cs typeface="Microsoft Yahei" pitchFamily="34" charset="-120"/>
              </a:rPr>
              <a:t>2</a:t>
            </a:r>
            <a:endParaRPr lang="en-US" sz="1440" dirty="0">
              <a:solidFill>
                <a:schemeClr val="accent2"/>
              </a:solidFill>
            </a:endParaRPr>
          </a:p>
        </p:txBody>
      </p:sp>
      <p:sp>
        <p:nvSpPr>
          <p:cNvPr id="11" name="Shape 5"/>
          <p:cNvSpPr/>
          <p:nvPr/>
        </p:nvSpPr>
        <p:spPr>
          <a:xfrm>
            <a:off x="5767679" y="356360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chemeClr val="accent2"/>
          </a:solidFill>
          <a:ln w="19050">
            <a:solidFill>
              <a:srgbClr val="E1E1E1"/>
            </a:solidFill>
            <a:prstDash val="solid"/>
          </a:ln>
        </p:spPr>
        <p:txBody>
          <a:bodyPr/>
          <a:lstStyle/>
          <a:p>
            <a:endParaRPr lang="zh-CN" altLang="en-US"/>
          </a:p>
        </p:txBody>
      </p:sp>
      <p:sp>
        <p:nvSpPr>
          <p:cNvPr id="12" name="Text 6"/>
          <p:cNvSpPr/>
          <p:nvPr/>
        </p:nvSpPr>
        <p:spPr>
          <a:xfrm>
            <a:off x="5721353" y="3676525"/>
            <a:ext cx="289268" cy="427746"/>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0000"/>
              </a:lnSpc>
              <a:spcBef>
                <a:spcPts val="360"/>
              </a:spcBef>
              <a:buNone/>
            </a:pPr>
            <a:r>
              <a:rPr lang="en-US" sz="1440" b="1" dirty="0">
                <a:solidFill>
                  <a:schemeClr val="accent2"/>
                </a:solidFill>
                <a:latin typeface="Microsoft Yahei" pitchFamily="34" charset="0"/>
                <a:ea typeface="Microsoft YaHei" charset="-122"/>
                <a:cs typeface="Microsoft Yahei" pitchFamily="34" charset="-120"/>
              </a:rPr>
              <a:t>3</a:t>
            </a:r>
            <a:endParaRPr lang="en-US" sz="1440" dirty="0">
              <a:solidFill>
                <a:schemeClr val="accent2"/>
              </a:solidFill>
            </a:endParaRPr>
          </a:p>
        </p:txBody>
      </p:sp>
      <p:sp>
        <p:nvSpPr>
          <p:cNvPr id="13" name="Shape 7"/>
          <p:cNvSpPr/>
          <p:nvPr/>
        </p:nvSpPr>
        <p:spPr>
          <a:xfrm>
            <a:off x="8137522" y="3846377"/>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chemeClr val="accent2"/>
          </a:solidFill>
          <a:ln w="19050">
            <a:solidFill>
              <a:srgbClr val="E1E1E1"/>
            </a:solidFill>
            <a:prstDash val="solid"/>
          </a:ln>
        </p:spPr>
        <p:txBody>
          <a:bodyPr/>
          <a:lstStyle/>
          <a:p>
            <a:endParaRPr lang="zh-CN" altLang="en-US"/>
          </a:p>
        </p:txBody>
      </p:sp>
      <p:sp>
        <p:nvSpPr>
          <p:cNvPr id="14" name="Text 8"/>
          <p:cNvSpPr/>
          <p:nvPr/>
        </p:nvSpPr>
        <p:spPr>
          <a:xfrm>
            <a:off x="8072752" y="3981879"/>
            <a:ext cx="289268" cy="427746"/>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20000"/>
              </a:lnSpc>
              <a:spcBef>
                <a:spcPts val="360"/>
              </a:spcBef>
              <a:buNone/>
            </a:pPr>
            <a:r>
              <a:rPr lang="en-US" sz="1440" b="1" dirty="0">
                <a:solidFill>
                  <a:schemeClr val="accent2"/>
                </a:solidFill>
                <a:latin typeface="Microsoft Yahei" pitchFamily="34" charset="0"/>
                <a:ea typeface="Microsoft YaHei" charset="-122"/>
                <a:cs typeface="Microsoft Yahei" pitchFamily="34" charset="-120"/>
              </a:rPr>
              <a:t>4</a:t>
            </a:r>
            <a:endParaRPr lang="en-US" sz="1440" dirty="0">
              <a:solidFill>
                <a:schemeClr val="accent2"/>
              </a:solidFill>
            </a:endParaRPr>
          </a:p>
        </p:txBody>
      </p:sp>
      <p:sp>
        <p:nvSpPr>
          <p:cNvPr id="15" name="Text 9"/>
          <p:cNvSpPr/>
          <p:nvPr/>
        </p:nvSpPr>
        <p:spPr>
          <a:xfrm>
            <a:off x="446524" y="2281216"/>
            <a:ext cx="2593864" cy="406265"/>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0000"/>
              </a:lnSpc>
              <a:spcBef>
                <a:spcPts val="360"/>
              </a:spcBef>
              <a:buNone/>
            </a:pPr>
            <a:r>
              <a:rPr lang="en-US" sz="1440" b="1" dirty="0">
                <a:solidFill>
                  <a:schemeClr val="accent2"/>
                </a:solidFill>
                <a:latin typeface="Microsoft Yahei" pitchFamily="34" charset="0"/>
                <a:ea typeface="Microsoft YaHei" charset="-122"/>
                <a:cs typeface="Microsoft Yahei" pitchFamily="34" charset="-120"/>
              </a:rPr>
              <a:t>Overall Comparison</a:t>
            </a:r>
            <a:endParaRPr lang="en-US" sz="1440" dirty="0">
              <a:solidFill>
                <a:schemeClr val="accent2"/>
              </a:solidFill>
            </a:endParaRPr>
          </a:p>
        </p:txBody>
      </p:sp>
      <p:sp>
        <p:nvSpPr>
          <p:cNvPr id="16" name="Text 10"/>
          <p:cNvSpPr/>
          <p:nvPr/>
        </p:nvSpPr>
        <p:spPr>
          <a:xfrm>
            <a:off x="446524" y="2553051"/>
            <a:ext cx="2568440" cy="1090363"/>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4000"/>
              </a:lnSpc>
              <a:spcBef>
                <a:spcPts val="360"/>
              </a:spcBef>
              <a:buNone/>
            </a:pPr>
            <a:r>
              <a:rPr lang="en-US" altLang="zh-CN" sz="1050" dirty="0"/>
              <a:t>Among all tested settings, the combined-feature models achieved the strongest overall performance, showing the value of integrating multiple feature groups.</a:t>
            </a:r>
            <a:endParaRPr lang="en-US" sz="1440" dirty="0"/>
          </a:p>
        </p:txBody>
      </p:sp>
      <p:sp>
        <p:nvSpPr>
          <p:cNvPr id="17" name="Text 11"/>
          <p:cNvSpPr/>
          <p:nvPr/>
        </p:nvSpPr>
        <p:spPr>
          <a:xfrm>
            <a:off x="3014964" y="2106611"/>
            <a:ext cx="3345937" cy="406265"/>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0000"/>
              </a:lnSpc>
              <a:spcBef>
                <a:spcPts val="360"/>
              </a:spcBef>
              <a:buNone/>
            </a:pPr>
            <a:r>
              <a:rPr lang="en-US" sz="1440" b="1" dirty="0">
                <a:solidFill>
                  <a:schemeClr val="accent2"/>
                </a:solidFill>
                <a:latin typeface="Microsoft Yahei" pitchFamily="34" charset="0"/>
                <a:ea typeface="Microsoft YaHei" charset="-122"/>
                <a:cs typeface="Microsoft Yahei" pitchFamily="34" charset="-120"/>
              </a:rPr>
              <a:t>Sentiment/Emotion vs Metadata</a:t>
            </a:r>
            <a:endParaRPr lang="en-US" sz="1440" dirty="0">
              <a:solidFill>
                <a:schemeClr val="accent2"/>
              </a:solidFill>
            </a:endParaRPr>
          </a:p>
        </p:txBody>
      </p:sp>
      <p:sp>
        <p:nvSpPr>
          <p:cNvPr id="18" name="Text 12"/>
          <p:cNvSpPr/>
          <p:nvPr/>
        </p:nvSpPr>
        <p:spPr>
          <a:xfrm>
            <a:off x="3014964" y="2404451"/>
            <a:ext cx="2530656" cy="1090363"/>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4000"/>
              </a:lnSpc>
              <a:spcBef>
                <a:spcPts val="360"/>
              </a:spcBef>
              <a:buNone/>
            </a:pPr>
            <a:r>
              <a:rPr lang="en-US" altLang="zh-CN" sz="1050" dirty="0"/>
              <a:t>Sentiment and emotion models outperformed metadata-only baselines, suggesting that customer opinion signals are more directly linked to rating outcomes.</a:t>
            </a:r>
            <a:endParaRPr lang="en-US" sz="1440" dirty="0"/>
          </a:p>
        </p:txBody>
      </p:sp>
      <p:sp>
        <p:nvSpPr>
          <p:cNvPr id="19" name="Text 13"/>
          <p:cNvSpPr/>
          <p:nvPr/>
        </p:nvSpPr>
        <p:spPr>
          <a:xfrm>
            <a:off x="4974674" y="4168845"/>
            <a:ext cx="2172359" cy="406265"/>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0000"/>
              </a:lnSpc>
              <a:spcBef>
                <a:spcPts val="360"/>
              </a:spcBef>
              <a:buNone/>
            </a:pPr>
            <a:r>
              <a:rPr lang="en-US" sz="1440" b="1" dirty="0">
                <a:solidFill>
                  <a:schemeClr val="accent2"/>
                </a:solidFill>
                <a:latin typeface="Microsoft Yahei" pitchFamily="34" charset="0"/>
                <a:ea typeface="Microsoft YaHei" charset="-122"/>
                <a:cs typeface="Microsoft Yahei" pitchFamily="34" charset="-120"/>
              </a:rPr>
              <a:t>Role of Text Features</a:t>
            </a:r>
            <a:endParaRPr lang="en-US" sz="1440" dirty="0">
              <a:solidFill>
                <a:schemeClr val="accent2"/>
              </a:solidFill>
            </a:endParaRPr>
          </a:p>
        </p:txBody>
      </p:sp>
      <p:sp>
        <p:nvSpPr>
          <p:cNvPr id="20" name="Text 14"/>
          <p:cNvSpPr/>
          <p:nvPr/>
        </p:nvSpPr>
        <p:spPr>
          <a:xfrm>
            <a:off x="4974281" y="4465402"/>
            <a:ext cx="2012074" cy="1090363"/>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4000"/>
              </a:lnSpc>
              <a:spcBef>
                <a:spcPts val="360"/>
              </a:spcBef>
              <a:buNone/>
            </a:pPr>
            <a:r>
              <a:rPr lang="en-US" altLang="zh-CN" sz="1050" dirty="0"/>
              <a:t>TF-IDF text features also showed strong predictive ability, confirming that review text contains rich information about customer satisfaction.</a:t>
            </a:r>
            <a:endParaRPr lang="en-US" sz="1440" dirty="0"/>
          </a:p>
        </p:txBody>
      </p:sp>
      <p:sp>
        <p:nvSpPr>
          <p:cNvPr id="21" name="Text 15"/>
          <p:cNvSpPr/>
          <p:nvPr/>
        </p:nvSpPr>
        <p:spPr>
          <a:xfrm>
            <a:off x="7383826" y="4445266"/>
            <a:ext cx="2011680" cy="406265"/>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0000"/>
              </a:lnSpc>
              <a:spcBef>
                <a:spcPts val="360"/>
              </a:spcBef>
              <a:buNone/>
            </a:pPr>
            <a:r>
              <a:rPr lang="en-US" sz="1440" b="1" dirty="0">
                <a:solidFill>
                  <a:schemeClr val="accent2"/>
                </a:solidFill>
                <a:latin typeface="Microsoft Yahei" pitchFamily="34" charset="0"/>
                <a:ea typeface="Microsoft YaHei" charset="-122"/>
                <a:cs typeface="Microsoft Yahei" pitchFamily="34" charset="-120"/>
              </a:rPr>
              <a:t>Key Takeaway</a:t>
            </a:r>
            <a:endParaRPr lang="en-US" sz="1440" dirty="0">
              <a:solidFill>
                <a:schemeClr val="accent2"/>
              </a:solidFill>
            </a:endParaRPr>
          </a:p>
        </p:txBody>
      </p:sp>
      <p:sp>
        <p:nvSpPr>
          <p:cNvPr id="22" name="Text 16"/>
          <p:cNvSpPr/>
          <p:nvPr/>
        </p:nvSpPr>
        <p:spPr>
          <a:xfrm>
            <a:off x="7383689" y="4789235"/>
            <a:ext cx="2162693" cy="1154162"/>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050" dirty="0"/>
              <a:t>The results support our main hypothesis: sentiment- and emotion-related features improve prediction, especially when combined with broader text and metadata features.</a:t>
            </a:r>
            <a:endParaRPr lang="en-US" altLang="zh-CN" sz="1050" dirty="0"/>
          </a:p>
        </p:txBody>
      </p:sp>
      <p:pic>
        <p:nvPicPr>
          <p:cNvPr id="3" name="Picture 2" descr="macro_f1_comparison"/>
          <p:cNvPicPr>
            <a:picLocks noChangeAspect="1"/>
          </p:cNvPicPr>
          <p:nvPr/>
        </p:nvPicPr>
        <p:blipFill>
          <a:blip r:embed="rId2"/>
          <a:stretch>
            <a:fillRect/>
          </a:stretch>
        </p:blipFill>
        <p:spPr>
          <a:xfrm>
            <a:off x="6459220" y="365125"/>
            <a:ext cx="5594985" cy="30651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Best Model Evaluation</a:t>
            </a:r>
            <a:endParaRPr lang="zh-CN" altLang="en-US" dirty="0"/>
          </a:p>
        </p:txBody>
      </p:sp>
      <p:sp>
        <p:nvSpPr>
          <p:cNvPr id="12" name="Text 9"/>
          <p:cNvSpPr/>
          <p:nvPr/>
        </p:nvSpPr>
        <p:spPr>
          <a:xfrm>
            <a:off x="671191" y="1956801"/>
            <a:ext cx="4765364" cy="406265"/>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0000"/>
              </a:lnSpc>
              <a:spcBef>
                <a:spcPts val="360"/>
              </a:spcBef>
              <a:buNone/>
            </a:pPr>
            <a:r>
              <a:rPr lang="en-US" sz="1440" b="1" dirty="0">
                <a:solidFill>
                  <a:schemeClr val="accent2"/>
                </a:solidFill>
                <a:latin typeface="Microsoft Yahei" pitchFamily="34" charset="0"/>
                <a:ea typeface="Microsoft YaHei" charset="-122"/>
                <a:cs typeface="Microsoft Yahei" pitchFamily="34" charset="-120"/>
              </a:rPr>
              <a:t>Best-performing Model</a:t>
            </a:r>
            <a:endParaRPr lang="en-US" sz="1440" dirty="0">
              <a:solidFill>
                <a:schemeClr val="accent2"/>
              </a:solidFill>
            </a:endParaRPr>
          </a:p>
        </p:txBody>
      </p:sp>
      <p:sp>
        <p:nvSpPr>
          <p:cNvPr id="13" name="Text 10"/>
          <p:cNvSpPr/>
          <p:nvPr/>
        </p:nvSpPr>
        <p:spPr>
          <a:xfrm>
            <a:off x="671191" y="2187751"/>
            <a:ext cx="4753729" cy="585738"/>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1000"/>
              </a:lnSpc>
              <a:spcBef>
                <a:spcPts val="360"/>
              </a:spcBef>
              <a:buNone/>
            </a:pPr>
            <a:r>
              <a:rPr lang="en-US" altLang="zh-CN" sz="1050" dirty="0"/>
              <a:t>The best-performing model in our study was the Combined </a:t>
            </a:r>
            <a:r>
              <a:rPr lang="en-US" altLang="zh-CN" sz="1050" dirty="0" err="1"/>
              <a:t>XGBoost</a:t>
            </a:r>
            <a:r>
              <a:rPr lang="en-US" altLang="zh-CN" sz="1050" dirty="0"/>
              <a:t> model, which integrates metadata, TF-IDF, sentiment, and emotion features.</a:t>
            </a:r>
            <a:endParaRPr lang="en-US" sz="1440" dirty="0"/>
          </a:p>
        </p:txBody>
      </p:sp>
      <p:sp>
        <p:nvSpPr>
          <p:cNvPr id="14" name="Text 11"/>
          <p:cNvSpPr/>
          <p:nvPr/>
        </p:nvSpPr>
        <p:spPr>
          <a:xfrm>
            <a:off x="671191" y="2977231"/>
            <a:ext cx="4765364" cy="406265"/>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0000"/>
              </a:lnSpc>
              <a:spcBef>
                <a:spcPts val="360"/>
              </a:spcBef>
              <a:buNone/>
            </a:pPr>
            <a:r>
              <a:rPr lang="en-US" sz="1440" b="1" dirty="0">
                <a:solidFill>
                  <a:schemeClr val="accent2"/>
                </a:solidFill>
                <a:latin typeface="Microsoft Yahei" pitchFamily="34" charset="0"/>
                <a:ea typeface="Microsoft YaHei" charset="-122"/>
                <a:cs typeface="Microsoft Yahei" pitchFamily="34" charset="-120"/>
              </a:rPr>
              <a:t>Main Evaluation Results</a:t>
            </a:r>
            <a:endParaRPr lang="en-US" sz="1440" dirty="0">
              <a:solidFill>
                <a:schemeClr val="accent2"/>
              </a:solidFill>
            </a:endParaRPr>
          </a:p>
        </p:txBody>
      </p:sp>
      <p:sp>
        <p:nvSpPr>
          <p:cNvPr id="15" name="Text 12"/>
          <p:cNvSpPr/>
          <p:nvPr/>
        </p:nvSpPr>
        <p:spPr>
          <a:xfrm>
            <a:off x="671191" y="3209037"/>
            <a:ext cx="4753692" cy="605790"/>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1000"/>
              </a:lnSpc>
              <a:spcBef>
                <a:spcPts val="360"/>
              </a:spcBef>
              <a:buNone/>
            </a:pPr>
            <a:r>
              <a:rPr lang="en-US" altLang="zh-CN" sz="1050" dirty="0"/>
              <a:t>Its test Accuracy reached </a:t>
            </a:r>
            <a:r>
              <a:rPr lang="en-US" altLang="zh-CN" sz="1050" b="1" dirty="0"/>
              <a:t>0.8509</a:t>
            </a:r>
            <a:r>
              <a:rPr lang="en-US" altLang="zh-CN" sz="1050" dirty="0"/>
              <a:t>, while Macro-F1 reached </a:t>
            </a:r>
            <a:r>
              <a:rPr lang="en-US" altLang="zh-CN" sz="1050" b="1" dirty="0"/>
              <a:t>0.8282</a:t>
            </a:r>
            <a:r>
              <a:rPr lang="en-US" altLang="zh-CN" sz="1050" dirty="0"/>
              <a:t>, indicating strong and balanced classification performance.</a:t>
            </a:r>
            <a:endParaRPr lang="en-US" sz="1440" dirty="0"/>
          </a:p>
        </p:txBody>
      </p:sp>
      <p:sp>
        <p:nvSpPr>
          <p:cNvPr id="16" name="Text 13"/>
          <p:cNvSpPr/>
          <p:nvPr/>
        </p:nvSpPr>
        <p:spPr>
          <a:xfrm>
            <a:off x="671191" y="3994724"/>
            <a:ext cx="4765364" cy="406265"/>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0000"/>
              </a:lnSpc>
              <a:spcBef>
                <a:spcPts val="360"/>
              </a:spcBef>
              <a:buNone/>
            </a:pPr>
            <a:r>
              <a:rPr lang="en-US" sz="1440" b="1" dirty="0">
                <a:solidFill>
                  <a:schemeClr val="accent2"/>
                </a:solidFill>
                <a:latin typeface="Microsoft Yahei" pitchFamily="34" charset="0"/>
                <a:ea typeface="Microsoft YaHei" charset="-122"/>
                <a:cs typeface="Microsoft Yahei" pitchFamily="34" charset="-120"/>
              </a:rPr>
              <a:t>Probability-based Metrics</a:t>
            </a:r>
            <a:endParaRPr lang="en-US" sz="1440" dirty="0">
              <a:solidFill>
                <a:schemeClr val="accent2"/>
              </a:solidFill>
            </a:endParaRPr>
          </a:p>
        </p:txBody>
      </p:sp>
      <p:sp>
        <p:nvSpPr>
          <p:cNvPr id="17" name="Text 14"/>
          <p:cNvSpPr/>
          <p:nvPr/>
        </p:nvSpPr>
        <p:spPr>
          <a:xfrm>
            <a:off x="671191" y="4230422"/>
            <a:ext cx="4753692" cy="817245"/>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1000"/>
              </a:lnSpc>
              <a:spcBef>
                <a:spcPts val="360"/>
              </a:spcBef>
              <a:buNone/>
            </a:pPr>
            <a:r>
              <a:rPr lang="en-US" altLang="zh-CN" sz="1050" dirty="0"/>
              <a:t>The model also achieved </a:t>
            </a:r>
            <a:r>
              <a:rPr lang="en-US" altLang="zh-CN" sz="1050" b="1" dirty="0"/>
              <a:t>ROC-AUC = 0.9093</a:t>
            </a:r>
            <a:r>
              <a:rPr lang="en-US" altLang="zh-CN" sz="1050" dirty="0"/>
              <a:t> and </a:t>
            </a:r>
            <a:r>
              <a:rPr lang="en-US" altLang="zh-CN" sz="1050" b="1" dirty="0"/>
              <a:t>Average Precision = 0.9463</a:t>
            </a:r>
            <a:r>
              <a:rPr lang="en-US" altLang="zh-CN" sz="1050" dirty="0"/>
              <a:t>, indicating strong ranking ability and reliable positive-class identification.</a:t>
            </a:r>
            <a:endParaRPr lang="en-US" sz="1440" dirty="0"/>
          </a:p>
        </p:txBody>
      </p:sp>
      <p:sp>
        <p:nvSpPr>
          <p:cNvPr id="18" name="Text 15"/>
          <p:cNvSpPr/>
          <p:nvPr/>
        </p:nvSpPr>
        <p:spPr>
          <a:xfrm>
            <a:off x="671191" y="5018091"/>
            <a:ext cx="4765364" cy="406265"/>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0000"/>
              </a:lnSpc>
              <a:spcBef>
                <a:spcPts val="360"/>
              </a:spcBef>
              <a:buNone/>
            </a:pPr>
            <a:r>
              <a:rPr lang="en-US" sz="1440" b="1" dirty="0">
                <a:solidFill>
                  <a:schemeClr val="accent2"/>
                </a:solidFill>
                <a:latin typeface="Microsoft Yahei" pitchFamily="34" charset="0"/>
                <a:ea typeface="Microsoft YaHei" charset="-122"/>
                <a:cs typeface="Microsoft Yahei" pitchFamily="34" charset="-120"/>
              </a:rPr>
              <a:t>Interpretation</a:t>
            </a:r>
            <a:endParaRPr lang="en-US" sz="1440" dirty="0">
              <a:solidFill>
                <a:schemeClr val="accent2"/>
              </a:solidFill>
            </a:endParaRPr>
          </a:p>
        </p:txBody>
      </p:sp>
      <p:sp>
        <p:nvSpPr>
          <p:cNvPr id="19" name="Text 16"/>
          <p:cNvSpPr/>
          <p:nvPr/>
        </p:nvSpPr>
        <p:spPr>
          <a:xfrm>
            <a:off x="671191" y="5251807"/>
            <a:ext cx="4753692" cy="585738"/>
          </a:xfrm>
          <a:prstGeom prst="rect">
            <a:avLst/>
          </a:prstGeom>
          <a:noFill/>
        </p:spPr>
        <p:txBody>
          <a:bodyPr wrap="square" lIns="91440" tIns="91440" rIns="91440" bIns="91440" rtlCol="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31000"/>
              </a:lnSpc>
              <a:spcBef>
                <a:spcPts val="360"/>
              </a:spcBef>
              <a:buNone/>
            </a:pPr>
            <a:r>
              <a:rPr lang="en-US" altLang="zh-CN" sz="1050" dirty="0"/>
              <a:t>These results show that the combined model performed best across multiple evaluation metrics and is suitable for practical review prediction tasks.</a:t>
            </a:r>
            <a:endParaRPr lang="en-US" sz="1440" dirty="0"/>
          </a:p>
        </p:txBody>
      </p:sp>
      <p:pic>
        <p:nvPicPr>
          <p:cNvPr id="3" name="Picture 2" descr="best_model_confusion_matrix"/>
          <p:cNvPicPr>
            <a:picLocks noChangeAspect="1"/>
          </p:cNvPicPr>
          <p:nvPr/>
        </p:nvPicPr>
        <p:blipFill>
          <a:blip r:embed="rId1"/>
          <a:stretch>
            <a:fillRect/>
          </a:stretch>
        </p:blipFill>
        <p:spPr>
          <a:xfrm>
            <a:off x="5414010" y="2115185"/>
            <a:ext cx="3234055" cy="2903220"/>
          </a:xfrm>
          <a:prstGeom prst="rect">
            <a:avLst/>
          </a:prstGeom>
        </p:spPr>
      </p:pic>
      <p:pic>
        <p:nvPicPr>
          <p:cNvPr id="5" name="Picture 4" descr="best_model_roc_curve"/>
          <p:cNvPicPr>
            <a:picLocks noChangeAspect="1"/>
          </p:cNvPicPr>
          <p:nvPr/>
        </p:nvPicPr>
        <p:blipFill>
          <a:blip r:embed="rId2"/>
          <a:stretch>
            <a:fillRect/>
          </a:stretch>
        </p:blipFill>
        <p:spPr>
          <a:xfrm>
            <a:off x="8826500" y="1437640"/>
            <a:ext cx="3239770" cy="2475865"/>
          </a:xfrm>
          <a:prstGeom prst="rect">
            <a:avLst/>
          </a:prstGeom>
        </p:spPr>
      </p:pic>
      <p:pic>
        <p:nvPicPr>
          <p:cNvPr id="6" name="Picture 5" descr="best_model_pr_curve"/>
          <p:cNvPicPr>
            <a:picLocks noChangeAspect="1"/>
          </p:cNvPicPr>
          <p:nvPr/>
        </p:nvPicPr>
        <p:blipFill>
          <a:blip r:embed="rId3"/>
          <a:stretch>
            <a:fillRect/>
          </a:stretch>
        </p:blipFill>
        <p:spPr>
          <a:xfrm>
            <a:off x="8826500" y="3994785"/>
            <a:ext cx="3120390" cy="23844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en-US" altLang="en-US"/>
              <a:t>Interpreting the Best Model</a:t>
            </a:r>
            <a:endParaRPr lang="en-US" altLang="en-US"/>
          </a:p>
        </p:txBody>
      </p:sp>
      <p:sp>
        <p:nvSpPr>
          <p:cNvPr id="4" name="矩形 3"/>
          <p:cNvSpPr/>
          <p:nvPr>
            <p:custDataLst>
              <p:tags r:id="rId2"/>
            </p:custDataLst>
          </p:nvPr>
        </p:nvSpPr>
        <p:spPr>
          <a:xfrm>
            <a:off x="1372235" y="1910080"/>
            <a:ext cx="4311650" cy="578485"/>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en-US" altLang="en-US" sz="1600">
                <a:solidFill>
                  <a:schemeClr val="tx1">
                    <a:lumMod val="85000"/>
                    <a:lumOff val="15000"/>
                  </a:schemeClr>
                </a:solidFill>
                <a:latin typeface="+mn-ea"/>
                <a:cs typeface="+mn-ea"/>
                <a:sym typeface="+mn-ea"/>
              </a:rPr>
              <a:t>The review text block is the strongest overall signal</a:t>
            </a:r>
            <a:endParaRPr lang="en-US" altLang="en-US" sz="1600">
              <a:solidFill>
                <a:schemeClr val="tx1">
                  <a:lumMod val="85000"/>
                  <a:lumOff val="15000"/>
                </a:schemeClr>
              </a:solidFill>
              <a:latin typeface="+mn-ea"/>
              <a:cs typeface="+mn-ea"/>
              <a:sym typeface="+mn-ea"/>
            </a:endParaRPr>
          </a:p>
        </p:txBody>
      </p:sp>
      <p:sp>
        <p:nvSpPr>
          <p:cNvPr id="6" name="矩形 5"/>
          <p:cNvSpPr/>
          <p:nvPr>
            <p:custDataLst>
              <p:tags r:id="rId3"/>
            </p:custDataLst>
          </p:nvPr>
        </p:nvSpPr>
        <p:spPr>
          <a:xfrm>
            <a:off x="561714" y="1966571"/>
            <a:ext cx="521879" cy="521879"/>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en-US" altLang="zh-CN" sz="2400" dirty="0">
                <a:solidFill>
                  <a:schemeClr val="lt1">
                    <a:lumMod val="100000"/>
                  </a:schemeClr>
                </a:solidFill>
                <a:latin typeface="+mn-ea"/>
                <a:cs typeface="+mn-ea"/>
                <a:sym typeface="+mn-ea"/>
              </a:rPr>
              <a:t>01</a:t>
            </a:r>
            <a:endParaRPr lang="en-US" altLang="zh-CN" sz="2400" dirty="0">
              <a:solidFill>
                <a:schemeClr val="lt1">
                  <a:lumMod val="100000"/>
                </a:schemeClr>
              </a:solidFill>
              <a:latin typeface="+mn-ea"/>
              <a:cs typeface="+mn-ea"/>
              <a:sym typeface="+mn-ea"/>
            </a:endParaRPr>
          </a:p>
        </p:txBody>
      </p:sp>
      <p:sp>
        <p:nvSpPr>
          <p:cNvPr id="8" name="矩形 7"/>
          <p:cNvSpPr/>
          <p:nvPr>
            <p:custDataLst>
              <p:tags r:id="rId4"/>
            </p:custDataLst>
          </p:nvPr>
        </p:nvSpPr>
        <p:spPr>
          <a:xfrm>
            <a:off x="1379220" y="3030220"/>
            <a:ext cx="4304030" cy="578485"/>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en-US" altLang="en-US" sz="1600">
                <a:solidFill>
                  <a:schemeClr val="tx1">
                    <a:lumMod val="85000"/>
                    <a:lumOff val="15000"/>
                  </a:schemeClr>
                </a:solidFill>
                <a:latin typeface="+mn-ea"/>
                <a:cs typeface="+mn-ea"/>
                <a:sym typeface="+mn-ea"/>
              </a:rPr>
              <a:t>Reviewer contribution count is also influential</a:t>
            </a:r>
            <a:endParaRPr lang="en-US" altLang="en-US" sz="1600">
              <a:solidFill>
                <a:schemeClr val="tx1">
                  <a:lumMod val="85000"/>
                  <a:lumOff val="15000"/>
                </a:schemeClr>
              </a:solidFill>
              <a:latin typeface="+mn-ea"/>
              <a:cs typeface="+mn-ea"/>
              <a:sym typeface="+mn-ea"/>
            </a:endParaRPr>
          </a:p>
        </p:txBody>
      </p:sp>
      <p:sp>
        <p:nvSpPr>
          <p:cNvPr id="10" name="矩形 9"/>
          <p:cNvSpPr/>
          <p:nvPr>
            <p:custDataLst>
              <p:tags r:id="rId5"/>
            </p:custDataLst>
          </p:nvPr>
        </p:nvSpPr>
        <p:spPr>
          <a:xfrm>
            <a:off x="569330" y="3030405"/>
            <a:ext cx="521879" cy="521879"/>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en-US" altLang="zh-CN" sz="2400">
                <a:solidFill>
                  <a:schemeClr val="lt1">
                    <a:lumMod val="100000"/>
                  </a:schemeClr>
                </a:solidFill>
                <a:latin typeface="+mn-ea"/>
                <a:cs typeface="+mn-ea"/>
                <a:sym typeface="+mn-ea"/>
              </a:rPr>
              <a:t>02</a:t>
            </a:r>
            <a:endParaRPr lang="en-US" altLang="zh-CN" sz="2400">
              <a:solidFill>
                <a:schemeClr val="lt1">
                  <a:lumMod val="100000"/>
                </a:schemeClr>
              </a:solidFill>
              <a:latin typeface="+mn-ea"/>
              <a:cs typeface="+mn-ea"/>
              <a:sym typeface="+mn-ea"/>
            </a:endParaRPr>
          </a:p>
        </p:txBody>
      </p:sp>
      <p:sp>
        <p:nvSpPr>
          <p:cNvPr id="11" name="矩形 10"/>
          <p:cNvSpPr/>
          <p:nvPr>
            <p:custDataLst>
              <p:tags r:id="rId6"/>
            </p:custDataLst>
          </p:nvPr>
        </p:nvSpPr>
        <p:spPr>
          <a:xfrm>
            <a:off x="1370965" y="4102735"/>
            <a:ext cx="4313555" cy="578485"/>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en-US" altLang="en-US" sz="1600">
                <a:solidFill>
                  <a:schemeClr val="tx1">
                    <a:lumMod val="85000"/>
                    <a:lumOff val="15000"/>
                  </a:schemeClr>
                </a:solidFill>
                <a:latin typeface="Arial" panose="020B0704020202090204" pitchFamily="34" charset="0"/>
                <a:cs typeface="Arial" panose="020B0704020202090204" pitchFamily="34" charset="0"/>
                <a:sym typeface="+mn-ea"/>
              </a:rPr>
              <a:t>Lexicon sentiment and VADER features contribute measurable value</a:t>
            </a:r>
            <a:endParaRPr lang="en-US" altLang="en-US" sz="1600">
              <a:solidFill>
                <a:schemeClr val="tx1">
                  <a:lumMod val="85000"/>
                  <a:lumOff val="15000"/>
                </a:schemeClr>
              </a:solidFill>
              <a:latin typeface="Arial" panose="020B0704020202090204" pitchFamily="34" charset="0"/>
              <a:cs typeface="Arial" panose="020B0704020202090204" pitchFamily="34" charset="0"/>
              <a:sym typeface="+mn-ea"/>
            </a:endParaRPr>
          </a:p>
        </p:txBody>
      </p:sp>
      <p:sp>
        <p:nvSpPr>
          <p:cNvPr id="13" name="矩形 12"/>
          <p:cNvSpPr/>
          <p:nvPr>
            <p:custDataLst>
              <p:tags r:id="rId7"/>
            </p:custDataLst>
          </p:nvPr>
        </p:nvSpPr>
        <p:spPr>
          <a:xfrm>
            <a:off x="561160" y="4102672"/>
            <a:ext cx="521879" cy="521879"/>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en-US" altLang="zh-CN" sz="2400">
                <a:solidFill>
                  <a:schemeClr val="lt1">
                    <a:lumMod val="100000"/>
                  </a:schemeClr>
                </a:solidFill>
                <a:latin typeface="+mn-ea"/>
                <a:cs typeface="+mn-ea"/>
                <a:sym typeface="+mn-ea"/>
              </a:rPr>
              <a:t>03</a:t>
            </a:r>
            <a:endParaRPr lang="en-US" altLang="zh-CN" sz="2400">
              <a:solidFill>
                <a:schemeClr val="lt1">
                  <a:lumMod val="100000"/>
                </a:schemeClr>
              </a:solidFill>
              <a:latin typeface="+mn-ea"/>
              <a:cs typeface="+mn-ea"/>
              <a:sym typeface="+mn-ea"/>
            </a:endParaRPr>
          </a:p>
        </p:txBody>
      </p:sp>
      <p:sp>
        <p:nvSpPr>
          <p:cNvPr id="20" name="矩形 19"/>
          <p:cNvSpPr/>
          <p:nvPr>
            <p:custDataLst>
              <p:tags r:id="rId8"/>
            </p:custDataLst>
          </p:nvPr>
        </p:nvSpPr>
        <p:spPr>
          <a:xfrm>
            <a:off x="1379220" y="5141595"/>
            <a:ext cx="4303395" cy="578485"/>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en-US" altLang="en-US" sz="1600">
                <a:solidFill>
                  <a:schemeClr val="tx1">
                    <a:lumMod val="85000"/>
                    <a:lumOff val="15000"/>
                  </a:schemeClr>
                </a:solidFill>
                <a:latin typeface="+mn-ea"/>
                <a:cs typeface="+mn-ea"/>
                <a:sym typeface="+mn-ea"/>
              </a:rPr>
              <a:t>Emotion features help enrich the representation</a:t>
            </a:r>
            <a:endParaRPr lang="en-US" altLang="en-US" sz="1600">
              <a:solidFill>
                <a:schemeClr val="tx1">
                  <a:lumMod val="85000"/>
                  <a:lumOff val="15000"/>
                </a:schemeClr>
              </a:solidFill>
              <a:latin typeface="+mn-ea"/>
              <a:cs typeface="+mn-ea"/>
              <a:sym typeface="+mn-ea"/>
            </a:endParaRPr>
          </a:p>
        </p:txBody>
      </p:sp>
      <p:sp>
        <p:nvSpPr>
          <p:cNvPr id="22" name="矩形 21"/>
          <p:cNvSpPr/>
          <p:nvPr>
            <p:custDataLst>
              <p:tags r:id="rId9"/>
            </p:custDataLst>
          </p:nvPr>
        </p:nvSpPr>
        <p:spPr>
          <a:xfrm>
            <a:off x="569330" y="5140168"/>
            <a:ext cx="521879" cy="521879"/>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spcBef>
                <a:spcPct val="0"/>
              </a:spcBef>
              <a:spcAft>
                <a:spcPct val="0"/>
              </a:spcAft>
            </a:pPr>
            <a:r>
              <a:rPr lang="en-US" altLang="zh-CN" sz="2400">
                <a:solidFill>
                  <a:schemeClr val="lt1">
                    <a:lumMod val="100000"/>
                  </a:schemeClr>
                </a:solidFill>
                <a:latin typeface="+mn-ea"/>
                <a:cs typeface="+mn-ea"/>
                <a:sym typeface="+mn-ea"/>
              </a:rPr>
              <a:t>04</a:t>
            </a:r>
            <a:endParaRPr lang="en-US" altLang="zh-CN" sz="2400">
              <a:solidFill>
                <a:schemeClr val="lt1">
                  <a:lumMod val="100000"/>
                </a:schemeClr>
              </a:solidFill>
              <a:latin typeface="+mn-ea"/>
              <a:cs typeface="+mn-ea"/>
              <a:sym typeface="+mn-ea"/>
            </a:endParaRPr>
          </a:p>
        </p:txBody>
      </p:sp>
      <p:pic>
        <p:nvPicPr>
          <p:cNvPr id="2" name="Picture 1"/>
          <p:cNvPicPr>
            <a:picLocks noChangeAspect="1"/>
          </p:cNvPicPr>
          <p:nvPr/>
        </p:nvPicPr>
        <p:blipFill>
          <a:blip r:embed="rId10"/>
          <a:stretch>
            <a:fillRect/>
          </a:stretch>
        </p:blipFill>
        <p:spPr>
          <a:xfrm>
            <a:off x="5561330" y="1691005"/>
            <a:ext cx="6377940" cy="4217035"/>
          </a:xfrm>
          <a:prstGeom prst="rect">
            <a:avLst/>
          </a:prstGeom>
        </p:spPr>
      </p:pic>
    </p:spTree>
    <p:custDataLst>
      <p:tags r:id="rId1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en-US" altLang="en-US"/>
              <a:t>Business Implications</a:t>
            </a:r>
            <a:endParaRPr lang="en-US" altLang="en-US"/>
          </a:p>
        </p:txBody>
      </p:sp>
      <p:sp>
        <p:nvSpPr>
          <p:cNvPr id="34" name="图形 19"/>
          <p:cNvSpPr/>
          <p:nvPr>
            <p:custDataLst>
              <p:tags r:id="rId2"/>
            </p:custDataLst>
          </p:nvPr>
        </p:nvSpPr>
        <p:spPr>
          <a:xfrm>
            <a:off x="3649345" y="2466975"/>
            <a:ext cx="2197735" cy="3253105"/>
          </a:xfrm>
          <a:custGeom>
            <a:avLst/>
            <a:gdLst>
              <a:gd name="connsiteX0" fmla="*/ 1337786 w 1409605"/>
              <a:gd name="connsiteY0" fmla="*/ 223048 h 1765739"/>
              <a:gd name="connsiteX1" fmla="*/ 102775 w 1409605"/>
              <a:gd name="connsiteY1" fmla="*/ 1401 h 1765739"/>
              <a:gd name="connsiteX2" fmla="*/ 0 w 1409605"/>
              <a:gd name="connsiteY2" fmla="*/ 87316 h 1765739"/>
              <a:gd name="connsiteX3" fmla="*/ 0 w 1409605"/>
              <a:gd name="connsiteY3" fmla="*/ 1678373 h 1765739"/>
              <a:gd name="connsiteX4" fmla="*/ 103061 w 1409605"/>
              <a:gd name="connsiteY4" fmla="*/ 1764288 h 1765739"/>
              <a:gd name="connsiteX5" fmla="*/ 1338072 w 1409605"/>
              <a:gd name="connsiteY5" fmla="*/ 1537783 h 1765739"/>
              <a:gd name="connsiteX6" fmla="*/ 1409605 w 1409605"/>
              <a:gd name="connsiteY6" fmla="*/ 1451868 h 1765739"/>
              <a:gd name="connsiteX7" fmla="*/ 1409605 w 1409605"/>
              <a:gd name="connsiteY7" fmla="*/ 308963 h 1765739"/>
              <a:gd name="connsiteX8" fmla="*/ 1337786 w 1409605"/>
              <a:gd name="connsiteY8" fmla="*/ 223048 h 1765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9605" h="1765739">
                <a:moveTo>
                  <a:pt x="1337786" y="223048"/>
                </a:moveTo>
                <a:lnTo>
                  <a:pt x="102775" y="1401"/>
                </a:lnTo>
                <a:cubicBezTo>
                  <a:pt x="49244" y="-8219"/>
                  <a:pt x="0" y="32929"/>
                  <a:pt x="0" y="87316"/>
                </a:cubicBezTo>
                <a:lnTo>
                  <a:pt x="0" y="1678373"/>
                </a:lnTo>
                <a:cubicBezTo>
                  <a:pt x="0" y="1732951"/>
                  <a:pt x="49435" y="1774099"/>
                  <a:pt x="103061" y="1764288"/>
                </a:cubicBezTo>
                <a:lnTo>
                  <a:pt x="1338072" y="1537783"/>
                </a:lnTo>
                <a:cubicBezTo>
                  <a:pt x="1379506" y="1530163"/>
                  <a:pt x="1409605" y="1494064"/>
                  <a:pt x="1409605" y="1451868"/>
                </a:cubicBezTo>
                <a:lnTo>
                  <a:pt x="1409605" y="308963"/>
                </a:lnTo>
                <a:cubicBezTo>
                  <a:pt x="1409700" y="266672"/>
                  <a:pt x="1379411" y="230477"/>
                  <a:pt x="1337786" y="223048"/>
                </a:cubicBezTo>
                <a:close/>
              </a:path>
            </a:pathLst>
          </a:custGeom>
          <a:solidFill>
            <a:schemeClr val="accent2">
              <a:lumMod val="40000"/>
              <a:lumOff val="60000"/>
              <a:alpha val="18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9" name="图形 19"/>
          <p:cNvSpPr/>
          <p:nvPr>
            <p:custDataLst>
              <p:tags r:id="rId3"/>
            </p:custDataLst>
          </p:nvPr>
        </p:nvSpPr>
        <p:spPr>
          <a:xfrm>
            <a:off x="6249670" y="2466975"/>
            <a:ext cx="2197735" cy="3253105"/>
          </a:xfrm>
          <a:custGeom>
            <a:avLst/>
            <a:gdLst>
              <a:gd name="connsiteX0" fmla="*/ 1337786 w 1409605"/>
              <a:gd name="connsiteY0" fmla="*/ 223048 h 1765739"/>
              <a:gd name="connsiteX1" fmla="*/ 102775 w 1409605"/>
              <a:gd name="connsiteY1" fmla="*/ 1401 h 1765739"/>
              <a:gd name="connsiteX2" fmla="*/ 0 w 1409605"/>
              <a:gd name="connsiteY2" fmla="*/ 87316 h 1765739"/>
              <a:gd name="connsiteX3" fmla="*/ 0 w 1409605"/>
              <a:gd name="connsiteY3" fmla="*/ 1678373 h 1765739"/>
              <a:gd name="connsiteX4" fmla="*/ 103061 w 1409605"/>
              <a:gd name="connsiteY4" fmla="*/ 1764288 h 1765739"/>
              <a:gd name="connsiteX5" fmla="*/ 1338072 w 1409605"/>
              <a:gd name="connsiteY5" fmla="*/ 1537783 h 1765739"/>
              <a:gd name="connsiteX6" fmla="*/ 1409605 w 1409605"/>
              <a:gd name="connsiteY6" fmla="*/ 1451868 h 1765739"/>
              <a:gd name="connsiteX7" fmla="*/ 1409605 w 1409605"/>
              <a:gd name="connsiteY7" fmla="*/ 308963 h 1765739"/>
              <a:gd name="connsiteX8" fmla="*/ 1337786 w 1409605"/>
              <a:gd name="connsiteY8" fmla="*/ 223048 h 1765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9605" h="1765739">
                <a:moveTo>
                  <a:pt x="1337786" y="223048"/>
                </a:moveTo>
                <a:lnTo>
                  <a:pt x="102775" y="1401"/>
                </a:lnTo>
                <a:cubicBezTo>
                  <a:pt x="49244" y="-8219"/>
                  <a:pt x="0" y="32929"/>
                  <a:pt x="0" y="87316"/>
                </a:cubicBezTo>
                <a:lnTo>
                  <a:pt x="0" y="1678373"/>
                </a:lnTo>
                <a:cubicBezTo>
                  <a:pt x="0" y="1732951"/>
                  <a:pt x="49435" y="1774099"/>
                  <a:pt x="103061" y="1764288"/>
                </a:cubicBezTo>
                <a:lnTo>
                  <a:pt x="1338072" y="1537783"/>
                </a:lnTo>
                <a:cubicBezTo>
                  <a:pt x="1379506" y="1530163"/>
                  <a:pt x="1409605" y="1494064"/>
                  <a:pt x="1409605" y="1451868"/>
                </a:cubicBezTo>
                <a:lnTo>
                  <a:pt x="1409605" y="308963"/>
                </a:lnTo>
                <a:cubicBezTo>
                  <a:pt x="1409700" y="266672"/>
                  <a:pt x="1379411" y="230477"/>
                  <a:pt x="1337786" y="223048"/>
                </a:cubicBezTo>
                <a:close/>
              </a:path>
            </a:pathLst>
          </a:custGeom>
          <a:solidFill>
            <a:schemeClr val="accent3">
              <a:lumMod val="40000"/>
              <a:lumOff val="60000"/>
              <a:alpha val="18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1" name="图形 19"/>
          <p:cNvSpPr/>
          <p:nvPr>
            <p:custDataLst>
              <p:tags r:id="rId4"/>
            </p:custDataLst>
          </p:nvPr>
        </p:nvSpPr>
        <p:spPr>
          <a:xfrm>
            <a:off x="1049020" y="2466975"/>
            <a:ext cx="2197735" cy="3253105"/>
          </a:xfrm>
          <a:custGeom>
            <a:avLst/>
            <a:gdLst>
              <a:gd name="connsiteX0" fmla="*/ 1337786 w 1409605"/>
              <a:gd name="connsiteY0" fmla="*/ 223048 h 1765739"/>
              <a:gd name="connsiteX1" fmla="*/ 102775 w 1409605"/>
              <a:gd name="connsiteY1" fmla="*/ 1401 h 1765739"/>
              <a:gd name="connsiteX2" fmla="*/ 0 w 1409605"/>
              <a:gd name="connsiteY2" fmla="*/ 87316 h 1765739"/>
              <a:gd name="connsiteX3" fmla="*/ 0 w 1409605"/>
              <a:gd name="connsiteY3" fmla="*/ 1678373 h 1765739"/>
              <a:gd name="connsiteX4" fmla="*/ 103061 w 1409605"/>
              <a:gd name="connsiteY4" fmla="*/ 1764288 h 1765739"/>
              <a:gd name="connsiteX5" fmla="*/ 1338072 w 1409605"/>
              <a:gd name="connsiteY5" fmla="*/ 1537783 h 1765739"/>
              <a:gd name="connsiteX6" fmla="*/ 1409605 w 1409605"/>
              <a:gd name="connsiteY6" fmla="*/ 1451868 h 1765739"/>
              <a:gd name="connsiteX7" fmla="*/ 1409605 w 1409605"/>
              <a:gd name="connsiteY7" fmla="*/ 308963 h 1765739"/>
              <a:gd name="connsiteX8" fmla="*/ 1337786 w 1409605"/>
              <a:gd name="connsiteY8" fmla="*/ 223048 h 1765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9605" h="1765739">
                <a:moveTo>
                  <a:pt x="1337786" y="223048"/>
                </a:moveTo>
                <a:lnTo>
                  <a:pt x="102775" y="1401"/>
                </a:lnTo>
                <a:cubicBezTo>
                  <a:pt x="49244" y="-8219"/>
                  <a:pt x="0" y="32929"/>
                  <a:pt x="0" y="87316"/>
                </a:cubicBezTo>
                <a:lnTo>
                  <a:pt x="0" y="1678373"/>
                </a:lnTo>
                <a:cubicBezTo>
                  <a:pt x="0" y="1732951"/>
                  <a:pt x="49435" y="1774099"/>
                  <a:pt x="103061" y="1764288"/>
                </a:cubicBezTo>
                <a:lnTo>
                  <a:pt x="1338072" y="1537783"/>
                </a:lnTo>
                <a:cubicBezTo>
                  <a:pt x="1379506" y="1530163"/>
                  <a:pt x="1409605" y="1494064"/>
                  <a:pt x="1409605" y="1451868"/>
                </a:cubicBezTo>
                <a:lnTo>
                  <a:pt x="1409605" y="308963"/>
                </a:lnTo>
                <a:cubicBezTo>
                  <a:pt x="1409700" y="266672"/>
                  <a:pt x="1379411" y="230477"/>
                  <a:pt x="1337786" y="223048"/>
                </a:cubicBezTo>
                <a:close/>
              </a:path>
            </a:pathLst>
          </a:custGeom>
          <a:solidFill>
            <a:schemeClr val="accent1">
              <a:lumMod val="40000"/>
              <a:lumOff val="60000"/>
              <a:alpha val="18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chemeClr val="tx1"/>
              </a:solidFill>
            </a:endParaRPr>
          </a:p>
        </p:txBody>
      </p:sp>
      <p:sp>
        <p:nvSpPr>
          <p:cNvPr id="14" name="文本框 13"/>
          <p:cNvSpPr txBox="1"/>
          <p:nvPr>
            <p:custDataLst>
              <p:tags r:id="rId5"/>
            </p:custDataLst>
          </p:nvPr>
        </p:nvSpPr>
        <p:spPr>
          <a:xfrm>
            <a:off x="1125855" y="3343275"/>
            <a:ext cx="2121535" cy="1243965"/>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spcBef>
                <a:spcPts val="0"/>
              </a:spcBef>
              <a:spcAft>
                <a:spcPts val="0"/>
              </a:spcAft>
            </a:pPr>
            <a:r>
              <a:rPr lang="en-US" altLang="en-US" sz="1600" kern="0" spc="0" dirty="0">
                <a:ln>
                  <a:noFill/>
                  <a:prstDash val="sysDot"/>
                </a:ln>
                <a:solidFill>
                  <a:schemeClr val="tx1">
                    <a:lumMod val="85000"/>
                    <a:lumOff val="15000"/>
                  </a:schemeClr>
                </a:solidFill>
                <a:latin typeface="+mn-ea"/>
                <a:ea typeface="+mn-ea"/>
                <a:sym typeface="+mn-ea"/>
              </a:rPr>
              <a:t>Restaurants can monitor dissatisfaction patterns more efficiently</a:t>
            </a:r>
            <a:endParaRPr lang="en-US" altLang="en-US" sz="1600" kern="0" spc="0" dirty="0">
              <a:ln>
                <a:noFill/>
                <a:prstDash val="sysDot"/>
              </a:ln>
              <a:solidFill>
                <a:schemeClr val="tx1">
                  <a:lumMod val="85000"/>
                  <a:lumOff val="15000"/>
                </a:schemeClr>
              </a:solidFill>
              <a:latin typeface="+mn-ea"/>
              <a:ea typeface="+mn-ea"/>
              <a:sym typeface="+mn-ea"/>
            </a:endParaRPr>
          </a:p>
        </p:txBody>
      </p:sp>
      <p:sp>
        <p:nvSpPr>
          <p:cNvPr id="44" name="图形 19"/>
          <p:cNvSpPr/>
          <p:nvPr>
            <p:custDataLst>
              <p:tags r:id="rId6"/>
            </p:custDataLst>
          </p:nvPr>
        </p:nvSpPr>
        <p:spPr>
          <a:xfrm>
            <a:off x="8849995" y="2466975"/>
            <a:ext cx="2197735" cy="3253105"/>
          </a:xfrm>
          <a:custGeom>
            <a:avLst/>
            <a:gdLst>
              <a:gd name="connsiteX0" fmla="*/ 1337786 w 1409605"/>
              <a:gd name="connsiteY0" fmla="*/ 223048 h 1765739"/>
              <a:gd name="connsiteX1" fmla="*/ 102775 w 1409605"/>
              <a:gd name="connsiteY1" fmla="*/ 1401 h 1765739"/>
              <a:gd name="connsiteX2" fmla="*/ 0 w 1409605"/>
              <a:gd name="connsiteY2" fmla="*/ 87316 h 1765739"/>
              <a:gd name="connsiteX3" fmla="*/ 0 w 1409605"/>
              <a:gd name="connsiteY3" fmla="*/ 1678373 h 1765739"/>
              <a:gd name="connsiteX4" fmla="*/ 103061 w 1409605"/>
              <a:gd name="connsiteY4" fmla="*/ 1764288 h 1765739"/>
              <a:gd name="connsiteX5" fmla="*/ 1338072 w 1409605"/>
              <a:gd name="connsiteY5" fmla="*/ 1537783 h 1765739"/>
              <a:gd name="connsiteX6" fmla="*/ 1409605 w 1409605"/>
              <a:gd name="connsiteY6" fmla="*/ 1451868 h 1765739"/>
              <a:gd name="connsiteX7" fmla="*/ 1409605 w 1409605"/>
              <a:gd name="connsiteY7" fmla="*/ 308963 h 1765739"/>
              <a:gd name="connsiteX8" fmla="*/ 1337786 w 1409605"/>
              <a:gd name="connsiteY8" fmla="*/ 223048 h 1765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9605" h="1765739">
                <a:moveTo>
                  <a:pt x="1337786" y="223048"/>
                </a:moveTo>
                <a:lnTo>
                  <a:pt x="102775" y="1401"/>
                </a:lnTo>
                <a:cubicBezTo>
                  <a:pt x="49244" y="-8219"/>
                  <a:pt x="0" y="32929"/>
                  <a:pt x="0" y="87316"/>
                </a:cubicBezTo>
                <a:lnTo>
                  <a:pt x="0" y="1678373"/>
                </a:lnTo>
                <a:cubicBezTo>
                  <a:pt x="0" y="1732951"/>
                  <a:pt x="49435" y="1774099"/>
                  <a:pt x="103061" y="1764288"/>
                </a:cubicBezTo>
                <a:lnTo>
                  <a:pt x="1338072" y="1537783"/>
                </a:lnTo>
                <a:cubicBezTo>
                  <a:pt x="1379506" y="1530163"/>
                  <a:pt x="1409605" y="1494064"/>
                  <a:pt x="1409605" y="1451868"/>
                </a:cubicBezTo>
                <a:lnTo>
                  <a:pt x="1409605" y="308963"/>
                </a:lnTo>
                <a:cubicBezTo>
                  <a:pt x="1409700" y="266672"/>
                  <a:pt x="1379411" y="230477"/>
                  <a:pt x="1337786" y="223048"/>
                </a:cubicBezTo>
                <a:close/>
              </a:path>
            </a:pathLst>
          </a:custGeom>
          <a:solidFill>
            <a:schemeClr val="accent4">
              <a:lumMod val="40000"/>
              <a:lumOff val="60000"/>
              <a:alpha val="18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33" name="文本框 32"/>
          <p:cNvSpPr txBox="1"/>
          <p:nvPr>
            <p:custDataLst>
              <p:tags r:id="rId7"/>
            </p:custDataLst>
          </p:nvPr>
        </p:nvSpPr>
        <p:spPr>
          <a:xfrm>
            <a:off x="3775710" y="3343275"/>
            <a:ext cx="2012315" cy="1669415"/>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spcBef>
                <a:spcPts val="0"/>
              </a:spcBef>
              <a:spcAft>
                <a:spcPts val="0"/>
              </a:spcAft>
            </a:pPr>
            <a:r>
              <a:rPr lang="en-US" altLang="en-US" sz="1600" kern="0" spc="0" dirty="0">
                <a:ln>
                  <a:noFill/>
                  <a:prstDash val="sysDot"/>
                </a:ln>
                <a:solidFill>
                  <a:schemeClr val="tx1">
                    <a:lumMod val="85000"/>
                    <a:lumOff val="15000"/>
                  </a:schemeClr>
                </a:solidFill>
                <a:latin typeface="+mn-ea"/>
                <a:ea typeface="+mn-ea"/>
                <a:sym typeface="+mn-ea"/>
              </a:rPr>
              <a:t>Sentiment and emotion offer richer signals than ratings alone</a:t>
            </a:r>
            <a:endParaRPr lang="en-US" altLang="en-US" sz="1600" kern="0" spc="0" dirty="0">
              <a:ln>
                <a:noFill/>
                <a:prstDash val="sysDot"/>
              </a:ln>
              <a:solidFill>
                <a:schemeClr val="tx1">
                  <a:lumMod val="85000"/>
                  <a:lumOff val="15000"/>
                </a:schemeClr>
              </a:solidFill>
              <a:latin typeface="+mn-ea"/>
              <a:ea typeface="+mn-ea"/>
              <a:sym typeface="+mn-ea"/>
            </a:endParaRPr>
          </a:p>
        </p:txBody>
      </p:sp>
      <p:sp>
        <p:nvSpPr>
          <p:cNvPr id="35" name="椭圆 34"/>
          <p:cNvSpPr/>
          <p:nvPr>
            <p:custDataLst>
              <p:tags r:id="rId8"/>
            </p:custDataLst>
          </p:nvPr>
        </p:nvSpPr>
        <p:spPr>
          <a:xfrm>
            <a:off x="4405948" y="2283641"/>
            <a:ext cx="684530" cy="684530"/>
          </a:xfrm>
          <a:prstGeom prst="ellipse">
            <a:avLst/>
          </a:prstGeom>
          <a:gradFill>
            <a:gsLst>
              <a:gs pos="93000">
                <a:schemeClr val="accent2">
                  <a:alpha val="100000"/>
                </a:schemeClr>
              </a:gs>
              <a:gs pos="0">
                <a:schemeClr val="accent2">
                  <a:lumMod val="40000"/>
                  <a:lumOff val="60000"/>
                  <a:alpha val="100000"/>
                </a:schemeClr>
              </a:gs>
            </a:gsLst>
            <a:lin ang="5400000" scaled="1"/>
          </a:gradFill>
          <a:ln w="444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38" name="文本框 37"/>
          <p:cNvSpPr txBox="1"/>
          <p:nvPr>
            <p:custDataLst>
              <p:tags r:id="rId9"/>
            </p:custDataLst>
          </p:nvPr>
        </p:nvSpPr>
        <p:spPr>
          <a:xfrm>
            <a:off x="6316345" y="3343275"/>
            <a:ext cx="2012315" cy="1243965"/>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spcBef>
                <a:spcPts val="0"/>
              </a:spcBef>
              <a:spcAft>
                <a:spcPts val="0"/>
              </a:spcAft>
            </a:pPr>
            <a:r>
              <a:rPr lang="en-US" altLang="en-US" sz="1600" kern="0" spc="0" dirty="0">
                <a:ln>
                  <a:noFill/>
                  <a:prstDash val="sysDot"/>
                </a:ln>
                <a:solidFill>
                  <a:schemeClr val="tx1">
                    <a:lumMod val="85000"/>
                    <a:lumOff val="15000"/>
                  </a:schemeClr>
                </a:solidFill>
                <a:latin typeface="+mn-ea"/>
                <a:ea typeface="+mn-ea"/>
                <a:sym typeface="+mn-ea"/>
              </a:rPr>
              <a:t>Review analytics can support service improvement and reputation management</a:t>
            </a:r>
            <a:endParaRPr lang="en-US" altLang="en-US" sz="1600" kern="0" spc="0" dirty="0">
              <a:ln>
                <a:noFill/>
                <a:prstDash val="sysDot"/>
              </a:ln>
              <a:solidFill>
                <a:schemeClr val="tx1">
                  <a:lumMod val="85000"/>
                  <a:lumOff val="15000"/>
                </a:schemeClr>
              </a:solidFill>
              <a:latin typeface="+mn-ea"/>
              <a:ea typeface="+mn-ea"/>
              <a:sym typeface="+mn-ea"/>
            </a:endParaRPr>
          </a:p>
        </p:txBody>
      </p:sp>
      <p:sp>
        <p:nvSpPr>
          <p:cNvPr id="40" name="椭圆 39"/>
          <p:cNvSpPr/>
          <p:nvPr>
            <p:custDataLst>
              <p:tags r:id="rId10"/>
            </p:custDataLst>
          </p:nvPr>
        </p:nvSpPr>
        <p:spPr>
          <a:xfrm>
            <a:off x="7006273" y="2283641"/>
            <a:ext cx="684530" cy="684530"/>
          </a:xfrm>
          <a:prstGeom prst="ellipse">
            <a:avLst/>
          </a:prstGeom>
          <a:gradFill>
            <a:gsLst>
              <a:gs pos="93000">
                <a:schemeClr val="accent3">
                  <a:alpha val="100000"/>
                </a:schemeClr>
              </a:gs>
              <a:gs pos="0">
                <a:schemeClr val="accent3">
                  <a:lumMod val="40000"/>
                  <a:lumOff val="60000"/>
                  <a:alpha val="100000"/>
                </a:schemeClr>
              </a:gs>
            </a:gsLst>
            <a:lin ang="5400000" scaled="1"/>
          </a:gradFill>
          <a:ln w="444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43" name="文本框 42"/>
          <p:cNvSpPr txBox="1"/>
          <p:nvPr>
            <p:custDataLst>
              <p:tags r:id="rId11"/>
            </p:custDataLst>
          </p:nvPr>
        </p:nvSpPr>
        <p:spPr>
          <a:xfrm>
            <a:off x="8908415" y="3343275"/>
            <a:ext cx="2012315" cy="1243965"/>
          </a:xfrm>
          <a:prstGeom prst="rect">
            <a:avLst/>
          </a:prstGeom>
          <a:noFill/>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spcBef>
                <a:spcPts val="0"/>
              </a:spcBef>
              <a:spcAft>
                <a:spcPts val="0"/>
              </a:spcAft>
            </a:pPr>
            <a:r>
              <a:rPr lang="en-US" altLang="en-US" sz="1600" kern="0" spc="0" dirty="0">
                <a:ln>
                  <a:noFill/>
                  <a:prstDash val="sysDot"/>
                </a:ln>
                <a:solidFill>
                  <a:schemeClr val="tx1">
                    <a:lumMod val="85000"/>
                    <a:lumOff val="15000"/>
                  </a:schemeClr>
                </a:solidFill>
                <a:latin typeface="+mn-ea"/>
                <a:ea typeface="+mn-ea"/>
                <a:sym typeface="+mn-ea"/>
              </a:rPr>
              <a:t>Combined text and metadata analytics are more useful than isolated indicators</a:t>
            </a:r>
            <a:endParaRPr lang="en-US" altLang="en-US" sz="1600" kern="0" spc="0" dirty="0">
              <a:ln>
                <a:noFill/>
                <a:prstDash val="sysDot"/>
              </a:ln>
              <a:solidFill>
                <a:schemeClr val="tx1">
                  <a:lumMod val="85000"/>
                  <a:lumOff val="15000"/>
                </a:schemeClr>
              </a:solidFill>
              <a:latin typeface="+mn-ea"/>
              <a:ea typeface="+mn-ea"/>
              <a:sym typeface="+mn-ea"/>
            </a:endParaRPr>
          </a:p>
        </p:txBody>
      </p:sp>
      <p:sp>
        <p:nvSpPr>
          <p:cNvPr id="45" name="椭圆 44"/>
          <p:cNvSpPr/>
          <p:nvPr>
            <p:custDataLst>
              <p:tags r:id="rId12"/>
            </p:custDataLst>
          </p:nvPr>
        </p:nvSpPr>
        <p:spPr>
          <a:xfrm>
            <a:off x="9606598" y="2283641"/>
            <a:ext cx="684530" cy="684530"/>
          </a:xfrm>
          <a:prstGeom prst="ellipse">
            <a:avLst/>
          </a:prstGeom>
          <a:gradFill>
            <a:gsLst>
              <a:gs pos="93000">
                <a:schemeClr val="accent4">
                  <a:alpha val="100000"/>
                </a:schemeClr>
              </a:gs>
              <a:gs pos="0">
                <a:schemeClr val="accent4">
                  <a:lumMod val="40000"/>
                  <a:lumOff val="60000"/>
                  <a:alpha val="100000"/>
                </a:schemeClr>
              </a:gs>
            </a:gsLst>
            <a:lin ang="5400000" scaled="1"/>
          </a:gradFill>
          <a:ln w="444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sp>
        <p:nvSpPr>
          <p:cNvPr id="22" name="椭圆 21"/>
          <p:cNvSpPr/>
          <p:nvPr>
            <p:custDataLst>
              <p:tags r:id="rId13"/>
            </p:custDataLst>
          </p:nvPr>
        </p:nvSpPr>
        <p:spPr>
          <a:xfrm>
            <a:off x="1805623" y="2283641"/>
            <a:ext cx="684530" cy="684530"/>
          </a:xfrm>
          <a:prstGeom prst="ellipse">
            <a:avLst/>
          </a:prstGeom>
          <a:gradFill>
            <a:gsLst>
              <a:gs pos="93000">
                <a:schemeClr val="accent1">
                  <a:alpha val="100000"/>
                </a:schemeClr>
              </a:gs>
              <a:gs pos="0">
                <a:schemeClr val="accent1">
                  <a:lumMod val="40000"/>
                  <a:lumOff val="60000"/>
                  <a:alpha val="100000"/>
                </a:schemeClr>
              </a:gs>
            </a:gsLst>
            <a:lin ang="5400000" scaled="1"/>
          </a:gradFill>
          <a:ln w="444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endParaRPr>
          </a:p>
        </p:txBody>
      </p:sp>
      <p:pic>
        <p:nvPicPr>
          <p:cNvPr id="23" name="图片 15" descr="343439383331313b343532303033313bd3a6d3c3c9ccb3c7"/>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4605021" y="2482714"/>
            <a:ext cx="286385" cy="286385"/>
          </a:xfrm>
          <a:prstGeom prst="rect">
            <a:avLst/>
          </a:prstGeom>
        </p:spPr>
      </p:pic>
      <p:pic>
        <p:nvPicPr>
          <p:cNvPr id="24" name="图片 11" descr="343439383331313b343532303032373bbfcdbba7b5b5b0b8"/>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2003888" y="2481906"/>
            <a:ext cx="288000" cy="288000"/>
          </a:xfrm>
          <a:prstGeom prst="rect">
            <a:avLst/>
          </a:prstGeom>
        </p:spPr>
      </p:pic>
      <p:pic>
        <p:nvPicPr>
          <p:cNvPr id="25" name="图片 16" descr="343439383331313b343532303033323bd3a6d3c3b9dcc0ed"/>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7205663" y="2483031"/>
            <a:ext cx="285750" cy="285750"/>
          </a:xfrm>
          <a:prstGeom prst="rect">
            <a:avLst/>
          </a:prstGeom>
        </p:spPr>
      </p:pic>
      <p:pic>
        <p:nvPicPr>
          <p:cNvPr id="26" name="图片 5" descr="343439383331313b343532303032323bb2fac6b7d5b9cabe"/>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9783163" y="2460206"/>
            <a:ext cx="331400" cy="331400"/>
          </a:xfrm>
          <a:prstGeom prst="rect">
            <a:avLst/>
          </a:prstGeom>
        </p:spPr>
      </p:pic>
    </p:spTree>
    <p:custDataLst>
      <p:tags r:id="rId26"/>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en-US" altLang="zh-CN"/>
              <a:t>Limitations</a:t>
            </a:r>
            <a:endParaRPr lang="en-US" altLang="zh-CN"/>
          </a:p>
        </p:txBody>
      </p:sp>
      <p:sp>
        <p:nvSpPr>
          <p:cNvPr id="237" name="任意多边形 12"/>
          <p:cNvSpPr/>
          <p:nvPr>
            <p:custDataLst>
              <p:tags r:id="rId2"/>
            </p:custDataLst>
          </p:nvPr>
        </p:nvSpPr>
        <p:spPr>
          <a:xfrm rot="5400000" flipH="1">
            <a:off x="6303529" y="1897049"/>
            <a:ext cx="3486385" cy="4141116"/>
          </a:xfrm>
          <a:custGeom>
            <a:avLst/>
            <a:gdLst>
              <a:gd name="adj1" fmla="val 4467"/>
              <a:gd name="adj2" fmla="val 0"/>
              <a:gd name="a1" fmla="pin 0 adj1 50000"/>
              <a:gd name="a2" fmla="pin 0 adj2 50000"/>
              <a:gd name="tx1" fmla="*/ ss a1 100000"/>
              <a:gd name="tx2" fmla="+- r 0 tx1"/>
              <a:gd name="bx1" fmla="*/ ss a2 100000"/>
              <a:gd name="bx2" fmla="+- r 0 bx1"/>
              <a:gd name="by1" fmla="+- b 0 bx1"/>
              <a:gd name="d" fmla="+- tx1 0 bx1"/>
              <a:gd name="tdx" fmla="*/ tx1 29289 100000"/>
              <a:gd name="bdx" fmla="*/ bx1 29289 100000"/>
              <a:gd name="il" fmla="?: d tdx bdx"/>
              <a:gd name="ir" fmla="+- r 0 il"/>
              <a:gd name="ib" fmla="+- b 0 bdx"/>
            </a:gdLst>
            <a:ahLst/>
            <a:cxnLst>
              <a:cxn ang="0">
                <a:pos x="r" y="vc"/>
              </a:cxn>
              <a:cxn ang="cd4">
                <a:pos x="hc" y="b"/>
              </a:cxn>
              <a:cxn ang="cd2">
                <a:pos x="l" y="vc"/>
              </a:cxn>
              <a:cxn ang="3">
                <a:pos x="hc" y="t"/>
              </a:cxn>
            </a:cxnLst>
            <a:rect l="l" t="t" r="r" b="b"/>
            <a:pathLst>
              <a:path w="7375" h="8760">
                <a:moveTo>
                  <a:pt x="329" y="0"/>
                </a:moveTo>
                <a:lnTo>
                  <a:pt x="7046" y="0"/>
                </a:lnTo>
                <a:cubicBezTo>
                  <a:pt x="7228" y="0"/>
                  <a:pt x="7375" y="147"/>
                  <a:pt x="7375" y="329"/>
                </a:cubicBezTo>
                <a:lnTo>
                  <a:pt x="7375" y="8264"/>
                </a:lnTo>
                <a:lnTo>
                  <a:pt x="456" y="8264"/>
                </a:lnTo>
                <a:lnTo>
                  <a:pt x="456" y="8760"/>
                </a:lnTo>
                <a:lnTo>
                  <a:pt x="0" y="8760"/>
                </a:lnTo>
                <a:lnTo>
                  <a:pt x="0" y="329"/>
                </a:lnTo>
                <a:cubicBezTo>
                  <a:pt x="0" y="147"/>
                  <a:pt x="147" y="0"/>
                  <a:pt x="329" y="0"/>
                </a:cubicBezTo>
                <a:close/>
              </a:path>
            </a:pathLst>
          </a:custGeom>
          <a:solidFill>
            <a:schemeClr val="accent1">
              <a:lumMod val="40000"/>
              <a:lumOff val="60000"/>
              <a:alpha val="10000"/>
            </a:schemeClr>
          </a:solidFill>
          <a:ln>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575945" tIns="0" rIns="107950" numCol="1" spcCol="0" rtlCol="0" fromWordArt="0" anchor="ctr" anchorCtr="0" forceAA="0" compatLnSpc="1">
            <a:noAutofit/>
          </a:bodyPr>
          <a:p>
            <a:pPr lvl="0" algn="l">
              <a:lnSpc>
                <a:spcPct val="130000"/>
              </a:lnSpc>
              <a:spcAft>
                <a:spcPts val="0"/>
              </a:spcAft>
              <a:buClrTx/>
              <a:buSzTx/>
              <a:buFontTx/>
            </a:pPr>
            <a:r>
              <a:rPr lang="en-US" altLang="zh-CN" sz="1400" dirty="0">
                <a:solidFill>
                  <a:schemeClr val="tx1">
                    <a:lumMod val="85000"/>
                    <a:lumOff val="15000"/>
                  </a:schemeClr>
                </a:solidFill>
                <a:sym typeface="+mn-ea"/>
              </a:rPr>
              <a:t>   </a:t>
            </a:r>
            <a:endParaRPr lang="en-US" altLang="zh-CN" sz="1400" dirty="0">
              <a:solidFill>
                <a:schemeClr val="tx1">
                  <a:lumMod val="85000"/>
                  <a:lumOff val="15000"/>
                </a:schemeClr>
              </a:solidFill>
              <a:sym typeface="+mn-ea"/>
            </a:endParaRPr>
          </a:p>
        </p:txBody>
      </p:sp>
      <p:sp>
        <p:nvSpPr>
          <p:cNvPr id="238" name="任意多边形 13"/>
          <p:cNvSpPr/>
          <p:nvPr>
            <p:custDataLst>
              <p:tags r:id="rId3"/>
            </p:custDataLst>
          </p:nvPr>
        </p:nvSpPr>
        <p:spPr>
          <a:xfrm rot="16200000">
            <a:off x="2415323" y="1694720"/>
            <a:ext cx="3460857" cy="4141116"/>
          </a:xfrm>
          <a:custGeom>
            <a:avLst/>
            <a:gdLst>
              <a:gd name="connsiteX0" fmla="*/ 0 w 7321"/>
              <a:gd name="connsiteY0" fmla="*/ 8760 h 8760"/>
              <a:gd name="connsiteX1" fmla="*/ 0 w 7321"/>
              <a:gd name="connsiteY1" fmla="*/ 329 h 8760"/>
              <a:gd name="connsiteX2" fmla="*/ 326 w 7321"/>
              <a:gd name="connsiteY2" fmla="*/ 0 h 8760"/>
              <a:gd name="connsiteX3" fmla="*/ 6980 w 7321"/>
              <a:gd name="connsiteY3" fmla="*/ 0 h 8760"/>
              <a:gd name="connsiteX4" fmla="*/ 7306 w 7321"/>
              <a:gd name="connsiteY4" fmla="*/ 329 h 8760"/>
              <a:gd name="connsiteX5" fmla="*/ 7321 w 7321"/>
              <a:gd name="connsiteY5" fmla="*/ 8745 h 8760"/>
              <a:gd name="connsiteX6" fmla="*/ 6916 w 7321"/>
              <a:gd name="connsiteY6" fmla="*/ 8747 h 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1" h="8760">
                <a:moveTo>
                  <a:pt x="0" y="8760"/>
                </a:moveTo>
                <a:lnTo>
                  <a:pt x="0" y="329"/>
                </a:lnTo>
                <a:cubicBezTo>
                  <a:pt x="0" y="147"/>
                  <a:pt x="146" y="0"/>
                  <a:pt x="326" y="0"/>
                </a:cubicBezTo>
                <a:lnTo>
                  <a:pt x="6980" y="0"/>
                </a:lnTo>
                <a:cubicBezTo>
                  <a:pt x="7160" y="0"/>
                  <a:pt x="7306" y="147"/>
                  <a:pt x="7306" y="329"/>
                </a:cubicBezTo>
                <a:lnTo>
                  <a:pt x="7321" y="8745"/>
                </a:lnTo>
                <a:cubicBezTo>
                  <a:pt x="7186" y="8745"/>
                  <a:pt x="7055" y="8750"/>
                  <a:pt x="6916" y="8747"/>
                </a:cubicBezTo>
              </a:path>
            </a:pathLst>
          </a:custGeom>
          <a:solidFill>
            <a:schemeClr val="accent1">
              <a:lumMod val="40000"/>
              <a:lumOff val="60000"/>
              <a:alpha val="10000"/>
            </a:schemeClr>
          </a:solidFill>
          <a:ln>
            <a:solidFill>
              <a:schemeClr val="accent1">
                <a:alpha val="50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575945" tIns="0" rIns="107950" numCol="1" spcCol="0" rtlCol="0" fromWordArt="0" anchor="ctr" anchorCtr="0" forceAA="0" compatLnSpc="1">
            <a:noAutofit/>
          </a:bodyPr>
          <a:p>
            <a:pPr lvl="0" algn="l">
              <a:lnSpc>
                <a:spcPct val="130000"/>
              </a:lnSpc>
              <a:spcAft>
                <a:spcPts val="0"/>
              </a:spcAft>
              <a:buClrTx/>
              <a:buSzTx/>
              <a:buFontTx/>
            </a:pPr>
            <a:endParaRPr lang="en-US" altLang="zh-CN" sz="1400" dirty="0">
              <a:solidFill>
                <a:schemeClr val="tx1">
                  <a:lumMod val="85000"/>
                  <a:lumOff val="15000"/>
                </a:schemeClr>
              </a:solidFill>
              <a:sym typeface="+mn-ea"/>
            </a:endParaRPr>
          </a:p>
        </p:txBody>
      </p:sp>
      <p:sp>
        <p:nvSpPr>
          <p:cNvPr id="239" name="任意多边形 21"/>
          <p:cNvSpPr/>
          <p:nvPr>
            <p:custDataLst>
              <p:tags r:id="rId4"/>
            </p:custDataLst>
          </p:nvPr>
        </p:nvSpPr>
        <p:spPr>
          <a:xfrm>
            <a:off x="5976399" y="2224178"/>
            <a:ext cx="374875" cy="3486401"/>
          </a:xfrm>
          <a:custGeom>
            <a:avLst/>
            <a:gdLst/>
            <a:ahLst/>
            <a:cxnLst>
              <a:cxn ang="3">
                <a:pos x="hc" y="t"/>
              </a:cxn>
              <a:cxn ang="cd2">
                <a:pos x="l" y="vc"/>
              </a:cxn>
              <a:cxn ang="cd4">
                <a:pos x="hc" y="b"/>
              </a:cxn>
              <a:cxn ang="0">
                <a:pos x="r" y="vc"/>
              </a:cxn>
            </a:cxnLst>
            <a:rect l="l" t="t" r="r" b="b"/>
            <a:pathLst>
              <a:path w="793" h="7410">
                <a:moveTo>
                  <a:pt x="494" y="0"/>
                </a:moveTo>
                <a:lnTo>
                  <a:pt x="793" y="0"/>
                </a:lnTo>
                <a:lnTo>
                  <a:pt x="793" y="7410"/>
                </a:lnTo>
                <a:lnTo>
                  <a:pt x="0" y="7410"/>
                </a:lnTo>
                <a:lnTo>
                  <a:pt x="0" y="6949"/>
                </a:lnTo>
                <a:lnTo>
                  <a:pt x="494" y="6949"/>
                </a:lnTo>
                <a:lnTo>
                  <a:pt x="494" y="0"/>
                </a:lnTo>
                <a:close/>
              </a:path>
            </a:pathLst>
          </a:custGeom>
          <a:gradFill>
            <a:gsLst>
              <a:gs pos="0">
                <a:schemeClr val="accent1">
                  <a:lumMod val="50000"/>
                  <a:alpha val="32000"/>
                </a:schemeClr>
              </a:gs>
              <a:gs pos="83000">
                <a:schemeClr val="accent1">
                  <a:lumMod val="50000"/>
                  <a:alpha val="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solidFill>
                <a:schemeClr val="lt1"/>
              </a:solidFill>
            </a:endParaRPr>
          </a:p>
        </p:txBody>
      </p:sp>
      <p:sp>
        <p:nvSpPr>
          <p:cNvPr id="240" name="直角三角形 19"/>
          <p:cNvSpPr/>
          <p:nvPr>
            <p:custDataLst>
              <p:tags r:id="rId5"/>
            </p:custDataLst>
          </p:nvPr>
        </p:nvSpPr>
        <p:spPr>
          <a:xfrm flipV="1">
            <a:off x="5978290" y="5494052"/>
            <a:ext cx="240620" cy="216510"/>
          </a:xfrm>
          <a:prstGeom prst="rtTriangle">
            <a:avLst/>
          </a:prstGeom>
          <a:solidFill>
            <a:schemeClr val="accent1">
              <a:alpha val="53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241" name="文本框 4"/>
          <p:cNvSpPr txBox="1"/>
          <p:nvPr>
            <p:custDataLst>
              <p:tags r:id="rId6"/>
            </p:custDataLst>
          </p:nvPr>
        </p:nvSpPr>
        <p:spPr>
          <a:xfrm>
            <a:off x="6888768" y="2809418"/>
            <a:ext cx="2970163" cy="1091061"/>
          </a:xfrm>
          <a:prstGeom prst="rect">
            <a:avLst/>
          </a:prstGeom>
          <a:noFill/>
        </p:spPr>
        <p:txBody>
          <a:bodyPr wrap="square" lIns="0" tIns="0" rIns="0" bIns="0" rtlCol="0" anchor="ctr" anchorCtr="0">
            <a:noAutofit/>
          </a:bodyPr>
          <a:p>
            <a:pPr indent="0" algn="l" fontAlgn="ctr">
              <a:lnSpc>
                <a:spcPct val="150000"/>
              </a:lnSpc>
              <a:spcAft>
                <a:spcPts val="0"/>
              </a:spcAft>
            </a:pPr>
            <a:r>
              <a:rPr lang="en-US" altLang="en-US" sz="1600" kern="1300" dirty="0">
                <a:solidFill>
                  <a:schemeClr val="tx1">
                    <a:lumMod val="85000"/>
                    <a:lumOff val="15000"/>
                  </a:schemeClr>
                </a:solidFill>
                <a:uFillTx/>
                <a:sym typeface="+mn-ea"/>
              </a:rPr>
              <a:t>Raw text contains multilingual and noisy content</a:t>
            </a:r>
            <a:endParaRPr lang="en-US" altLang="en-US" sz="1600" kern="1300" dirty="0">
              <a:solidFill>
                <a:schemeClr val="tx1">
                  <a:lumMod val="85000"/>
                  <a:lumOff val="15000"/>
                </a:schemeClr>
              </a:solidFill>
              <a:uFillTx/>
              <a:sym typeface="+mn-ea"/>
            </a:endParaRPr>
          </a:p>
        </p:txBody>
      </p:sp>
      <p:sp>
        <p:nvSpPr>
          <p:cNvPr id="242" name="文本框 5"/>
          <p:cNvSpPr txBox="1"/>
          <p:nvPr>
            <p:custDataLst>
              <p:tags r:id="rId7"/>
            </p:custDataLst>
          </p:nvPr>
        </p:nvSpPr>
        <p:spPr>
          <a:xfrm>
            <a:off x="6280365" y="3132293"/>
            <a:ext cx="513385" cy="553094"/>
          </a:xfrm>
          <a:prstGeom prst="rect">
            <a:avLst/>
          </a:prstGeom>
          <a:noFill/>
        </p:spPr>
        <p:txBody>
          <a:bodyPr wrap="none" lIns="0" tIns="36195" rIns="0" bIns="0" rtlCol="0" anchor="ctr" anchorCtr="0">
            <a:noAutofit/>
          </a:bodyPr>
          <a:p>
            <a:pPr algn="ctr" fontAlgn="ctr"/>
            <a:r>
              <a:rPr lang="en-US" altLang="zh-CN" sz="3200" b="1" dirty="0">
                <a:gradFill>
                  <a:gsLst>
                    <a:gs pos="0">
                      <a:schemeClr val="accent1">
                        <a:alpha val="50000"/>
                      </a:schemeClr>
                    </a:gs>
                    <a:gs pos="94000">
                      <a:schemeClr val="accent1">
                        <a:alpha val="50000"/>
                      </a:schemeClr>
                    </a:gs>
                  </a:gsLst>
                  <a:lin ang="5400000" scaled="0"/>
                </a:gradFill>
                <a:latin typeface="+mj-lt"/>
                <a:ea typeface="+mj-lt"/>
                <a:sym typeface="+mn-ea"/>
              </a:rPr>
              <a:t>03</a:t>
            </a:r>
            <a:endParaRPr lang="en-US" altLang="zh-CN" sz="32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243" name="文本框 6"/>
          <p:cNvSpPr txBox="1"/>
          <p:nvPr>
            <p:custDataLst>
              <p:tags r:id="rId8"/>
            </p:custDataLst>
          </p:nvPr>
        </p:nvSpPr>
        <p:spPr>
          <a:xfrm>
            <a:off x="6888768" y="4015352"/>
            <a:ext cx="2970163" cy="1091061"/>
          </a:xfrm>
          <a:prstGeom prst="rect">
            <a:avLst/>
          </a:prstGeom>
          <a:noFill/>
        </p:spPr>
        <p:txBody>
          <a:bodyPr wrap="square" lIns="0" tIns="0" rIns="0" bIns="0" rtlCol="0" anchor="ctr" anchorCtr="0">
            <a:noAutofit/>
          </a:bodyPr>
          <a:p>
            <a:pPr indent="0" algn="l" fontAlgn="ctr">
              <a:lnSpc>
                <a:spcPct val="150000"/>
              </a:lnSpc>
              <a:spcAft>
                <a:spcPts val="0"/>
              </a:spcAft>
            </a:pPr>
            <a:r>
              <a:rPr lang="en-US" altLang="en-US" sz="1600" kern="1300" dirty="0">
                <a:solidFill>
                  <a:schemeClr val="tx1">
                    <a:lumMod val="85000"/>
                    <a:lumOff val="15000"/>
                  </a:schemeClr>
                </a:solidFill>
                <a:uFillTx/>
                <a:sym typeface="+mn-ea"/>
              </a:rPr>
              <a:t>Lexicon methods may miss deeper semantic nuances</a:t>
            </a:r>
            <a:endParaRPr lang="en-US" altLang="en-US" sz="1600" kern="1300" dirty="0">
              <a:solidFill>
                <a:schemeClr val="tx1">
                  <a:lumMod val="85000"/>
                  <a:lumOff val="15000"/>
                </a:schemeClr>
              </a:solidFill>
              <a:uFillTx/>
              <a:sym typeface="+mn-ea"/>
            </a:endParaRPr>
          </a:p>
        </p:txBody>
      </p:sp>
      <p:sp>
        <p:nvSpPr>
          <p:cNvPr id="244" name="文本框 7"/>
          <p:cNvSpPr txBox="1"/>
          <p:nvPr>
            <p:custDataLst>
              <p:tags r:id="rId9"/>
            </p:custDataLst>
          </p:nvPr>
        </p:nvSpPr>
        <p:spPr>
          <a:xfrm>
            <a:off x="6280365" y="4338227"/>
            <a:ext cx="513385" cy="553094"/>
          </a:xfrm>
          <a:prstGeom prst="rect">
            <a:avLst/>
          </a:prstGeom>
          <a:noFill/>
        </p:spPr>
        <p:txBody>
          <a:bodyPr wrap="none" lIns="0" tIns="36195" rIns="0" bIns="0" rtlCol="0" anchor="ctr" anchorCtr="0">
            <a:noAutofit/>
          </a:bodyPr>
          <a:p>
            <a:pPr algn="ctr" fontAlgn="ctr"/>
            <a:r>
              <a:rPr lang="en-US" altLang="zh-CN" sz="3200" b="1" dirty="0">
                <a:gradFill>
                  <a:gsLst>
                    <a:gs pos="0">
                      <a:schemeClr val="accent2">
                        <a:alpha val="50000"/>
                      </a:schemeClr>
                    </a:gs>
                    <a:gs pos="94000">
                      <a:schemeClr val="accent2">
                        <a:alpha val="50000"/>
                      </a:schemeClr>
                    </a:gs>
                  </a:gsLst>
                  <a:lin ang="5400000" scaled="0"/>
                </a:gradFill>
                <a:latin typeface="+mj-lt"/>
                <a:ea typeface="+mj-lt"/>
                <a:sym typeface="+mn-ea"/>
              </a:rPr>
              <a:t>04</a:t>
            </a:r>
            <a:endParaRPr lang="en-US" altLang="zh-CN" sz="3200" b="1" dirty="0">
              <a:gradFill>
                <a:gsLst>
                  <a:gs pos="0">
                    <a:schemeClr val="accent2">
                      <a:alpha val="50000"/>
                    </a:schemeClr>
                  </a:gs>
                  <a:gs pos="94000">
                    <a:schemeClr val="accent2">
                      <a:alpha val="50000"/>
                    </a:schemeClr>
                  </a:gs>
                </a:gsLst>
                <a:lin ang="5400000" scaled="0"/>
              </a:gradFill>
              <a:latin typeface="+mj-lt"/>
              <a:ea typeface="+mj-lt"/>
              <a:sym typeface="+mn-ea"/>
            </a:endParaRPr>
          </a:p>
        </p:txBody>
      </p:sp>
      <p:sp>
        <p:nvSpPr>
          <p:cNvPr id="245" name="文本框 8"/>
          <p:cNvSpPr txBox="1"/>
          <p:nvPr>
            <p:custDataLst>
              <p:tags r:id="rId10"/>
            </p:custDataLst>
          </p:nvPr>
        </p:nvSpPr>
        <p:spPr>
          <a:xfrm>
            <a:off x="2928708" y="2607089"/>
            <a:ext cx="2970163" cy="1091061"/>
          </a:xfrm>
          <a:prstGeom prst="rect">
            <a:avLst/>
          </a:prstGeom>
          <a:noFill/>
        </p:spPr>
        <p:txBody>
          <a:bodyPr wrap="square" lIns="0" tIns="0" rIns="0" bIns="0" rtlCol="0" anchor="ctr" anchorCtr="0">
            <a:noAutofit/>
          </a:bodyPr>
          <a:p>
            <a:pPr indent="0" algn="l" fontAlgn="ctr">
              <a:lnSpc>
                <a:spcPct val="150000"/>
              </a:lnSpc>
              <a:spcAft>
                <a:spcPts val="0"/>
              </a:spcAft>
            </a:pPr>
            <a:r>
              <a:rPr lang="en-US" altLang="en-US" sz="1600" kern="1300" dirty="0">
                <a:solidFill>
                  <a:schemeClr val="tx1">
                    <a:lumMod val="85000"/>
                    <a:lumOff val="15000"/>
                  </a:schemeClr>
                </a:solidFill>
                <a:uFillTx/>
                <a:sym typeface="+mn-ea"/>
              </a:rPr>
              <a:t>The crawled reviews are a truncated sample</a:t>
            </a:r>
            <a:endParaRPr lang="en-US" altLang="en-US" sz="1600" kern="1300" dirty="0">
              <a:solidFill>
                <a:schemeClr val="tx1">
                  <a:lumMod val="85000"/>
                  <a:lumOff val="15000"/>
                </a:schemeClr>
              </a:solidFill>
              <a:uFillTx/>
              <a:sym typeface="+mn-ea"/>
            </a:endParaRPr>
          </a:p>
        </p:txBody>
      </p:sp>
      <p:sp>
        <p:nvSpPr>
          <p:cNvPr id="246" name="文本框 9"/>
          <p:cNvSpPr txBox="1"/>
          <p:nvPr>
            <p:custDataLst>
              <p:tags r:id="rId11"/>
            </p:custDataLst>
          </p:nvPr>
        </p:nvSpPr>
        <p:spPr>
          <a:xfrm>
            <a:off x="2320304" y="2929964"/>
            <a:ext cx="513385" cy="553094"/>
          </a:xfrm>
          <a:prstGeom prst="rect">
            <a:avLst/>
          </a:prstGeom>
          <a:noFill/>
        </p:spPr>
        <p:txBody>
          <a:bodyPr wrap="none" lIns="0" tIns="36195" rIns="0" bIns="0" rtlCol="0" anchor="ctr" anchorCtr="0">
            <a:noAutofit/>
          </a:bodyPr>
          <a:p>
            <a:pPr algn="ctr" fontAlgn="ctr"/>
            <a:r>
              <a:rPr lang="en-US" altLang="zh-CN" sz="3200" b="1" dirty="0">
                <a:gradFill>
                  <a:gsLst>
                    <a:gs pos="0">
                      <a:schemeClr val="accent1">
                        <a:alpha val="50000"/>
                      </a:schemeClr>
                    </a:gs>
                    <a:gs pos="94000">
                      <a:schemeClr val="accent1">
                        <a:alpha val="50000"/>
                      </a:schemeClr>
                    </a:gs>
                  </a:gsLst>
                  <a:lin ang="5400000" scaled="0"/>
                </a:gradFill>
                <a:latin typeface="+mj-lt"/>
                <a:ea typeface="+mj-lt"/>
                <a:sym typeface="+mn-ea"/>
              </a:rPr>
              <a:t>01</a:t>
            </a:r>
            <a:endParaRPr lang="en-US" altLang="zh-CN" sz="3200" b="1" dirty="0">
              <a:gradFill>
                <a:gsLst>
                  <a:gs pos="0">
                    <a:schemeClr val="accent1">
                      <a:alpha val="50000"/>
                    </a:schemeClr>
                  </a:gs>
                  <a:gs pos="94000">
                    <a:schemeClr val="accent1">
                      <a:alpha val="50000"/>
                    </a:schemeClr>
                  </a:gs>
                </a:gsLst>
                <a:lin ang="5400000" scaled="0"/>
              </a:gradFill>
              <a:latin typeface="+mj-lt"/>
              <a:ea typeface="+mj-lt"/>
              <a:sym typeface="+mn-ea"/>
            </a:endParaRPr>
          </a:p>
        </p:txBody>
      </p:sp>
      <p:sp>
        <p:nvSpPr>
          <p:cNvPr id="247" name="文本框 10"/>
          <p:cNvSpPr txBox="1"/>
          <p:nvPr>
            <p:custDataLst>
              <p:tags r:id="rId12"/>
            </p:custDataLst>
          </p:nvPr>
        </p:nvSpPr>
        <p:spPr>
          <a:xfrm>
            <a:off x="2928708" y="3813024"/>
            <a:ext cx="2970163" cy="1091061"/>
          </a:xfrm>
          <a:prstGeom prst="rect">
            <a:avLst/>
          </a:prstGeom>
          <a:noFill/>
        </p:spPr>
        <p:txBody>
          <a:bodyPr wrap="square" lIns="0" tIns="0" rIns="0" bIns="0" rtlCol="0" anchor="ctr" anchorCtr="0">
            <a:noAutofit/>
          </a:bodyPr>
          <a:p>
            <a:pPr indent="0" algn="l" fontAlgn="ctr">
              <a:lnSpc>
                <a:spcPct val="150000"/>
              </a:lnSpc>
              <a:spcAft>
                <a:spcPts val="0"/>
              </a:spcAft>
            </a:pPr>
            <a:r>
              <a:rPr lang="en-US" altLang="en-US" sz="1600" kern="1300" dirty="0">
                <a:solidFill>
                  <a:schemeClr val="tx1">
                    <a:lumMod val="85000"/>
                    <a:lumOff val="15000"/>
                  </a:schemeClr>
                </a:solidFill>
                <a:uFillTx/>
                <a:sym typeface="+mn-ea"/>
              </a:rPr>
              <a:t>The data is imbalanced toward five-star reviews</a:t>
            </a:r>
            <a:endParaRPr lang="en-US" altLang="en-US" sz="1600" kern="1300" dirty="0">
              <a:solidFill>
                <a:schemeClr val="tx1">
                  <a:lumMod val="85000"/>
                  <a:lumOff val="15000"/>
                </a:schemeClr>
              </a:solidFill>
              <a:uFillTx/>
              <a:sym typeface="+mn-ea"/>
            </a:endParaRPr>
          </a:p>
        </p:txBody>
      </p:sp>
      <p:sp>
        <p:nvSpPr>
          <p:cNvPr id="248" name="文本框 11"/>
          <p:cNvSpPr txBox="1"/>
          <p:nvPr>
            <p:custDataLst>
              <p:tags r:id="rId13"/>
            </p:custDataLst>
          </p:nvPr>
        </p:nvSpPr>
        <p:spPr>
          <a:xfrm>
            <a:off x="2320304" y="4135899"/>
            <a:ext cx="513385" cy="553094"/>
          </a:xfrm>
          <a:prstGeom prst="rect">
            <a:avLst/>
          </a:prstGeom>
          <a:noFill/>
        </p:spPr>
        <p:txBody>
          <a:bodyPr wrap="none" lIns="0" tIns="36195" rIns="0" bIns="0" rtlCol="0" anchor="ctr" anchorCtr="0">
            <a:noAutofit/>
          </a:bodyPr>
          <a:p>
            <a:pPr algn="ctr" fontAlgn="ctr"/>
            <a:r>
              <a:rPr lang="en-US" altLang="zh-CN" sz="3200" b="1" dirty="0">
                <a:gradFill>
                  <a:gsLst>
                    <a:gs pos="0">
                      <a:schemeClr val="accent2">
                        <a:alpha val="50000"/>
                      </a:schemeClr>
                    </a:gs>
                    <a:gs pos="94000">
                      <a:schemeClr val="accent2">
                        <a:alpha val="50000"/>
                      </a:schemeClr>
                    </a:gs>
                  </a:gsLst>
                  <a:lin ang="5400000" scaled="0"/>
                </a:gradFill>
                <a:latin typeface="+mj-lt"/>
                <a:ea typeface="+mj-lt"/>
                <a:sym typeface="+mn-ea"/>
              </a:rPr>
              <a:t>02</a:t>
            </a:r>
            <a:endParaRPr lang="en-US" altLang="zh-CN" sz="3200" b="1" dirty="0">
              <a:gradFill>
                <a:gsLst>
                  <a:gs pos="0">
                    <a:schemeClr val="accent2">
                      <a:alpha val="50000"/>
                    </a:schemeClr>
                  </a:gs>
                  <a:gs pos="94000">
                    <a:schemeClr val="accent2">
                      <a:alpha val="50000"/>
                    </a:schemeClr>
                  </a:gs>
                </a:gsLst>
                <a:lin ang="5400000" scaled="0"/>
              </a:gradFill>
              <a:latin typeface="+mj-lt"/>
              <a:ea typeface="+mj-lt"/>
              <a:sym typeface="+mn-ea"/>
            </a:endParaRPr>
          </a:p>
        </p:txBody>
      </p:sp>
    </p:spTree>
    <p:custDataLst>
      <p:tags r:id="rId1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en-US" altLang="zh-CN"/>
              <a:t>Future Work</a:t>
            </a:r>
            <a:endParaRPr lang="en-US" altLang="zh-CN"/>
          </a:p>
        </p:txBody>
      </p:sp>
      <p:sp>
        <p:nvSpPr>
          <p:cNvPr id="122" name="圆角矩形 43"/>
          <p:cNvSpPr/>
          <p:nvPr>
            <p:custDataLst>
              <p:tags r:id="rId2"/>
            </p:custDataLst>
          </p:nvPr>
        </p:nvSpPr>
        <p:spPr>
          <a:xfrm>
            <a:off x="895486" y="1640560"/>
            <a:ext cx="10399822" cy="1029770"/>
          </a:xfrm>
          <a:prstGeom prst="roundRect">
            <a:avLst>
              <a:gd name="adj" fmla="val 22030"/>
            </a:avLst>
          </a:prstGeom>
          <a:solidFill>
            <a:schemeClr val="lt1">
              <a:lumMod val="100000"/>
              <a:alpha val="10000"/>
            </a:schemeClr>
          </a:solidFill>
          <a:ln>
            <a:gradFill>
              <a:gsLst>
                <a:gs pos="0">
                  <a:schemeClr val="accent1">
                    <a:alpha val="70000"/>
                  </a:schemeClr>
                </a:gs>
                <a:gs pos="100000">
                  <a:schemeClr val="accent1">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972185" tIns="0" rIns="179705" bIns="36195" rtlCol="0" anchor="ctr">
            <a:noAutofit/>
          </a:bodyPr>
          <a:p>
            <a:pPr indent="0" algn="l" fontAlgn="auto">
              <a:lnSpc>
                <a:spcPct val="130000"/>
              </a:lnSpc>
              <a:spcAft>
                <a:spcPts val="0"/>
              </a:spcAft>
            </a:pPr>
            <a:r>
              <a:rPr lang="en-US" altLang="en-US" sz="1600" dirty="0">
                <a:solidFill>
                  <a:schemeClr val="tx1">
                    <a:lumMod val="85000"/>
                    <a:lumOff val="15000"/>
                  </a:schemeClr>
                </a:solidFill>
                <a:sym typeface="+mn-ea"/>
              </a:rPr>
              <a:t>Add deep learning models such as MLP or BERT-based classifiers</a:t>
            </a:r>
            <a:endParaRPr lang="en-US" altLang="en-US" sz="1600" dirty="0">
              <a:solidFill>
                <a:schemeClr val="tx1">
                  <a:lumMod val="85000"/>
                  <a:lumOff val="15000"/>
                </a:schemeClr>
              </a:solidFill>
              <a:sym typeface="+mn-ea"/>
            </a:endParaRPr>
          </a:p>
        </p:txBody>
      </p:sp>
      <p:sp>
        <p:nvSpPr>
          <p:cNvPr id="123" name="椭圆 44"/>
          <p:cNvSpPr>
            <a:spLocks noChangeAspect="1"/>
          </p:cNvSpPr>
          <p:nvPr>
            <p:custDataLst>
              <p:tags r:id="rId3"/>
            </p:custDataLst>
          </p:nvPr>
        </p:nvSpPr>
        <p:spPr>
          <a:xfrm>
            <a:off x="1207964" y="1945089"/>
            <a:ext cx="420714" cy="420714"/>
          </a:xfrm>
          <a:prstGeom prst="ellipse">
            <a:avLst/>
          </a:prstGeom>
          <a:gradFill>
            <a:gsLst>
              <a:gs pos="0">
                <a:schemeClr val="accent1">
                  <a:alpha val="100000"/>
                </a:schemeClr>
              </a:gs>
              <a:gs pos="100000">
                <a:schemeClr val="accent1">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1</a:t>
            </a:r>
            <a:endParaRPr lang="en-US" altLang="zh-CN" dirty="0">
              <a:solidFill>
                <a:srgbClr val="FFFFFF"/>
              </a:solidFill>
              <a:sym typeface="+mn-ea"/>
            </a:endParaRPr>
          </a:p>
        </p:txBody>
      </p:sp>
      <p:sp>
        <p:nvSpPr>
          <p:cNvPr id="124" name="圆角矩形 46"/>
          <p:cNvSpPr/>
          <p:nvPr>
            <p:custDataLst>
              <p:tags r:id="rId4"/>
            </p:custDataLst>
          </p:nvPr>
        </p:nvSpPr>
        <p:spPr>
          <a:xfrm>
            <a:off x="895486" y="2807307"/>
            <a:ext cx="10399822" cy="1029770"/>
          </a:xfrm>
          <a:prstGeom prst="roundRect">
            <a:avLst>
              <a:gd name="adj" fmla="val 22030"/>
            </a:avLst>
          </a:prstGeom>
          <a:solidFill>
            <a:schemeClr val="lt1">
              <a:lumMod val="100000"/>
              <a:alpha val="10000"/>
            </a:schemeClr>
          </a:solidFill>
          <a:ln>
            <a:gradFill>
              <a:gsLst>
                <a:gs pos="0">
                  <a:schemeClr val="accent2">
                    <a:alpha val="70000"/>
                  </a:schemeClr>
                </a:gs>
                <a:gs pos="100000">
                  <a:schemeClr val="accent2">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972185" tIns="0" rIns="179705" bIns="36195" rtlCol="0" anchor="ctr">
            <a:noAutofit/>
          </a:bodyPr>
          <a:p>
            <a:pPr indent="0" algn="l" fontAlgn="auto">
              <a:lnSpc>
                <a:spcPct val="130000"/>
              </a:lnSpc>
              <a:spcAft>
                <a:spcPts val="0"/>
              </a:spcAft>
            </a:pPr>
            <a:r>
              <a:rPr lang="en-US" altLang="en-US" sz="1600" dirty="0">
                <a:solidFill>
                  <a:schemeClr val="tx1">
                    <a:lumMod val="85000"/>
                    <a:lumOff val="15000"/>
                  </a:schemeClr>
                </a:solidFill>
                <a:sym typeface="+mn-ea"/>
              </a:rPr>
              <a:t>Increase the crawled review coverage</a:t>
            </a:r>
            <a:endParaRPr lang="en-US" altLang="en-US" sz="1600" dirty="0">
              <a:solidFill>
                <a:schemeClr val="tx1">
                  <a:lumMod val="85000"/>
                  <a:lumOff val="15000"/>
                </a:schemeClr>
              </a:solidFill>
              <a:sym typeface="+mn-ea"/>
            </a:endParaRPr>
          </a:p>
        </p:txBody>
      </p:sp>
      <p:sp>
        <p:nvSpPr>
          <p:cNvPr id="125" name="椭圆 47"/>
          <p:cNvSpPr>
            <a:spLocks noChangeAspect="1"/>
          </p:cNvSpPr>
          <p:nvPr>
            <p:custDataLst>
              <p:tags r:id="rId5"/>
            </p:custDataLst>
          </p:nvPr>
        </p:nvSpPr>
        <p:spPr>
          <a:xfrm>
            <a:off x="1207964" y="3111835"/>
            <a:ext cx="420714" cy="420714"/>
          </a:xfrm>
          <a:prstGeom prst="ellipse">
            <a:avLst/>
          </a:prstGeom>
          <a:gradFill>
            <a:gsLst>
              <a:gs pos="0">
                <a:schemeClr val="accent2">
                  <a:alpha val="100000"/>
                </a:schemeClr>
              </a:gs>
              <a:gs pos="100000">
                <a:schemeClr val="accent2">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2</a:t>
            </a:r>
            <a:endParaRPr lang="en-US" altLang="zh-CN" dirty="0">
              <a:solidFill>
                <a:srgbClr val="FFFFFF"/>
              </a:solidFill>
              <a:sym typeface="+mn-ea"/>
            </a:endParaRPr>
          </a:p>
        </p:txBody>
      </p:sp>
      <p:sp>
        <p:nvSpPr>
          <p:cNvPr id="126" name="圆角矩形 49"/>
          <p:cNvSpPr/>
          <p:nvPr>
            <p:custDataLst>
              <p:tags r:id="rId6"/>
            </p:custDataLst>
          </p:nvPr>
        </p:nvSpPr>
        <p:spPr>
          <a:xfrm>
            <a:off x="895486" y="3974054"/>
            <a:ext cx="10399822" cy="1029770"/>
          </a:xfrm>
          <a:prstGeom prst="roundRect">
            <a:avLst>
              <a:gd name="adj" fmla="val 22030"/>
            </a:avLst>
          </a:prstGeom>
          <a:solidFill>
            <a:schemeClr val="lt1">
              <a:lumMod val="100000"/>
              <a:alpha val="10000"/>
            </a:schemeClr>
          </a:solidFill>
          <a:ln>
            <a:gradFill>
              <a:gsLst>
                <a:gs pos="0">
                  <a:schemeClr val="accent1">
                    <a:alpha val="70000"/>
                  </a:schemeClr>
                </a:gs>
                <a:gs pos="100000">
                  <a:schemeClr val="accent1">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972185" tIns="0" rIns="179705" bIns="36195" rtlCol="0" anchor="ctr">
            <a:noAutofit/>
          </a:bodyPr>
          <a:p>
            <a:pPr indent="0" algn="l" fontAlgn="auto">
              <a:lnSpc>
                <a:spcPct val="130000"/>
              </a:lnSpc>
              <a:spcAft>
                <a:spcPts val="0"/>
              </a:spcAft>
            </a:pPr>
            <a:r>
              <a:rPr lang="en-US" altLang="en-US" sz="1600" dirty="0">
                <a:solidFill>
                  <a:schemeClr val="tx1">
                    <a:lumMod val="85000"/>
                    <a:lumOff val="15000"/>
                  </a:schemeClr>
                </a:solidFill>
                <a:sym typeface="+mn-ea"/>
              </a:rPr>
              <a:t>Extend to restaurant-level forecasting tasks</a:t>
            </a:r>
            <a:endParaRPr lang="en-US" altLang="en-US" sz="1600" dirty="0">
              <a:solidFill>
                <a:schemeClr val="tx1">
                  <a:lumMod val="85000"/>
                  <a:lumOff val="15000"/>
                </a:schemeClr>
              </a:solidFill>
              <a:sym typeface="+mn-ea"/>
            </a:endParaRPr>
          </a:p>
        </p:txBody>
      </p:sp>
      <p:sp>
        <p:nvSpPr>
          <p:cNvPr id="127" name="椭圆 51"/>
          <p:cNvSpPr>
            <a:spLocks noChangeAspect="1"/>
          </p:cNvSpPr>
          <p:nvPr>
            <p:custDataLst>
              <p:tags r:id="rId7"/>
            </p:custDataLst>
          </p:nvPr>
        </p:nvSpPr>
        <p:spPr>
          <a:xfrm>
            <a:off x="1207964" y="4278582"/>
            <a:ext cx="420714" cy="420714"/>
          </a:xfrm>
          <a:prstGeom prst="ellipse">
            <a:avLst/>
          </a:prstGeom>
          <a:gradFill>
            <a:gsLst>
              <a:gs pos="0">
                <a:schemeClr val="accent1">
                  <a:alpha val="100000"/>
                </a:schemeClr>
              </a:gs>
              <a:gs pos="100000">
                <a:schemeClr val="accent1">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3</a:t>
            </a:r>
            <a:endParaRPr lang="en-US" altLang="zh-CN" dirty="0">
              <a:solidFill>
                <a:srgbClr val="FFFFFF"/>
              </a:solidFill>
              <a:sym typeface="+mn-ea"/>
            </a:endParaRPr>
          </a:p>
        </p:txBody>
      </p:sp>
      <p:sp>
        <p:nvSpPr>
          <p:cNvPr id="128" name="圆角矩形 53"/>
          <p:cNvSpPr/>
          <p:nvPr>
            <p:custDataLst>
              <p:tags r:id="rId8"/>
            </p:custDataLst>
          </p:nvPr>
        </p:nvSpPr>
        <p:spPr>
          <a:xfrm>
            <a:off x="895486" y="5140800"/>
            <a:ext cx="10399822" cy="1029770"/>
          </a:xfrm>
          <a:prstGeom prst="roundRect">
            <a:avLst>
              <a:gd name="adj" fmla="val 22030"/>
            </a:avLst>
          </a:prstGeom>
          <a:solidFill>
            <a:schemeClr val="lt1">
              <a:lumMod val="100000"/>
              <a:alpha val="10000"/>
            </a:schemeClr>
          </a:solidFill>
          <a:ln>
            <a:gradFill>
              <a:gsLst>
                <a:gs pos="0">
                  <a:schemeClr val="accent2">
                    <a:alpha val="70000"/>
                  </a:schemeClr>
                </a:gs>
                <a:gs pos="100000">
                  <a:schemeClr val="accent2">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972185" tIns="0" rIns="179705" bIns="36195" rtlCol="0" anchor="ctr">
            <a:noAutofit/>
          </a:bodyPr>
          <a:p>
            <a:pPr indent="0" algn="l" fontAlgn="auto">
              <a:lnSpc>
                <a:spcPct val="130000"/>
              </a:lnSpc>
              <a:spcAft>
                <a:spcPts val="0"/>
              </a:spcAft>
            </a:pPr>
            <a:r>
              <a:rPr lang="en-US" altLang="en-US" sz="1600" dirty="0">
                <a:solidFill>
                  <a:schemeClr val="tx1">
                    <a:lumMod val="85000"/>
                    <a:lumOff val="15000"/>
                  </a:schemeClr>
                </a:solidFill>
                <a:sym typeface="+mn-ea"/>
              </a:rPr>
              <a:t>Explore aspect-based and multilingual analytics</a:t>
            </a:r>
            <a:endParaRPr lang="en-US" altLang="en-US" sz="1600" dirty="0">
              <a:solidFill>
                <a:schemeClr val="tx1">
                  <a:lumMod val="85000"/>
                  <a:lumOff val="15000"/>
                </a:schemeClr>
              </a:solidFill>
              <a:sym typeface="+mn-ea"/>
            </a:endParaRPr>
          </a:p>
        </p:txBody>
      </p:sp>
      <p:sp>
        <p:nvSpPr>
          <p:cNvPr id="129" name="椭圆 54"/>
          <p:cNvSpPr>
            <a:spLocks noChangeAspect="1"/>
          </p:cNvSpPr>
          <p:nvPr>
            <p:custDataLst>
              <p:tags r:id="rId9"/>
            </p:custDataLst>
          </p:nvPr>
        </p:nvSpPr>
        <p:spPr>
          <a:xfrm>
            <a:off x="1207964" y="5445329"/>
            <a:ext cx="420714" cy="420714"/>
          </a:xfrm>
          <a:prstGeom prst="ellipse">
            <a:avLst/>
          </a:prstGeom>
          <a:gradFill>
            <a:gsLst>
              <a:gs pos="0">
                <a:schemeClr val="accent2">
                  <a:alpha val="100000"/>
                </a:schemeClr>
              </a:gs>
              <a:gs pos="100000">
                <a:schemeClr val="accent2">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4</a:t>
            </a:r>
            <a:endParaRPr lang="en-US" altLang="zh-CN" dirty="0">
              <a:solidFill>
                <a:srgbClr val="FFFFFF"/>
              </a:solidFill>
              <a:sym typeface="+mn-ea"/>
            </a:endParaRPr>
          </a:p>
        </p:txBody>
      </p:sp>
    </p:spTree>
    <p:custDataLst>
      <p:tags r:id="rId10"/>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Thanks for Listening!</a:t>
            </a:r>
            <a:br>
              <a:rPr lang="en-US" dirty="0"/>
            </a:br>
            <a:r>
              <a:rPr lang="en-US" dirty="0"/>
              <a:t>Q&amp;A </a:t>
            </a:r>
            <a:endParaRPr lang="en-US" dirty="0"/>
          </a:p>
        </p:txBody>
      </p:sp>
    </p:spTree>
  </p:cSld>
  <p:clrMapOvr>
    <a:masterClrMapping/>
  </p:clrMapOvr>
</p:sld>
</file>

<file path=ppt/tags/tag1.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2.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3.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4.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5.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6.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7.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8.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9.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10.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11.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12.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13.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14.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15.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16.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17.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18.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19.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20.xml><?xml version="1.0" encoding="utf-8"?>
<p:tagLst xmlns:p="http://schemas.openxmlformats.org/presentationml/2006/main">
  <p:tag name="KSO_WM_DIAGRAM_VIRTUALLY_FRAME" val="{&quot;height&quot;:325.74818897637795,&quot;left&quot;:30.29409448818898,&quot;top&quot;:113.95220472440944,&quot;width&quot;:899.0864566929134}"/>
</p:tagLst>
</file>

<file path=ppt/tags/tag21.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22.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23.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24.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25.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26.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27.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28.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29.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30.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31.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32.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33.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34.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35.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36.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37.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38.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39.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40.xml><?xml version="1.0" encoding="utf-8"?>
<p:tagLst xmlns:p="http://schemas.openxmlformats.org/presentationml/2006/main">
  <p:tag name="KSO_WM_DIAGRAM_VIRTUALLY_FRAME" val="{&quot;height&quot;:449.1300787401574,&quot;left&quot;:25.510866141732272,&quot;top&quot;:68.15551181102362,&quot;width&quot;:934.4922834645671}"/>
</p:tagLst>
</file>

<file path=ppt/tags/tag41.xml><?xml version="1.0" encoding="utf-8"?>
<p:tagLst xmlns:p="http://schemas.openxmlformats.org/presentationml/2006/main">
  <p:tag name="KSO_WM_DIAGRAM_VIRTUALLY_FRAME" val="{&quot;height&quot;:359.85,&quot;left&quot;:29.65,&quot;top&quot;:75.8,&quot;width&quot;:900.60968503937}"/>
</p:tagLst>
</file>

<file path=ppt/tags/tag42.xml><?xml version="1.0" encoding="utf-8"?>
<p:tagLst xmlns:p="http://schemas.openxmlformats.org/presentationml/2006/main">
  <p:tag name="KSO_WM_DIAGRAM_VIRTUALLY_FRAME" val="{&quot;height&quot;:359.85,&quot;left&quot;:29.65,&quot;top&quot;:75.8,&quot;width&quot;:900.60968503937}"/>
</p:tagLst>
</file>

<file path=ppt/tags/tag43.xml><?xml version="1.0" encoding="utf-8"?>
<p:tagLst xmlns:p="http://schemas.openxmlformats.org/presentationml/2006/main">
  <p:tag name="KSO_WM_DIAGRAM_VIRTUALLY_FRAME" val="{&quot;height&quot;:359.85,&quot;left&quot;:29.65,&quot;top&quot;:75.8,&quot;width&quot;:900.60968503937}"/>
</p:tagLst>
</file>

<file path=ppt/tags/tag44.xml><?xml version="1.0" encoding="utf-8"?>
<p:tagLst xmlns:p="http://schemas.openxmlformats.org/presentationml/2006/main">
  <p:tag name="KSO_WM_DIAGRAM_VIRTUALLY_FRAME" val="{&quot;height&quot;:359.85,&quot;left&quot;:29.65,&quot;top&quot;:75.8,&quot;width&quot;:900.60968503937}"/>
</p:tagLst>
</file>

<file path=ppt/tags/tag45.xml><?xml version="1.0" encoding="utf-8"?>
<p:tagLst xmlns:p="http://schemas.openxmlformats.org/presentationml/2006/main">
  <p:tag name="KSO_WM_DIAGRAM_VIRTUALLY_FRAME" val="{&quot;height&quot;:359.85,&quot;left&quot;:29.65,&quot;top&quot;:75.8,&quot;width&quot;:900.60968503937}"/>
</p:tagLst>
</file>

<file path=ppt/tags/tag46.xml><?xml version="1.0" encoding="utf-8"?>
<p:tagLst xmlns:p="http://schemas.openxmlformats.org/presentationml/2006/main">
  <p:tag name="KSO_WM_DIAGRAM_VIRTUALLY_FRAME" val="{&quot;height&quot;:359.85,&quot;left&quot;:29.65,&quot;top&quot;:75.8,&quot;width&quot;:900.60968503937}"/>
</p:tagLst>
</file>

<file path=ppt/tags/tag47.xml><?xml version="1.0" encoding="utf-8"?>
<p:tagLst xmlns:p="http://schemas.openxmlformats.org/presentationml/2006/main">
  <p:tag name="KSO_WM_DIAGRAM_VIRTUALLY_FRAME" val="{&quot;height&quot;:359.85,&quot;left&quot;:29.65,&quot;top&quot;:75.8,&quot;width&quot;:900.60968503937}"/>
</p:tagLst>
</file>

<file path=ppt/tags/tag48.xml><?xml version="1.0" encoding="utf-8"?>
<p:tagLst xmlns:p="http://schemas.openxmlformats.org/presentationml/2006/main">
  <p:tag name="KSO_WM_DIAGRAM_VIRTUALLY_FRAME" val="{&quot;height&quot;:359.85,&quot;left&quot;:29.65,&quot;top&quot;:75.8,&quot;width&quot;:900.60968503937}"/>
</p:tagLst>
</file>

<file path=ppt/tags/tag49.xml><?xml version="1.0" encoding="utf-8"?>
<p:tagLst xmlns:p="http://schemas.openxmlformats.org/presentationml/2006/main">
  <p:tag name="KSO_WM_DIAGRAM_VIRTUALLY_FRAME" val="{&quot;height&quot;:359.85,&quot;left&quot;:29.65,&quot;top&quot;:75.8,&quot;width&quot;:900.60968503937}"/>
</p:tagLst>
</file>

<file path=ppt/tags/tag50.xml><?xml version="1.0" encoding="utf-8"?>
<p:tagLst xmlns:p="http://schemas.openxmlformats.org/presentationml/2006/main">
  <p:tag name="KSO_WM_DIAGRAM_VIRTUALLY_FRAME" val="{&quot;height&quot;:359.85,&quot;left&quot;:29.65,&quot;top&quot;:75.8,&quot;width&quot;:900.60968503937}"/>
</p:tagLst>
</file>

<file path=ppt/tags/tag51.xml><?xml version="1.0" encoding="utf-8"?>
<p:tagLst xmlns:p="http://schemas.openxmlformats.org/presentationml/2006/main">
  <p:tag name="KSO_WM_DIAGRAM_VIRTUALLY_FRAME" val="{&quot;height&quot;:359.85,&quot;left&quot;:29.65,&quot;top&quot;:75.8,&quot;width&quot;:900.60968503937}"/>
</p:tagLst>
</file>

<file path=ppt/tags/tag52.xml><?xml version="1.0" encoding="utf-8"?>
<p:tagLst xmlns:p="http://schemas.openxmlformats.org/presentationml/2006/main">
  <p:tag name="KSO_WM_DIAGRAM_VIRTUALLY_FRAME" val="{&quot;height&quot;:359.85,&quot;left&quot;:29.65,&quot;top&quot;:75.8,&quot;width&quot;:900.60968503937}"/>
</p:tagLst>
</file>

<file path=ppt/tags/tag53.xml><?xml version="1.0" encoding="utf-8"?>
<p:tagLst xmlns:p="http://schemas.openxmlformats.org/presentationml/2006/main">
  <p:tag name="KSO_WM_DIAGRAM_VIRTUALLY_FRAME" val="{&quot;height&quot;:359.85,&quot;left&quot;:29.65,&quot;top&quot;:75.8,&quot;width&quot;:900.60968503937}"/>
</p:tagLst>
</file>

<file path=ppt/tags/tag54.xml><?xml version="1.0" encoding="utf-8"?>
<p:tagLst xmlns:p="http://schemas.openxmlformats.org/presentationml/2006/main">
  <p:tag name="KSO_WM_DIAGRAM_VIRTUALLY_FRAME" val="{&quot;height&quot;:359.85,&quot;left&quot;:29.65,&quot;top&quot;:75.8,&quot;width&quot;:900.60968503937}"/>
</p:tagLst>
</file>

<file path=ppt/tags/tag55.xml><?xml version="1.0" encoding="utf-8"?>
<p:tagLst xmlns:p="http://schemas.openxmlformats.org/presentationml/2006/main">
  <p:tag name="KSO_WM_DIAGRAM_VIRTUALLY_FRAME" val="{&quot;height&quot;:359.85,&quot;left&quot;:29.65,&quot;top&quot;:75.8,&quot;width&quot;:900.60968503937}"/>
</p:tagLst>
</file>

<file path=ppt/tags/tag56.xml><?xml version="1.0" encoding="utf-8"?>
<p:tagLst xmlns:p="http://schemas.openxmlformats.org/presentationml/2006/main">
  <p:tag name="KSO_WM_DIAGRAM_VIRTUALLY_FRAME" val="{&quot;height&quot;:359.85,&quot;left&quot;:29.65,&quot;top&quot;:75.8,&quot;width&quot;:900.60968503937}"/>
</p:tagLst>
</file>

<file path=ppt/tags/tag57.xml><?xml version="1.0" encoding="utf-8"?>
<p:tagLst xmlns:p="http://schemas.openxmlformats.org/presentationml/2006/main">
  <p:tag name="KSO_WM_DIAGRAM_VIRTUALLY_FRAME" val="{&quot;height&quot;:359.85,&quot;left&quot;:29.65,&quot;top&quot;:75.8,&quot;width&quot;:900.60968503937}"/>
</p:tagLst>
</file>

<file path=ppt/tags/tag58.xml><?xml version="1.0" encoding="utf-8"?>
<p:tagLst xmlns:p="http://schemas.openxmlformats.org/presentationml/2006/main">
  <p:tag name="KSO_WM_DIAGRAM_VIRTUALLY_FRAME" val="{&quot;height&quot;:359.85,&quot;left&quot;:29.65,&quot;top&quot;:75.8,&quot;width&quot;:900.60968503937}"/>
</p:tagLst>
</file>

<file path=ppt/tags/tag59.xml><?xml version="1.0" encoding="utf-8"?>
<p:tagLst xmlns:p="http://schemas.openxmlformats.org/presentationml/2006/main">
  <p:tag name="KSO_WM_DIAGRAM_VIRTUALLY_FRAME" val="{&quot;height&quot;:359.85,&quot;left&quot;:29.65,&quot;top&quot;:75.8,&quot;width&quot;:900.60968503937}"/>
</p:tagLst>
</file>

<file path=ppt/tags/tag60.xml><?xml version="1.0" encoding="utf-8"?>
<p:tagLst xmlns:p="http://schemas.openxmlformats.org/presentationml/2006/main">
  <p:tag name="KSO_WM_DIAGRAM_VIRTUALLY_FRAME" val="{&quot;height&quot;:359.85,&quot;left&quot;:29.65,&quot;top&quot;:75.8,&quot;width&quot;:900.60968503937}"/>
</p:tagLst>
</file>

<file path=ppt/tags/tag61.xml><?xml version="1.0" encoding="utf-8"?>
<p:tagLst xmlns:p="http://schemas.openxmlformats.org/presentationml/2006/main">
  <p:tag name="TABLE_ENDDRAG_ORIGIN_RECT" val="703*241"/>
  <p:tag name="TABLE_ENDDRAG_RECT" val="14*160*703*241"/>
</p:tagLst>
</file>

<file path=ppt/tags/tag62.xml><?xml version="1.0" encoding="utf-8"?>
<p:tagLst xmlns:p="http://schemas.openxmlformats.org/presentationml/2006/main">
  <p:tag name="KSO_WM_DIAGRAM_VIRTUALLY_FRAME" val="{&quot;height&quot;:270.19842519685045,&quot;left&quot;:71.50007874015748,&quot;top&quot;:134.9007874015748,&quot;width&quot;:744.5}"/>
</p:tagLst>
</file>

<file path=ppt/tags/tag63.xml><?xml version="1.0" encoding="utf-8"?>
<p:tagLst xmlns:p="http://schemas.openxmlformats.org/presentationml/2006/main">
  <p:tag name="KSO_WM_DIAGRAM_VIRTUALLY_FRAME" val="{&quot;height&quot;:270.19842519685045,&quot;left&quot;:71.50007874015748,&quot;top&quot;:134.9007874015748,&quot;width&quot;:744.5}"/>
</p:tagLst>
</file>

<file path=ppt/tags/tag64.xml><?xml version="1.0" encoding="utf-8"?>
<p:tagLst xmlns:p="http://schemas.openxmlformats.org/presentationml/2006/main">
  <p:tag name="KSO_WM_DIAGRAM_VIRTUALLY_FRAME" val="{&quot;height&quot;:270.19842519685045,&quot;left&quot;:71.50007874015748,&quot;top&quot;:134.9007874015748,&quot;width&quot;:744.5}"/>
</p:tagLst>
</file>

<file path=ppt/tags/tag65.xml><?xml version="1.0" encoding="utf-8"?>
<p:tagLst xmlns:p="http://schemas.openxmlformats.org/presentationml/2006/main">
  <p:tag name="KSO_WM_DIAGRAM_VIRTUALLY_FRAME" val="{&quot;height&quot;:270.19842519685045,&quot;left&quot;:71.50007874015748,&quot;top&quot;:134.9007874015748,&quot;width&quot;:744.5}"/>
</p:tagLst>
</file>

<file path=ppt/tags/tag66.xml><?xml version="1.0" encoding="utf-8"?>
<p:tagLst xmlns:p="http://schemas.openxmlformats.org/presentationml/2006/main">
  <p:tag name="KSO_WM_DIAGRAM_VIRTUALLY_FRAME" val="{&quot;height&quot;:270.19842519685045,&quot;left&quot;:71.50007874015748,&quot;top&quot;:134.9007874015748,&quot;width&quot;:744.5}"/>
</p:tagLst>
</file>

<file path=ppt/tags/tag67.xml><?xml version="1.0" encoding="utf-8"?>
<p:tagLst xmlns:p="http://schemas.openxmlformats.org/presentationml/2006/main">
  <p:tag name="KSO_WM_DIAGRAM_VIRTUALLY_FRAME" val="{&quot;height&quot;:270.19842519685045,&quot;left&quot;:71.50007874015748,&quot;top&quot;:134.9007874015748,&quot;width&quot;:744.5}"/>
</p:tagLst>
</file>

<file path=ppt/tags/tag68.xml><?xml version="1.0" encoding="utf-8"?>
<p:tagLst xmlns:p="http://schemas.openxmlformats.org/presentationml/2006/main">
  <p:tag name="KSO_WM_DIAGRAM_VIRTUALLY_FRAME" val="{&quot;height&quot;:270.19842519685045,&quot;left&quot;:71.50007874015748,&quot;top&quot;:134.9007874015748,&quot;width&quot;:744.5}"/>
</p:tagLst>
</file>

<file path=ppt/tags/tag69.xml><?xml version="1.0" encoding="utf-8"?>
<p:tagLst xmlns:p="http://schemas.openxmlformats.org/presentationml/2006/main">
  <p:tag name="KSO_WM_DIAGRAM_VIRTUALLY_FRAME" val="{&quot;height&quot;:270.19842519685045,&quot;left&quot;:71.50007874015748,&quot;top&quot;:134.9007874015748,&quot;width&quot;:744.5}"/>
</p:tagLst>
</file>

<file path=ppt/tags/tag70.xml><?xml version="1.0" encoding="utf-8"?>
<p:tagLst xmlns:p="http://schemas.openxmlformats.org/presentationml/2006/main">
  <p:tag name="KSO_WM_DIAGRAM_VIRTUALLY_FRAME" val="{&quot;height&quot;:270.19842519685045,&quot;left&quot;:71.50007874015748,&quot;top&quot;:134.9007874015748,&quot;width&quot;:744.5}"/>
</p:tagLst>
</file>

<file path=ppt/tags/tag71.xml><?xml version="1.0" encoding="utf-8"?>
<p:tagLst xmlns:p="http://schemas.openxmlformats.org/presentationml/2006/main">
  <p:tag name="KSO_WM_DIAGRAM_VIRTUALLY_FRAME" val="{&quot;height&quot;:270.19842519685045,&quot;left&quot;:71.50007874015748,&quot;top&quot;:134.9007874015748,&quot;width&quot;:744.5}"/>
</p:tagLst>
</file>

<file path=ppt/tags/tag72.xml><?xml version="1.0" encoding="utf-8"?>
<p:tagLst xmlns:p="http://schemas.openxmlformats.org/presentationml/2006/main">
  <p:tag name="KSO_WM_DIAGRAM_VIRTUALLY_FRAME" val="{&quot;height&quot;:270.19842519685045,&quot;left&quot;:71.50007874015748,&quot;top&quot;:134.9007874015748,&quot;width&quot;:744.5}"/>
</p:tagLst>
</file>

<file path=ppt/tags/tag73.xml><?xml version="1.0" encoding="utf-8"?>
<p:tagLst xmlns:p="http://schemas.openxmlformats.org/presentationml/2006/main">
  <p:tag name="KSO_WM_DIAGRAM_VIRTUALLY_FRAME" val="{&quot;height&quot;:270.19842519685045,&quot;left&quot;:71.50007874015748,&quot;top&quot;:134.9007874015748,&quot;width&quot;:744.5}"/>
</p:tagLst>
</file>

<file path=ppt/tags/tag74.xml><?xml version="1.0" encoding="utf-8"?>
<p:tagLst xmlns:p="http://schemas.openxmlformats.org/presentationml/2006/main">
  <p:tag name="KSO_WM_DIAGRAM_VIRTUALLY_FRAME" val="{&quot;height&quot;:270.19842519685045,&quot;left&quot;:71.50007874015748,&quot;top&quot;:134.9007874015748,&quot;width&quot;:744.5}"/>
</p:tagLst>
</file>

<file path=ppt/tags/tag75.xml><?xml version="1.0" encoding="utf-8"?>
<p:tagLst xmlns:p="http://schemas.openxmlformats.org/presentationml/2006/main">
  <p:tag name="KSO_WM_DIAGRAM_VIRTUALLY_FRAME" val="{&quot;height&quot;:270.19842519685045,&quot;left&quot;:71.50007874015748,&quot;top&quot;:134.9007874015748,&quot;width&quot;:744.5}"/>
</p:tagLst>
</file>

<file path=ppt/tags/tag76.xml><?xml version="1.0" encoding="utf-8"?>
<p:tagLst xmlns:p="http://schemas.openxmlformats.org/presentationml/2006/main">
  <p:tag name="KSO_WM_DIAGRAM_VIRTUALLY_FRAME" val="{&quot;height&quot;:270.19842519685045,&quot;left&quot;:71.50007874015748,&quot;top&quot;:134.9007874015748,&quot;width&quot;:744.5}"/>
</p:tagLst>
</file>

<file path=ppt/tags/tag77.xml><?xml version="1.0" encoding="utf-8"?>
<p:tagLst xmlns:p="http://schemas.openxmlformats.org/presentationml/2006/main">
  <p:tag name="KSO_WM_DIAGRAM_VIRTUALLY_FRAME" val="{&quot;height&quot;:270.19842519685045,&quot;left&quot;:71.50007874015748,&quot;top&quot;:134.9007874015748,&quot;width&quot;:744.5}"/>
</p:tagLst>
</file>

<file path=ppt/tags/tag78.xml><?xml version="1.0" encoding="utf-8"?>
<p:tagLst xmlns:p="http://schemas.openxmlformats.org/presentationml/2006/main">
  <p:tag name="KSO_WM_DIAGRAM_VIRTUALLY_FRAME" val="{&quot;height&quot;:270.19842519685045,&quot;left&quot;:71.50007874015748,&quot;top&quot;:134.9007874015748,&quot;width&quot;:744.5}"/>
</p:tagLst>
</file>

<file path=ppt/tags/tag79.xml><?xml version="1.0" encoding="utf-8"?>
<p:tagLst xmlns:p="http://schemas.openxmlformats.org/presentationml/2006/main">
  <p:tag name="KSO_WM_DIAGRAM_VIRTUALLY_FRAME" val="{&quot;height&quot;:270.19842519685045,&quot;left&quot;:71.50007874015748,&quot;top&quot;:134.9007874015748,&quot;width&quot;:744.5}"/>
</p:tagLst>
</file>

<file path=ppt/tags/tag80.xml><?xml version="1.0" encoding="utf-8"?>
<p:tagLst xmlns:p="http://schemas.openxmlformats.org/presentationml/2006/main">
  <p:tag name="KSO_WM_DIAGRAM_VIRTUALLY_FRAME" val="{&quot;height&quot;:270.19842519685045,&quot;left&quot;:71.50007874015748,&quot;top&quot;:134.9007874015748,&quot;width&quot;:744.5}"/>
</p:tagLst>
</file>

<file path=ppt/tags/tag81.xml><?xml version="1.0" encoding="utf-8"?>
<p:tagLst xmlns:p="http://schemas.openxmlformats.org/presentationml/2006/main">
  <p:tag name="KSO_WM_DIAGRAM_VIRTUALLY_FRAME" val="{&quot;height&quot;:270.19842519685045,&quot;left&quot;:71.50007874015748,&quot;top&quot;:134.9007874015748,&quot;width&quot;:744.5}"/>
</p:tagLst>
</file>

<file path=ppt/tags/tag8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967_3*a*1"/>
  <p:tag name="KSO_WM_TEMPLATE_CATEGORY" val="diagram"/>
  <p:tag name="KSO_WM_TEMPLATE_INDEX" val="20231967"/>
  <p:tag name="KSO_WM_UNIT_LAYERLEVEL" val="1"/>
  <p:tag name="KSO_WM_TAG_VERSION" val="3.0"/>
  <p:tag name="KSO_WM_BEAUTIFY_FLAG" val="#wm#"/>
  <p:tag name="KSO_WM_UNIT_PRESET_TEXT" val="单击此处添加标题"/>
  <p:tag name="KSO_WM_UNIT_TEXT_TYPE" val="1"/>
  <p:tag name="KSO_WM_UNIT_USESOURCEFORMAT_APPLY" val="1"/>
</p:tagLst>
</file>

<file path=ppt/tags/tag8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67_3*l_h_f*1_1_1"/>
  <p:tag name="KSO_WM_TEMPLATE_CATEGORY" val="diagram"/>
  <p:tag name="KSO_WM_TEMPLATE_INDEX" val="20231967"/>
  <p:tag name="KSO_WM_UNIT_LAYERLEVEL" val="1_1_1"/>
  <p:tag name="KSO_WM_TAG_VERSION" val="3.0"/>
  <p:tag name="KSO_WM_BEAUTIFY_FLAG" val="#wm#"/>
  <p:tag name="KSO_WM_UNIT_VALUE" val="88"/>
  <p:tag name="KSO_WM_DIAGRAM_MAX_ITEMCNT" val="4"/>
  <p:tag name="KSO_WM_DIAGRAM_MIN_ITEMCNT" val="2"/>
  <p:tag name="KSO_WM_DIAGRAM_VIRTUALLY_FRAME" val="{&quot;height&quot;:372.13134765625,&quot;left&quot;:44.18582254244593,&quot;top&quot;:128.24853877030017,&quot;width&quot;:426.7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内容，简明扼要地阐述您的观点。根据需要增减文字，准确地理解您传达的思想。"/>
  <p:tag name="KSO_WM_UNIT_TEXT_TYPE" val="1"/>
  <p:tag name="KSO_WM_UNIT_USESOURCEFORMAT_APPLY" val="1"/>
</p:tagLst>
</file>

<file path=ppt/tags/tag8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67_3*l_h_i*1_1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left&quot;:44.18582254244593,&quot;top&quot;:128.24853877030017,&quot;width&quot;:426.7114257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8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67_3*l_h_f*1_2_1"/>
  <p:tag name="KSO_WM_TEMPLATE_CATEGORY" val="diagram"/>
  <p:tag name="KSO_WM_TEMPLATE_INDEX" val="20231967"/>
  <p:tag name="KSO_WM_UNIT_LAYERLEVEL" val="1_1_1"/>
  <p:tag name="KSO_WM_TAG_VERSION" val="3.0"/>
  <p:tag name="KSO_WM_BEAUTIFY_FLAG" val="#wm#"/>
  <p:tag name="KSO_WM_UNIT_VALUE" val="88"/>
  <p:tag name="KSO_WM_DIAGRAM_MAX_ITEMCNT" val="4"/>
  <p:tag name="KSO_WM_DIAGRAM_MIN_ITEMCNT" val="2"/>
  <p:tag name="KSO_WM_DIAGRAM_VIRTUALLY_FRAME" val="{&quot;height&quot;:372.13134765625,&quot;left&quot;:44.18582254244593,&quot;top&quot;:128.24853877030017,&quot;width&quot;:426.7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内容，简明扼要地阐述您的观点。根据需要增减文字，准确地理解您传达的思想。"/>
  <p:tag name="KSO_WM_UNIT_TEXT_TYPE" val="1"/>
  <p:tag name="KSO_WM_UNIT_USESOURCEFORMAT_APPLY" val="1"/>
</p:tagLst>
</file>

<file path=ppt/tags/tag8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967_3*l_h_i*1_2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left&quot;:44.18582254244593,&quot;top&quot;:128.24853877030017,&quot;width&quot;:426.7114257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8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967_3*l_h_f*1_3_1"/>
  <p:tag name="KSO_WM_TEMPLATE_CATEGORY" val="diagram"/>
  <p:tag name="KSO_WM_TEMPLATE_INDEX" val="20231967"/>
  <p:tag name="KSO_WM_UNIT_LAYERLEVEL" val="1_1_1"/>
  <p:tag name="KSO_WM_TAG_VERSION" val="3.0"/>
  <p:tag name="KSO_WM_BEAUTIFY_FLAG" val="#wm#"/>
  <p:tag name="KSO_WM_UNIT_VALUE" val="88"/>
  <p:tag name="KSO_WM_DIAGRAM_MAX_ITEMCNT" val="4"/>
  <p:tag name="KSO_WM_DIAGRAM_MIN_ITEMCNT" val="2"/>
  <p:tag name="KSO_WM_DIAGRAM_VIRTUALLY_FRAME" val="{&quot;height&quot;:372.13134765625,&quot;left&quot;:44.18582254244593,&quot;top&quot;:128.24853877030017,&quot;width&quot;:426.7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内容，简明扼要地阐述您的观点。根据需要增减文字，准确地理解您传达的思想。"/>
  <p:tag name="KSO_WM_UNIT_TEXT_TYPE" val="1"/>
  <p:tag name="KSO_WM_UNIT_USESOURCEFORMAT_APPLY" val="1"/>
</p:tagLst>
</file>

<file path=ppt/tags/tag8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967_3*l_h_i*1_3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left&quot;:44.18582254244593,&quot;top&quot;:128.24853877030017,&quot;width&quot;:426.7114257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89.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1967_3*l_h_f*1_4_1"/>
  <p:tag name="KSO_WM_TEMPLATE_CATEGORY" val="diagram"/>
  <p:tag name="KSO_WM_TEMPLATE_INDEX" val="20231967"/>
  <p:tag name="KSO_WM_UNIT_LAYERLEVEL" val="1_1_1"/>
  <p:tag name="KSO_WM_TAG_VERSION" val="3.0"/>
  <p:tag name="KSO_WM_BEAUTIFY_FLAG" val="#wm#"/>
  <p:tag name="KSO_WM_UNIT_VALUE" val="88"/>
  <p:tag name="KSO_WM_DIAGRAM_MAX_ITEMCNT" val="4"/>
  <p:tag name="KSO_WM_DIAGRAM_MIN_ITEMCNT" val="2"/>
  <p:tag name="KSO_WM_DIAGRAM_VIRTUALLY_FRAME" val="{&quot;height&quot;:372.13134765625,&quot;left&quot;:44.18582254244593,&quot;top&quot;:128.24853877030017,&quot;width&quot;:426.7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内容，简明扼要地阐述您的观点。根据需要增减文字，准确地理解您传达的思想。"/>
  <p:tag name="KSO_WM_UNIT_TEXT_TYPE" val="1"/>
  <p:tag name="KSO_WM_UNIT_USESOURCEFORMAT_APPLY" val="1"/>
</p:tagLst>
</file>

<file path=ppt/tags/tag9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1967_3*l_h_i*1_4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left&quot;:44.18582254244593,&quot;top&quot;:128.24853877030017,&quot;width&quot;:426.7114257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91.xml><?xml version="1.0" encoding="utf-8"?>
<p:tagLst xmlns:p="http://schemas.openxmlformats.org/presentationml/2006/main">
  <p:tag name="KSO_WM_SLIDE_ID" val="diagram20231967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780.211*359.439"/>
  <p:tag name="KSO_WM_SLIDE_POSITION" val="97.7358*125.161"/>
  <p:tag name="KSO_WM_DIAGRAM_GROUP_CODE" val="l1-1"/>
  <p:tag name="KSO_WM_SLIDE_DIAGTYPE" val="l"/>
  <p:tag name="KSO_WM_TAG_VERSION" val="3.0"/>
  <p:tag name="KSO_WM_BEAUTIFY_FLAG" val="#wm#"/>
  <p:tag name="KSO_WM_TEMPLATE_CATEGORY" val="diagram"/>
  <p:tag name="KSO_WM_TEMPLATE_INDEX" val="20231967"/>
  <p:tag name="KSO_WM_SLIDE_LAYOUT" val="a_l"/>
  <p:tag name="KSO_WM_SLIDE_LAYOUT_CNT" val="1_1"/>
</p:tagLst>
</file>

<file path=ppt/tags/tag9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6953_3*a*1"/>
  <p:tag name="KSO_WM_TEMPLATE_CATEGORY" val="diagram"/>
  <p:tag name="KSO_WM_TEMPLATE_INDEX" val="20236953"/>
  <p:tag name="KSO_WM_UNIT_LAYERLEVEL" val="1"/>
  <p:tag name="KSO_WM_TAG_VERSION" val="3.0"/>
  <p:tag name="KSO_WM_BEAUTIFY_FLAG" val="#wm#"/>
  <p:tag name="KSO_WM_UNIT_PRESET_TEXT" val="单击此处添加标题"/>
  <p:tag name="KSO_WM_UNIT_TEXT_TYPE" val="1"/>
  <p:tag name="KSO_WM_UNIT_USESOURCEFORMAT_APPLY" val="1"/>
</p:tagLst>
</file>

<file path=ppt/tags/tag93.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6953_3*l_h_i*1_2_2"/>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6000000238418579,&quot;colorType&quot;:1,&quot;foreColorIndex&quot;:5,&quot;transparency&quot;:0.819999992847442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 name="KSO_WM_UNIT_TEXT_FILL_FORE_SCHEMECOLOR_INDEX" val="13"/>
  <p:tag name="KSO_WM_UNIT_TEXT_FILL_TYPE" val="1"/>
  <p:tag name="KSO_WM_UNIT_USESOURCEFORMAT_APPLY" val="1"/>
</p:tagLst>
</file>

<file path=ppt/tags/tag94.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6953_3*l_h_i*1_3_2"/>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6000000238418579,&quot;colorType&quot;:1,&quot;foreColorIndex&quot;:5,&quot;transparency&quot;:0.819999992847442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 name="KSO_WM_UNIT_TEXT_FILL_FORE_SCHEMECOLOR_INDEX" val="13"/>
  <p:tag name="KSO_WM_UNIT_TEXT_FILL_TYPE" val="1"/>
  <p:tag name="KSO_WM_UNIT_USESOURCEFORMAT_APPLY" val="1"/>
</p:tagLst>
</file>

<file path=ppt/tags/tag95.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6953_3*l_h_i*1_1_2"/>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6000000238418579,&quot;colorType&quot;:1,&quot;foreColorIndex&quot;:5,&quot;transparency&quot;:0.819999992847442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 name="KSO_WM_UNIT_TEXT_FILL_FORE_SCHEMECOLOR_INDEX" val="13"/>
  <p:tag name="KSO_WM_UNIT_TEXT_FILL_TYPE" val="1"/>
  <p:tag name="KSO_WM_UNIT_USESOURCEFORMAT_APPLY" val="1"/>
</p:tagLst>
</file>

<file path=ppt/tags/tag96.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6953_3*l_h_f*1_1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阐述您的观点。根据需要可增减文字"/>
  <p:tag name="KSO_WM_UNIT_TEXT_FILL_FORE_SCHEMECOLOR_INDEX" val="1"/>
  <p:tag name="KSO_WM_UNIT_TEXT_FILL_TYPE" val="1"/>
  <p:tag name="KSO_WM_UNIT_TEXT_TYPE" val="1"/>
  <p:tag name="KSO_WM_UNIT_USESOURCEFORMAT_APPLY" val="1"/>
</p:tagLst>
</file>

<file path=ppt/tags/tag97.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6953_3*l_h_i*1_4_2"/>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6000000238418579,&quot;colorType&quot;:1,&quot;foreColorIndex&quot;:5,&quot;transparency&quot;:0.819999992847442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 name="KSO_WM_UNIT_TEXT_FILL_FORE_SCHEMECOLOR_INDEX" val="13"/>
  <p:tag name="KSO_WM_UNIT_TEXT_FILL_TYPE" val="1"/>
  <p:tag name="KSO_WM_UNIT_USESOURCEFORMAT_APPLY" val="1"/>
</p:tagLst>
</file>

<file path=ppt/tags/tag98.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6953_3*l_h_f*1_2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阐述您的观点。根据需要可增减文字"/>
  <p:tag name="KSO_WM_UNIT_TEXT_FILL_FORE_SCHEMECOLOR_INDEX" val="1"/>
  <p:tag name="KSO_WM_UNIT_TEXT_FILL_TYPE" val="1"/>
  <p:tag name="KSO_WM_UNIT_TEXT_TYPE" val="1"/>
  <p:tag name="KSO_WM_UNIT_USESOURCEFORMAT_APPLY" val="1"/>
</p:tagLst>
</file>

<file path=ppt/tags/tag99.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6953_3*l_h_i*1_2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gradient&quot;:[{&quot;brightness&quot;:0,&quot;colorType&quot;:1,&quot;foreColorIndex&quot;:5,&quot;pos&quot;:0.9300000071525574,&quot;transparency&quot;:0},{&quot;brightness&quot;:0.6000000238418579,&quot;colorType&quot;:1,&quot;foreColorIndex&quot;:5,&quot;pos&quot;:0,&quot;transparency&quot;:0}],&quot;type&quot;:3},&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16"/>
  <p:tag name="KSO_WM_UNIT_LINE_FILL_TYPE" val="2"/>
  <p:tag name="KSO_WM_UNIT_TEXT_FILL_FORE_SCHEMECOLOR_INDEX" val="2"/>
  <p:tag name="KSO_WM_UNIT_TEXT_FILL_TYPE" val="1"/>
  <p:tag name="KSO_WM_UNIT_USESOURCEFORMAT_APPLY" val="1"/>
</p:tagLst>
</file>

<file path=ppt/tags/tag100.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6953_3*l_h_f*1_3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阐述您的观点。根据需要可增减文字"/>
  <p:tag name="KSO_WM_UNIT_TEXT_FILL_FORE_SCHEMECOLOR_INDEX" val="1"/>
  <p:tag name="KSO_WM_UNIT_TEXT_FILL_TYPE" val="1"/>
  <p:tag name="KSO_WM_UNIT_TEXT_TYPE" val="1"/>
  <p:tag name="KSO_WM_UNIT_USESOURCEFORMAT_APPLY" val="1"/>
</p:tagLst>
</file>

<file path=ppt/tags/tag101.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6953_3*l_h_i*1_3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gradient&quot;:[{&quot;brightness&quot;:0,&quot;colorType&quot;:1,&quot;foreColorIndex&quot;:5,&quot;pos&quot;:0.9300000071525574,&quot;transparency&quot;:0},{&quot;brightness&quot;:0.6000000238418579,&quot;colorType&quot;:1,&quot;foreColorIndex&quot;:5,&quot;pos&quot;:0,&quot;transparency&quot;:0}],&quot;type&quot;:3},&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16"/>
  <p:tag name="KSO_WM_UNIT_LINE_FILL_TYPE" val="2"/>
  <p:tag name="KSO_WM_UNIT_TEXT_FILL_FORE_SCHEMECOLOR_INDEX" val="2"/>
  <p:tag name="KSO_WM_UNIT_TEXT_FILL_TYPE" val="1"/>
  <p:tag name="KSO_WM_UNIT_USESOURCEFORMAT_APPLY" val="1"/>
</p:tagLst>
</file>

<file path=ppt/tags/tag102.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6953_3*l_h_f*1_4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阐述您的观点。根据需要可增减文字"/>
  <p:tag name="KSO_WM_UNIT_TEXT_FILL_FORE_SCHEMECOLOR_INDEX" val="1"/>
  <p:tag name="KSO_WM_UNIT_TEXT_FILL_TYPE" val="1"/>
  <p:tag name="KSO_WM_UNIT_TEXT_TYPE" val="1"/>
  <p:tag name="KSO_WM_UNIT_USESOURCEFORMAT_APPLY" val="1"/>
</p:tagLst>
</file>

<file path=ppt/tags/tag103.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6953_3*l_h_i*1_4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gradient&quot;:[{&quot;brightness&quot;:0,&quot;colorType&quot;:1,&quot;foreColorIndex&quot;:5,&quot;pos&quot;:0.9300000071525574,&quot;transparency&quot;:0},{&quot;brightness&quot;:0.6000000238418579,&quot;colorType&quot;:1,&quot;foreColorIndex&quot;:5,&quot;pos&quot;:0,&quot;transparency&quot;:0}],&quot;type&quot;:3},&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16"/>
  <p:tag name="KSO_WM_UNIT_LINE_FILL_TYPE" val="2"/>
  <p:tag name="KSO_WM_UNIT_TEXT_FILL_FORE_SCHEMECOLOR_INDEX" val="2"/>
  <p:tag name="KSO_WM_UNIT_TEXT_FILL_TYPE" val="1"/>
  <p:tag name="KSO_WM_UNIT_USESOURCEFORMAT_APPLY" val="1"/>
</p:tagLst>
</file>

<file path=ppt/tags/tag104.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6953_3*l_h_i*1_1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gradient&quot;:[{&quot;brightness&quot;:0,&quot;colorType&quot;:1,&quot;foreColorIndex&quot;:5,&quot;pos&quot;:0.9300000071525574,&quot;transparency&quot;:0},{&quot;brightness&quot;:0.6000000238418579,&quot;colorType&quot;:1,&quot;foreColorIndex&quot;:5,&quot;pos&quot;:0,&quot;transparency&quot;:0}],&quot;type&quot;:3},&quot;glow&quot;:{&quot;colorType&quot;:0},&quot;line&quot;:{&quot;solidLine&quot;:{&quot;brightness&quot;:0,&quot;colorType&quot;:1,&quot;foreColorIndex&quot;:16,&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16"/>
  <p:tag name="KSO_WM_UNIT_LINE_FILL_TYPE" val="2"/>
  <p:tag name="KSO_WM_UNIT_TEXT_FILL_FORE_SCHEMECOLOR_INDEX" val="2"/>
  <p:tag name="KSO_WM_UNIT_TEXT_FILL_TYPE" val="1"/>
  <p:tag name="KSO_WM_UNIT_USESOURCEFORMAT_APPLY" val="1"/>
</p:tagLst>
</file>

<file path=ppt/tags/tag105.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VALUE" val="79*74"/>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6953_3*l_h_x*1_2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UNIT_USESOURCEFORMAT_APPLY" val="1"/>
</p:tagLst>
</file>

<file path=ppt/tags/tag106.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VALUE" val="74*79"/>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6953_3*l_h_x*1_1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UNIT_USESOURCEFORMAT_APPLY" val="1"/>
</p:tagLst>
</file>

<file path=ppt/tags/tag107.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VALUE" val="79*79"/>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20236953_3*l_h_x*1_3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UNIT_USESOURCEFORMAT_APPLY" val="1"/>
</p:tagLst>
</file>

<file path=ppt/tags/tag108.xml><?xml version="1.0" encoding="utf-8"?>
<p:tagLst xmlns:p="http://schemas.openxmlformats.org/presentationml/2006/main">
  <p:tag name="KSO_WM_DIAGRAM_VIRTUALLY_FRAME" val="{&quot;height&quot;:270.6000061035156,&quot;left&quot;:82.6,&quot;top&quot;:179.80712293249417,&quot;width&quot;:787.3}"/>
  <p:tag name="KSO_WM_DIAGRAM_VERSION" val="3"/>
  <p:tag name="KSO_WM_DIAGRAM_COLOR_TRICK" val="1"/>
  <p:tag name="KSO_WM_DIAGRAM_COLOR_TEXT_CAN_REMOVE" val="n"/>
  <p:tag name="KSO_WM_UNIT_VALUE" val="92*92"/>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236953_3*l_h_x*1_4_1"/>
  <p:tag name="KSO_WM_TEMPLATE_CATEGORY" val="diagram"/>
  <p:tag name="KSO_WM_TEMPLATE_INDEX" val="20236953"/>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UNIT_USESOURCEFORMAT_APPLY" val="1"/>
</p:tagLst>
</file>

<file path=ppt/tags/tag109.xml><?xml version="1.0" encoding="utf-8"?>
<p:tagLst xmlns:p="http://schemas.openxmlformats.org/presentationml/2006/main">
  <p:tag name="KSO_WM_SLIDE_ID" val="diagram20236953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787.3*270.586"/>
  <p:tag name="KSO_WM_SLIDE_POSITION" val="82.6*179.814"/>
  <p:tag name="KSO_WM_DIAGRAM_GROUP_CODE" val="l1-1"/>
  <p:tag name="KSO_WM_SLIDE_DIAGTYPE" val="l"/>
  <p:tag name="KSO_WM_TAG_VERSION" val="3.0"/>
  <p:tag name="KSO_WM_BEAUTIFY_FLAG" val="#wm#"/>
  <p:tag name="KSO_WM_TEMPLATE_CATEGORY" val="diagram"/>
  <p:tag name="KSO_WM_TEMPLATE_INDEX" val="20236953"/>
  <p:tag name="KSO_WM_SLIDE_LAYOUT" val="a_l"/>
  <p:tag name="KSO_WM_SLIDE_LAYOUT_CNT" val="1_1"/>
</p:tagLst>
</file>

<file path=ppt/tags/tag11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6951_3*a*1"/>
  <p:tag name="KSO_WM_TEMPLATE_CATEGORY" val="diagram"/>
  <p:tag name="KSO_WM_TEMPLATE_INDEX" val="20236951"/>
  <p:tag name="KSO_WM_UNIT_LAYERLEVEL" val="1"/>
  <p:tag name="KSO_WM_TAG_VERSION" val="3.0"/>
  <p:tag name="KSO_WM_BEAUTIFY_FLAG" val="#wm#"/>
  <p:tag name="KSO_WM_UNIT_TEXT_TYPE" val="1"/>
  <p:tag name="KSO_WM_UNIT_PRESET_TEXT" val="单击此处添加标题"/>
  <p:tag name="KSO_WM_UNIT_USESOURCEFORMAT_APPLY" val="1"/>
</p:tagLst>
</file>

<file path=ppt/tags/tag111.xml><?xml version="1.0" encoding="utf-8"?>
<p:tagLst xmlns:p="http://schemas.openxmlformats.org/presentationml/2006/main">
  <p:tag name="KSO_WM_DIAGRAM_VIRTUALLY_FRAME" val="{&quot;height&quot;:289.44488188976374,&quot;left&quot;:74.27880859375,&quot;top&quot;:160.22437007874015,&quot;width&quot;:811.4423828125}"/>
  <p:tag name="KSO_WM_UNIT_HIGHLIGHT" val="0"/>
  <p:tag name="KSO_WM_UNIT_COMPATIBLE" val="0"/>
  <p:tag name="KSO_WM_UNIT_DIAGRAM_ISNUMVISUAL" val="0"/>
  <p:tag name="KSO_WM_UNIT_DIAGRAM_ISREFERUNIT" val="0"/>
  <p:tag name="KSO_WM_UNIT_ID" val="diagram20235154_3*l_i*1_4"/>
  <p:tag name="KSO_WM_TEMPLATE_CATEGORY" val="diagram"/>
  <p:tag name="KSO_WM_TEMPLATE_INDEX" val="20235154"/>
  <p:tag name="KSO_WM_UNIT_LAYERLEVEL" val="1_1"/>
  <p:tag name="KSO_WM_TAG_VERSION" val="3.0"/>
  <p:tag name="KSO_WM_DIAGRAM_GROUP_CODE" val="l1-1"/>
  <p:tag name="KSO_WM_UNIT_TYPE" val="l_i"/>
  <p:tag name="KSO_WM_UNIT_INDEX" val="1_4"/>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solid&quot;:{&quot;brightness&quot;:0.6000000238418579,&quot;colorType&quot;:1,&quot;foreColorIndex&quot;:5,&quot;transparency&quot;:0.8999999761581421},&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112.xml><?xml version="1.0" encoding="utf-8"?>
<p:tagLst xmlns:p="http://schemas.openxmlformats.org/presentationml/2006/main">
  <p:tag name="KSO_WM_DIAGRAM_VIRTUALLY_FRAME" val="{&quot;height&quot;:289.44488188976374,&quot;left&quot;:74.27880859375,&quot;top&quot;:160.22437007874015,&quot;width&quot;:811.4423828125}"/>
  <p:tag name="KSO_WM_UNIT_HIGHLIGHT" val="0"/>
  <p:tag name="KSO_WM_UNIT_COMPATIBLE" val="0"/>
  <p:tag name="KSO_WM_UNIT_DIAGRAM_ISNUMVISUAL" val="0"/>
  <p:tag name="KSO_WM_UNIT_DIAGRAM_ISREFERUNIT" val="0"/>
  <p:tag name="KSO_WM_UNIT_ID" val="diagram20235154_3*l_i*1_1"/>
  <p:tag name="KSO_WM_TEMPLATE_CATEGORY" val="diagram"/>
  <p:tag name="KSO_WM_TEMPLATE_INDEX" val="20235154"/>
  <p:tag name="KSO_WM_UNIT_LAYERLEVEL" val="1_1"/>
  <p:tag name="KSO_WM_TAG_VERSION" val="3.0"/>
  <p:tag name="KSO_WM_DIAGRAM_GROUP_CODE" val="l1-1"/>
  <p:tag name="KSO_WM_UNIT_TYPE" val="l_i"/>
  <p:tag name="KSO_WM_UNIT_INDEX" val="1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solid&quot;:{&quot;brightness&quot;:0.6000000238418579,&quot;colorType&quot;:1,&quot;foreColorIndex&quot;:5,&quot;transparency&quot;:0.8999999761581421},&quot;type&quot;:1},&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6"/>
  <p:tag name="KSO_WM_UNIT_LINE_FORE_SCHEMECOLOR_INDEX" val="5"/>
  <p:tag name="KSO_WM_DIAGRAM_USE_COLOR_VALUE" val="{&quot;color_scheme&quot;:1,&quot;color_type&quot;:1,&quot;theme_color_indexes&quot;:[5,6,5,6,5,6]}"/>
</p:tagLst>
</file>

<file path=ppt/tags/tag113.xml><?xml version="1.0" encoding="utf-8"?>
<p:tagLst xmlns:p="http://schemas.openxmlformats.org/presentationml/2006/main">
  <p:tag name="KSO_WM_DIAGRAM_VIRTUALLY_FRAME" val="{&quot;height&quot;:289.44488188976374,&quot;left&quot;:74.27880859375,&quot;top&quot;:160.22437007874015,&quot;width&quot;:811.4423828125}"/>
  <p:tag name="KSO_WM_UNIT_HIGHLIGHT" val="0"/>
  <p:tag name="KSO_WM_UNIT_COMPATIBLE" val="0"/>
  <p:tag name="KSO_WM_UNIT_DIAGRAM_ISNUMVISUAL" val="0"/>
  <p:tag name="KSO_WM_UNIT_DIAGRAM_ISREFERUNIT" val="0"/>
  <p:tag name="KSO_WM_UNIT_ID" val="diagram20235154_3*l_i*1_3"/>
  <p:tag name="KSO_WM_TEMPLATE_CATEGORY" val="diagram"/>
  <p:tag name="KSO_WM_TEMPLATE_INDEX" val="20235154"/>
  <p:tag name="KSO_WM_UNIT_LAYERLEVEL" val="1_1"/>
  <p:tag name="KSO_WM_TAG_VERSION" val="3.0"/>
  <p:tag name="KSO_WM_DIAGRAM_GROUP_CODE" val="l1-1"/>
  <p:tag name="KSO_WM_UNIT_TYPE" val="l_i"/>
  <p:tag name="KSO_WM_UNIT_INDEX" val="1_3"/>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gradient&quot;:[{&quot;brightness&quot;:-0.5,&quot;colorType&quot;:1,&quot;foreColorIndex&quot;:5,&quot;pos&quot;:0,&quot;transparency&quot;:0.6800000071525574},{&quot;brightness&quot;:-0.5,&quot;colorType&quot;:1,&quot;foreColorIndex&quot;:5,&quot;pos&quot;:0.8299999833106995,&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14.xml><?xml version="1.0" encoding="utf-8"?>
<p:tagLst xmlns:p="http://schemas.openxmlformats.org/presentationml/2006/main">
  <p:tag name="KSO_WM_DIAGRAM_VIRTUALLY_FRAME" val="{&quot;height&quot;:289.44488188976374,&quot;left&quot;:74.27880859375,&quot;top&quot;:160.22437007874015,&quot;width&quot;:811.4423828125}"/>
  <p:tag name="KSO_WM_UNIT_HIGHLIGHT" val="0"/>
  <p:tag name="KSO_WM_UNIT_COMPATIBLE" val="0"/>
  <p:tag name="KSO_WM_UNIT_DIAGRAM_ISNUMVISUAL" val="0"/>
  <p:tag name="KSO_WM_UNIT_DIAGRAM_ISREFERUNIT" val="0"/>
  <p:tag name="KSO_WM_UNIT_ID" val="diagram20235154_3*l_i*1_2"/>
  <p:tag name="KSO_WM_TEMPLATE_CATEGORY" val="diagram"/>
  <p:tag name="KSO_WM_TEMPLATE_INDEX" val="20235154"/>
  <p:tag name="KSO_WM_UNIT_LAYERLEVEL" val="1_1"/>
  <p:tag name="KSO_WM_TAG_VERSION" val="3.0"/>
  <p:tag name="KSO_WM_DIAGRAM_GROUP_CODE" val="l1-1"/>
  <p:tag name="KSO_WM_UNIT_TYPE" val="l_i"/>
  <p:tag name="KSO_WM_UNIT_INDEX" val="1_2"/>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solid&quot;:{&quot;brightness&quot;:0,&quot;colorType&quot;:1,&quot;foreColorIndex&quot;:5,&quot;transparency&quot;:0.469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15.xml><?xml version="1.0" encoding="utf-8"?>
<p:tagLst xmlns:p="http://schemas.openxmlformats.org/presentationml/2006/main">
  <p:tag name="KSO_WM_DIAGRAM_VIRTUALLY_FRAME" val="{&quot;height&quot;:289.44488188976374,&quot;left&quot;:74.27880859375,&quot;top&quot;:160.22437007874015,&quot;width&quot;:811.4423828125}"/>
  <p:tag name="KSO_WM_UNIT_HIGHLIGHT" val="0"/>
  <p:tag name="KSO_WM_UNIT_COMPATIBLE" val="0"/>
  <p:tag name="KSO_WM_UNIT_DIAGRAM_ISNUMVISUAL" val="0"/>
  <p:tag name="KSO_WM_UNIT_DIAGRAM_ISREFERUNIT" val="0"/>
  <p:tag name="KSO_WM_UNIT_ID" val="diagram20235154_3*l_h_f*1_3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3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输入智能图形项正文，文字是您思想的提炼，请尽量言简意赅的阐述观点。单击此处添加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116.xml><?xml version="1.0" encoding="utf-8"?>
<p:tagLst xmlns:p="http://schemas.openxmlformats.org/presentationml/2006/main">
  <p:tag name="KSO_WM_DIAGRAM_VIRTUALLY_FRAME" val="{&quot;height&quot;:289.44488188976374,&quot;left&quot;:74.27880859375,&quot;top&quot;:160.22437007874015,&quot;width&quot;:811.4423828125}"/>
  <p:tag name="KSO_WM_UNIT_HIGHLIGHT" val="0"/>
  <p:tag name="KSO_WM_UNIT_COMPATIBLE" val="0"/>
  <p:tag name="KSO_WM_UNIT_DIAGRAM_ISNUMVISUAL" val="0"/>
  <p:tag name="KSO_WM_UNIT_DIAGRAM_ISREFERUNIT" val="0"/>
  <p:tag name="KSO_WM_UNIT_ID" val="diagram20235154_3*l_h_i*1_3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3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DIAGRAM_USE_COLOR_VALUE" val="{&quot;color_scheme&quot;:1,&quot;color_type&quot;:1,&quot;theme_color_indexes&quot;:[5,6,5,6,5,6]}"/>
</p:tagLst>
</file>

<file path=ppt/tags/tag117.xml><?xml version="1.0" encoding="utf-8"?>
<p:tagLst xmlns:p="http://schemas.openxmlformats.org/presentationml/2006/main">
  <p:tag name="KSO_WM_DIAGRAM_VIRTUALLY_FRAME" val="{&quot;height&quot;:289.44488188976374,&quot;left&quot;:74.27880859375,&quot;top&quot;:160.22437007874015,&quot;width&quot;:811.4423828125}"/>
  <p:tag name="KSO_WM_UNIT_HIGHLIGHT" val="0"/>
  <p:tag name="KSO_WM_UNIT_COMPATIBLE" val="0"/>
  <p:tag name="KSO_WM_UNIT_DIAGRAM_ISNUMVISUAL" val="0"/>
  <p:tag name="KSO_WM_UNIT_DIAGRAM_ISREFERUNIT" val="0"/>
  <p:tag name="KSO_WM_UNIT_ID" val="diagram20235154_3*l_h_f*1_4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4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输入智能图形项正文，文字是您思想的提炼，请尽量言简意赅的阐述观点。单击此处添加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118.xml><?xml version="1.0" encoding="utf-8"?>
<p:tagLst xmlns:p="http://schemas.openxmlformats.org/presentationml/2006/main">
  <p:tag name="KSO_WM_DIAGRAM_VIRTUALLY_FRAME" val="{&quot;height&quot;:289.44488188976374,&quot;left&quot;:74.27880859375,&quot;top&quot;:160.22437007874015,&quot;width&quot;:811.4423828125}"/>
  <p:tag name="KSO_WM_UNIT_HIGHLIGHT" val="0"/>
  <p:tag name="KSO_WM_UNIT_COMPATIBLE" val="0"/>
  <p:tag name="KSO_WM_UNIT_DIAGRAM_ISNUMVISUAL" val="0"/>
  <p:tag name="KSO_WM_UNIT_DIAGRAM_ISREFERUNIT" val="0"/>
  <p:tag name="KSO_WM_UNIT_ID" val="diagram20235154_3*l_h_i*1_4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4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DIAGRAM_USE_COLOR_VALUE" val="{&quot;color_scheme&quot;:1,&quot;color_type&quot;:1,&quot;theme_color_indexes&quot;:[5,6,5,6,5,6]}"/>
</p:tagLst>
</file>

<file path=ppt/tags/tag119.xml><?xml version="1.0" encoding="utf-8"?>
<p:tagLst xmlns:p="http://schemas.openxmlformats.org/presentationml/2006/main">
  <p:tag name="KSO_WM_DIAGRAM_VIRTUALLY_FRAME" val="{&quot;height&quot;:289.44488188976374,&quot;left&quot;:74.27880859375,&quot;top&quot;:160.22437007874015,&quot;width&quot;:811.4423828125}"/>
  <p:tag name="KSO_WM_UNIT_HIGHLIGHT" val="0"/>
  <p:tag name="KSO_WM_UNIT_COMPATIBLE" val="0"/>
  <p:tag name="KSO_WM_UNIT_DIAGRAM_ISNUMVISUAL" val="0"/>
  <p:tag name="KSO_WM_UNIT_DIAGRAM_ISREFERUNIT" val="0"/>
  <p:tag name="KSO_WM_UNIT_ID" val="diagram20235154_3*l_h_f*1_1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输入智能图形项正文，文字是您思想的提炼，请尽量言简意赅的阐述观点。单击此处添加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120.xml><?xml version="1.0" encoding="utf-8"?>
<p:tagLst xmlns:p="http://schemas.openxmlformats.org/presentationml/2006/main">
  <p:tag name="KSO_WM_DIAGRAM_VIRTUALLY_FRAME" val="{&quot;height&quot;:289.44488188976374,&quot;left&quot;:74.27880859375,&quot;top&quot;:160.22437007874015,&quot;width&quot;:811.4423828125}"/>
  <p:tag name="KSO_WM_UNIT_HIGHLIGHT" val="0"/>
  <p:tag name="KSO_WM_UNIT_COMPATIBLE" val="0"/>
  <p:tag name="KSO_WM_UNIT_DIAGRAM_ISNUMVISUAL" val="0"/>
  <p:tag name="KSO_WM_UNIT_DIAGRAM_ISREFERUNIT" val="0"/>
  <p:tag name="KSO_WM_UNIT_ID" val="diagram20235154_3*l_h_i*1_1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1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DIAGRAM_USE_COLOR_VALUE" val="{&quot;color_scheme&quot;:1,&quot;color_type&quot;:1,&quot;theme_color_indexes&quot;:[5,6,5,6,5,6]}"/>
</p:tagLst>
</file>

<file path=ppt/tags/tag121.xml><?xml version="1.0" encoding="utf-8"?>
<p:tagLst xmlns:p="http://schemas.openxmlformats.org/presentationml/2006/main">
  <p:tag name="KSO_WM_DIAGRAM_VIRTUALLY_FRAME" val="{&quot;height&quot;:289.44488188976374,&quot;left&quot;:74.27880859375,&quot;top&quot;:160.22437007874015,&quot;width&quot;:811.4423828125}"/>
  <p:tag name="KSO_WM_UNIT_HIGHLIGHT" val="0"/>
  <p:tag name="KSO_WM_UNIT_COMPATIBLE" val="0"/>
  <p:tag name="KSO_WM_UNIT_DIAGRAM_ISNUMVISUAL" val="0"/>
  <p:tag name="KSO_WM_UNIT_DIAGRAM_ISREFERUNIT" val="0"/>
  <p:tag name="KSO_WM_UNIT_ID" val="diagram20235154_3*l_h_f*1_2_1"/>
  <p:tag name="KSO_WM_TEMPLATE_CATEGORY" val="diagram"/>
  <p:tag name="KSO_WM_TEMPLATE_INDEX" val="20235154"/>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UNIT_TEXT_TYPE" val="1"/>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输入智能图形项正文，文字是您思想的提炼，请尽量言简意赅的阐述观点。单击此处添加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122.xml><?xml version="1.0" encoding="utf-8"?>
<p:tagLst xmlns:p="http://schemas.openxmlformats.org/presentationml/2006/main">
  <p:tag name="KSO_WM_DIAGRAM_VIRTUALLY_FRAME" val="{&quot;height&quot;:289.44488188976374,&quot;left&quot;:74.27880859375,&quot;top&quot;:160.22437007874015,&quot;width&quot;:811.4423828125}"/>
  <p:tag name="KSO_WM_UNIT_HIGHLIGHT" val="0"/>
  <p:tag name="KSO_WM_UNIT_COMPATIBLE" val="0"/>
  <p:tag name="KSO_WM_UNIT_DIAGRAM_ISNUMVISUAL" val="0"/>
  <p:tag name="KSO_WM_UNIT_DIAGRAM_ISREFERUNIT" val="0"/>
  <p:tag name="KSO_WM_UNIT_ID" val="diagram20235154_3*l_h_i*1_2_1"/>
  <p:tag name="KSO_WM_TEMPLATE_CATEGORY" val="diagram"/>
  <p:tag name="KSO_WM_TEMPLATE_INDEX" val="20235154"/>
  <p:tag name="KSO_WM_UNIT_LAYERLEVEL" val="1_1_1"/>
  <p:tag name="KSO_WM_TAG_VERSION" val="3.0"/>
  <p:tag name="KSO_WM_DIAGRAM_GROUP_CODE" val="l1-1"/>
  <p:tag name="KSO_WM_UNIT_SUBTYPE" val="d"/>
  <p:tag name="KSO_WM_UNIT_TYPE" val="l_h_i"/>
  <p:tag name="KSO_WM_UNIT_INDEX" val="1_2_1"/>
  <p:tag name="KSO_WM_DIAGRAM_VERSION" val="3"/>
  <p:tag name="KSO_WM_DIAGRAM_COLOR_TRICK" val="1"/>
  <p:tag name="KSO_WM_DIAGRAM_COLOR_TEXT_CAN_REMOVE" val="n"/>
  <p:tag name="KSO_WM_DIAGRAM_MAX_ITEMCNT" val="12"/>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quot;transparency&quot;:0.5},{&quot;brightness&quot;:0,&quot;colorType&quot;:1,&quot;foreColorIndex&quot;:5,&quot;pos&quot;:0.9399999976158142,&quot;transparency&quot;:0.5}],&quot;type&quot;:3},&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3"/>
  <p:tag name="KSO_WM_UNIT_TEXT_FILL_TYPE" val="3"/>
  <p:tag name="KSO_WM_DIAGRAM_USE_COLOR_VALUE" val="{&quot;color_scheme&quot;:1,&quot;color_type&quot;:1,&quot;theme_color_indexes&quot;:[5,6,5,6,5,6]}"/>
</p:tagLst>
</file>

<file path=ppt/tags/tag123.xml><?xml version="1.0" encoding="utf-8"?>
<p:tagLst xmlns:p="http://schemas.openxmlformats.org/presentationml/2006/main">
  <p:tag name="KSO_WM_SLIDE_ID" val="diagram20236951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811.442*289.408"/>
  <p:tag name="KSO_WM_SLIDE_POSITION" val="74.2788*160.262"/>
  <p:tag name="KSO_WM_DIAGRAM_GROUP_CODE" val="l1-1"/>
  <p:tag name="KSO_WM_SLIDE_DIAGTYPE" val="l"/>
  <p:tag name="KSO_WM_TAG_VERSION" val="3.0"/>
  <p:tag name="KSO_WM_BEAUTIFY_FLAG" val="#wm#"/>
  <p:tag name="KSO_WM_TEMPLATE_CATEGORY" val="diagram"/>
  <p:tag name="KSO_WM_TEMPLATE_INDEX" val="20236951"/>
  <p:tag name="KSO_WM_SLIDE_LAYOUT" val="a_l"/>
  <p:tag name="KSO_WM_SLIDE_LAYOUT_CNT" val="1_1"/>
  <p:tag name="resource_record_key" val="{&quot;65&quot;:[20236951],&quot;70&quot;:[3333624]}"/>
</p:tagLst>
</file>

<file path=ppt/tags/tag12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131_3*a*1"/>
  <p:tag name="KSO_WM_TEMPLATE_CATEGORY" val="diagram"/>
  <p:tag name="KSO_WM_TEMPLATE_INDEX" val="20233131"/>
  <p:tag name="KSO_WM_UNIT_LAYERLEVEL" val="1"/>
  <p:tag name="KSO_WM_TAG_VERSION" val="3.0"/>
  <p:tag name="KSO_WM_BEAUTIFY_FLAG" val="#wm#"/>
  <p:tag name="KSO_WM_UNIT_TEXT_TYPE" val="1"/>
  <p:tag name="KSO_WM_UNIT_PRESET_TEXT" val="单击此处添加标题"/>
  <p:tag name="KSO_WM_UNIT_USESOURCEFORMAT_APPLY" val="1"/>
</p:tagLst>
</file>

<file path=ppt/tags/tag12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VALUE" val="14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51_3*l_h_f*1_1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VIRTUALLY_FRAME" val="{&quot;height&quot;:379.1000061035156,&quot;left&quot;:70.51070866141733,&quot;top&quot;:117.99889458603748,&quot;width&quot;:818.8836220472441}"/>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2"/>
  <p:tag name="KSO_WM_UNIT_FILL_FORE_SCHEMECOLOR_INDEX_BRIGHTNESS" val="0"/>
  <p:tag name="KSO_WM_UNIT_TEXT_FILL_FORE_SCHEMECOLOR_INDEX" val="1"/>
  <p:tag name="KSO_WM_UNIT_TEXT_FILL_TYPE" val="1"/>
  <p:tag name="KSO_WM_DIAGRAM_USE_COLOR_VALUE" val="{&quot;color_scheme&quot;:1,&quot;color_type&quot;:1,&quot;theme_color_indexes&quot;:[5,6,5,6,5,6]}"/>
</p:tagLst>
</file>

<file path=ppt/tags/tag12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5151_3*l_h_i*1_1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379.1000061035156,&quot;left&quot;:70.51070866141733,&quot;top&quot;:117.99889458603748,&quot;width&quot;:818.8836220472441}"/>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2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51_3*l_h_f*1_2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VIRTUALLY_FRAME" val="{&quot;height&quot;:379.1000061035156,&quot;left&quot;:70.51070866141733,&quot;top&quot;:117.99889458603748,&quot;width&quot;:818.8836220472441}"/>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1"/>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2"/>
  <p:tag name="KSO_WM_UNIT_FILL_FORE_SCHEMECOLOR_INDEX_BRIGHTNESS" val="0"/>
  <p:tag name="KSO_WM_UNIT_TEXT_FILL_FORE_SCHEMECOLOR_INDEX" val="1"/>
  <p:tag name="KSO_WM_UNIT_TEXT_FILL_TYPE" val="1"/>
  <p:tag name="KSO_WM_DIAGRAM_USE_COLOR_VALUE" val="{&quot;color_scheme&quot;:1,&quot;color_type&quot;:1,&quot;theme_color_indexes&quot;:[5,6,5,6,5,6]}"/>
</p:tagLst>
</file>

<file path=ppt/tags/tag12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5151_3*l_h_i*1_2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379.1000061035156,&quot;left&quot;:70.51070866141733,&quot;top&quot;:117.99889458603748,&quot;width&quot;:818.8836220472441}"/>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29.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51_3*l_h_f*1_3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VIRTUALLY_FRAME" val="{&quot;height&quot;:379.1000061035156,&quot;left&quot;:70.51070866141733,&quot;top&quot;:117.99889458603748,&quot;width&quot;:818.8836220472441}"/>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2"/>
  <p:tag name="KSO_WM_UNIT_FILL_FORE_SCHEMECOLOR_INDEX_BRIGHTNESS" val="0"/>
  <p:tag name="KSO_WM_UNIT_TEXT_FILL_FORE_SCHEMECOLOR_INDEX" val="1"/>
  <p:tag name="KSO_WM_UNIT_TEXT_FILL_TYPE" val="1"/>
  <p:tag name="KSO_WM_DIAGRAM_USE_COLOR_VALUE" val="{&quot;color_scheme&quot;:1,&quot;color_type&quot;:1,&quot;theme_color_indexes&quot;:[5,6,5,6,5,6]}"/>
</p:tagLst>
</file>

<file path=ppt/tags/tag13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5151_3*l_h_i*1_3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379.1000061035156,&quot;left&quot;:70.51070866141733,&quot;top&quot;:117.99889458603748,&quot;width&quot;:818.8836220472441}"/>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3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51_3*l_h_f*1_4_1"/>
  <p:tag name="KSO_WM_TEMPLATE_CATEGORY" val="diagram"/>
  <p:tag name="KSO_WM_TEMPLATE_INDEX" val="20235151"/>
  <p:tag name="KSO_WM_UNIT_LAYERLEVEL" val="1_1_1"/>
  <p:tag name="KSO_WM_TAG_VERSION" val="3.0"/>
  <p:tag name="KSO_WM_BEAUTIFY_FLAG" val="#wm#"/>
  <p:tag name="KSO_WM_UNIT_TEXT_TYPE" val="1"/>
  <p:tag name="KSO_WM_DIAGRAM_MAX_ITEMCNT" val="12"/>
  <p:tag name="KSO_WM_DIAGRAM_MIN_ITEMCNT" val="2"/>
  <p:tag name="KSO_WM_DIAGRAM_VIRTUALLY_FRAME" val="{&quot;height&quot;:379.1000061035156,&quot;left&quot;:70.51070866141733,&quot;top&quot;:117.99889458603748,&quot;width&quot;:818.8836220472441}"/>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1"/>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2"/>
  <p:tag name="KSO_WM_UNIT_FILL_FORE_SCHEMECOLOR_INDEX_BRIGHTNESS" val="0"/>
  <p:tag name="KSO_WM_UNIT_TEXT_FILL_FORE_SCHEMECOLOR_INDEX" val="1"/>
  <p:tag name="KSO_WM_UNIT_TEXT_FILL_TYPE" val="1"/>
  <p:tag name="KSO_WM_DIAGRAM_USE_COLOR_VALUE" val="{&quot;color_scheme&quot;:1,&quot;color_type&quot;:1,&quot;theme_color_indexes&quot;:[5,6,5,6,5,6]}"/>
</p:tagLst>
</file>

<file path=ppt/tags/tag13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5151_3*l_h_i*1_4_1"/>
  <p:tag name="KSO_WM_TEMPLATE_CATEGORY" val="diagram"/>
  <p:tag name="KSO_WM_TEMPLATE_INDEX" val="20235151"/>
  <p:tag name="KSO_WM_UNIT_LAYERLEVEL" val="1_1_1"/>
  <p:tag name="KSO_WM_TAG_VERSION" val="3.0"/>
  <p:tag name="KSO_WM_BEAUTIFY_FLAG" val="#wm#"/>
  <p:tag name="KSO_WM_DIAGRAM_MAX_ITEMCNT" val="12"/>
  <p:tag name="KSO_WM_DIAGRAM_MIN_ITEMCNT" val="2"/>
  <p:tag name="KSO_WM_DIAGRAM_VIRTUALLY_FRAME" val="{&quot;height&quot;:379.1000061035156,&quot;left&quot;:70.51070866141733,&quot;top&quot;:117.99889458603748,&quot;width&quot;:818.8836220472441}"/>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33.xml><?xml version="1.0" encoding="utf-8"?>
<p:tagLst xmlns:p="http://schemas.openxmlformats.org/presentationml/2006/main">
  <p:tag name="KSO_WM_SLIDE_ITEM_CNT" val="4"/>
  <p:tag name="KSO_WM_SLIDE_ID" val="diagram20233131_3"/>
  <p:tag name="KSO_WM_TEMPLATE_SUBCATEGORY" val="0"/>
  <p:tag name="KSO_WM_TEMPLATE_MASTER_TYPE" val="0"/>
  <p:tag name="KSO_WM_TEMPLATE_COLOR_TYPE" val="0"/>
  <p:tag name="KSO_WM_SLIDE_INDEX" val="3"/>
  <p:tag name="KSO_WM_DIAGRAM_GROUP_CODE" val="l1-1"/>
  <p:tag name="KSO_WM_SLIDE_DIAGTYPE" val="l"/>
  <p:tag name="KSO_WM_TAG_VERSION" val="3.0"/>
  <p:tag name="KSO_WM_BEAUTIFY_FLAG" val="#wm#"/>
  <p:tag name="KSO_WM_TEMPLATE_CATEGORY" val="diagram"/>
  <p:tag name="KSO_WM_TEMPLATE_INDEX" val="20233131"/>
  <p:tag name="KSO_WM_SLIDE_LAYOUT" val="a_l"/>
  <p:tag name="KSO_WM_SLIDE_LAYOUT_CNT" val="1_1"/>
  <p:tag name="KSO_WM_SLIDE_TYPE" val="text"/>
  <p:tag name="KSO_WM_SLIDE_SUBTYPE" val="diag"/>
  <p:tag name="KSO_WM_SLIDE_SIZE" val="817.246*360.175"/>
  <p:tag name="KSO_WM_SLIDE_POSITION" val="71.3424*127.461"/>
  <p:tag name="resource_record_key" val="{&quot;65&quot;:[20233131],&quot;70&quot;:[3319358,333343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7315</Words>
  <Application>WPS Presentation</Application>
  <PresentationFormat/>
  <Paragraphs>317</Paragraphs>
  <Slides>18</Slides>
  <Notes>0</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18</vt:i4>
      </vt:variant>
    </vt:vector>
  </HeadingPairs>
  <TitlesOfParts>
    <vt:vector size="42" baseType="lpstr">
      <vt:lpstr>Arial</vt:lpstr>
      <vt:lpstr>SimSun</vt:lpstr>
      <vt:lpstr>Wingdings</vt:lpstr>
      <vt:lpstr>Liter</vt:lpstr>
      <vt:lpstr>华文宋体</vt:lpstr>
      <vt:lpstr>quote-cjk-patch</vt:lpstr>
      <vt:lpstr>Thonburi</vt:lpstr>
      <vt:lpstr>Microsoft Yahei</vt:lpstr>
      <vt:lpstr>苹方-简</vt:lpstr>
      <vt:lpstr>Microsoft YaHei</vt:lpstr>
      <vt:lpstr>Microsoft Yahei</vt:lpstr>
      <vt:lpstr>Microsoft YaHei</vt:lpstr>
      <vt:lpstr>汉仪旗黑</vt:lpstr>
      <vt:lpstr>Calibri</vt:lpstr>
      <vt:lpstr>Helvetica Neue</vt:lpstr>
      <vt:lpstr>SimSun</vt:lpstr>
      <vt:lpstr>汉仪书宋二KW</vt:lpstr>
      <vt:lpstr>SimHei</vt:lpstr>
      <vt:lpstr>汉仪中黑KW</vt:lpstr>
      <vt:lpstr>Arial Unicode MS</vt:lpstr>
      <vt:lpstr>Liter</vt:lpstr>
      <vt:lpstr>quote-cjk-patch</vt:lpstr>
      <vt:lpstr>SimSun</vt:lpstr>
      <vt:lpstr>Office Theme</vt:lpstr>
      <vt:lpstr> </vt:lpstr>
      <vt:lpstr>PowerPoint 演示文稿</vt:lpstr>
      <vt:lpstr>PowerPoint 演示文稿</vt:lpstr>
      <vt:lpstr>PowerPoint 演示文稿</vt:lpstr>
      <vt:lpstr>PowerPoint 演示文稿</vt:lpstr>
      <vt:lpstr>Analytics Framework</vt:lpstr>
      <vt:lpstr> Descriptive Analytics Results</vt:lpstr>
      <vt:lpstr>Sentiment Analysis Results</vt:lpstr>
      <vt:lpstr>Emotion Analysis Results</vt:lpstr>
      <vt:lpstr>Feature Engineering and Modeling Setup</vt:lpstr>
      <vt:lpstr>Models Compared</vt:lpstr>
      <vt:lpstr>Model Performance Comparison</vt:lpstr>
      <vt:lpstr>Best Model Evaluation</vt:lpstr>
      <vt:lpstr>Interpreting the Best Model</vt:lpstr>
      <vt:lpstr>Business Implications</vt:lpstr>
      <vt:lpstr>Limitations</vt:lpstr>
      <vt:lpstr>Future Work</vt:lpstr>
      <vt:lpstr>Thanks for Listening! Q&amp;A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_x000B_</dc:title>
  <dc:creator>Ivan LAM</dc:creator>
  <cp:lastModifiedBy>WPS_1561382116</cp:lastModifiedBy>
  <cp:revision>9</cp:revision>
  <dcterms:created xsi:type="dcterms:W3CDTF">2026-04-09T14:47:20Z</dcterms:created>
  <dcterms:modified xsi:type="dcterms:W3CDTF">2026-04-09T14:47:20Z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A3169CBD5A0550259565D769929903B4_43</vt:lpwstr>
  </property>
  <property fmtid="{D5CDD505-2E9C-101B-9397-08002B2CF9AE}" pid="3" name="KSOProductBuildVer">
    <vt:lpwstr>1033-12.1.25205.25205</vt:lpwstr>
  </property>
</Properties>
</file>